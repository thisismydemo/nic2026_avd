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  <p:sldId id="299" r:id="rId1044"/>
    <p:sldId id="300" r:id="rId1045"/>
    <p:sldId id="301" r:id="rId1046"/>
    <p:sldId id="302" r:id="rId1047"/>
    <p:sldId id="303" r:id="rId1048"/>
    <p:sldId id="304" r:id="rId1049"/>
    <p:sldId id="305" r:id="rId1050"/>
    <p:sldId id="306" r:id="rId1051"/>
    <p:sldId id="307" r:id="rId1052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Relationship Id="rId1044" Type="http://schemas.openxmlformats.org/officeDocument/2006/relationships/slide" Target="slides/slide44.xml"/><Relationship Id="rId1045" Type="http://schemas.openxmlformats.org/officeDocument/2006/relationships/slide" Target="slides/slide45.xml"/><Relationship Id="rId1046" Type="http://schemas.openxmlformats.org/officeDocument/2006/relationships/slide" Target="slides/slide46.xml"/><Relationship Id="rId1047" Type="http://schemas.openxmlformats.org/officeDocument/2006/relationships/slide" Target="slides/slide47.xml"/><Relationship Id="rId1048" Type="http://schemas.openxmlformats.org/officeDocument/2006/relationships/slide" Target="slides/slide48.xml"/><Relationship Id="rId1049" Type="http://schemas.openxmlformats.org/officeDocument/2006/relationships/slide" Target="slides/slide49.xml"/><Relationship Id="rId1050" Type="http://schemas.openxmlformats.org/officeDocument/2006/relationships/slide" Target="slides/slide50.xml"/><Relationship Id="rId1051" Type="http://schemas.openxmlformats.org/officeDocument/2006/relationships/slide" Target="slides/slide51.xml"/><Relationship Id="rId1052" Type="http://schemas.openxmlformats.org/officeDocument/2006/relationships/slide" Target="slides/slide5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Relationship Id="rId101" Type="http://schemas.openxmlformats.org/officeDocument/2006/relationships/image" Target="../media/gen-s5-2.png"/><Relationship Id="rId102" Type="http://schemas.openxmlformats.org/officeDocument/2006/relationships/image" Target="../media/gen-s5-3.png"/><Relationship Id="rId103" Type="http://schemas.openxmlformats.org/officeDocument/2006/relationships/image" Target="../media/gen-s5-4.png"/><Relationship Id="rId104" Type="http://schemas.openxmlformats.org/officeDocument/2006/relationships/image" Target="../media/gen-s5-5.png"/><Relationship Id="rId105" Type="http://schemas.openxmlformats.org/officeDocument/2006/relationships/image" Target="../media/gen-s5-6.png"/><Relationship Id="rId106" Type="http://schemas.openxmlformats.org/officeDocument/2006/relationships/image" Target="../media/gen-s5-7.png"/><Relationship Id="rId107" Type="http://schemas.openxmlformats.org/officeDocument/2006/relationships/image" Target="../media/gen-s5-8.png"/><Relationship Id="rId108" Type="http://schemas.openxmlformats.org/officeDocument/2006/relationships/image" Target="../media/gen-s5-9.png"/><Relationship Id="rId109" Type="http://schemas.openxmlformats.org/officeDocument/2006/relationships/image" Target="../media/gen-s5-10.png"/><Relationship Id="rId110" Type="http://schemas.openxmlformats.org/officeDocument/2006/relationships/image" Target="../media/gen-s5-11.png"/><Relationship Id="rId111" Type="http://schemas.openxmlformats.org/officeDocument/2006/relationships/image" Target="../media/gen-s5-1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1-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4-1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5-1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9-1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6-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4-1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2-1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3-1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45-1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6-1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9-1.png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2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  <p:pic>
        <p:nvPicPr>
          <p:cNvPr id="4" name="Title design 4" descr="Title slide designed as a boarding pass: AVD Anywhere, Azure Virtual Desktop on Azure, Azure Local, and AVD Hybrid Platforms. Passenger: you; destination: any. Captain Kristopher Turner, Wed 14 Oct, boarding 13:20, gate Room 5. Three terminals: A Azure, B Azure Local, C AVD Hybrid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Ask questions any time, and tell me to slow down</a:t>
            </a:r>
          </a:p>
        </p:txBody>
      </p:sp>
      <p:pic>
        <p:nvPicPr>
          <p:cNvPr id="3" name="Chart 3" descr="Ask questions any time, and tell me to slow down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we will do today: the Route Map</a:t>
            </a:r>
          </a:p>
        </p:txBody>
      </p:sp>
      <p:pic>
        <p:nvPicPr>
          <p:cNvPr id="3" name="Chart 3" descr="What we will do today: the Route Map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Build 2 5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Build 3 6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Build 4 7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Build 5 8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Build 6 9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" name="Build 7 10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1" name="Build 8 11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2" name="Build 9 12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3" name="Build 10 13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4" name="Build 11 14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is Azure Virtual Desktop?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Windows runs on virtual machines in a data centre; your users reach it from any device</a:t>
            </a:r>
          </a:p>
        </p:txBody>
      </p:sp>
      <p:sp>
        <p:nvSpPr>
          <p:cNvPr id="4" name="User 4"/>
          <p:cNvSpPr/>
          <p:nvPr/>
        </p:nvSpPr>
        <p:spPr>
          <a:xfrm>
            <a:off x="457200" y="2432304"/>
            <a:ext cx="11887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Users</a:t>
            </a:r>
          </a:p>
          <a:p>
            <a:pPr algn="ctr">
              <a:spcBef>
                <a:spcPts val="300"/>
              </a:spcBef>
            </a:pPr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any device: Windows App or a browser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67335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Microsoft runs 6"/>
          <p:cNvSpPr/>
          <p:nvPr/>
        </p:nvSpPr>
        <p:spPr>
          <a:xfrm>
            <a:off x="1920240" y="1472184"/>
            <a:ext cx="2148840" cy="2971800"/>
          </a:xfrm>
          <a:prstGeom prst="roundRect">
            <a:avLst>
              <a:gd name="adj" fmla="val 6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920240" y="152704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FDBA12"/>
                </a:solidFill>
                <a:latin typeface="Roboto"/>
                <a:cs typeface="Roboto"/>
              </a:rPr>
              <a:t>MICROSOFT RUNS IT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057400" y="183794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Entra ID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sign-in and MFA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2057400" y="247802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Feed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shows what the user may open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2057400" y="311810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Broker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picks a session host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2057400" y="375818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Gateway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carries the connection; no inbound ports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409651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You manage 13"/>
          <p:cNvSpPr/>
          <p:nvPr/>
        </p:nvSpPr>
        <p:spPr>
          <a:xfrm>
            <a:off x="4343400" y="1472184"/>
            <a:ext cx="43434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343400" y="1527048"/>
            <a:ext cx="4343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1A1B1B"/>
                </a:solidFill>
                <a:latin typeface="Roboto"/>
                <a:cs typeface="Roboto"/>
              </a:rPr>
              <a:t>YOU MANAGE IT</a:t>
            </a:r>
          </a:p>
        </p:txBody>
      </p:sp>
      <p:sp>
        <p:nvSpPr>
          <p:cNvPr id="15" name="Component 15"/>
          <p:cNvSpPr/>
          <p:nvPr/>
        </p:nvSpPr>
        <p:spPr>
          <a:xfrm>
            <a:off x="4480560" y="189280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Workspace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897880" y="185623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what users see in Windows App; it groups the application groups</a:t>
            </a:r>
          </a:p>
        </p:txBody>
      </p:sp>
      <p:sp>
        <p:nvSpPr>
          <p:cNvPr id="17" name="Component 17"/>
          <p:cNvSpPr/>
          <p:nvPr/>
        </p:nvSpPr>
        <p:spPr>
          <a:xfrm>
            <a:off x="4480560" y="239572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Application group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35915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full desktop or single apps (RemoteApp), assigned to users</a:t>
            </a:r>
          </a:p>
        </p:txBody>
      </p:sp>
      <p:sp>
        <p:nvSpPr>
          <p:cNvPr id="19" name="Component 19"/>
          <p:cNvSpPr/>
          <p:nvPr/>
        </p:nvSpPr>
        <p:spPr>
          <a:xfrm>
            <a:off x="4480560" y="289864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Host pool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97880" y="286207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group of identical session hosts from one image; pooled (shared) or personal</a:t>
            </a:r>
          </a:p>
        </p:txBody>
      </p:sp>
      <p:sp>
        <p:nvSpPr>
          <p:cNvPr id="21" name="Component 21"/>
          <p:cNvSpPr/>
          <p:nvPr/>
        </p:nvSpPr>
        <p:spPr>
          <a:xfrm>
            <a:off x="4480560" y="340156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336499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Windows VM users work on; multi-session lets many share one (not on Hybrid)</a:t>
            </a:r>
          </a:p>
        </p:txBody>
      </p:sp>
      <p:sp>
        <p:nvSpPr>
          <p:cNvPr id="23" name="Component 23"/>
          <p:cNvSpPr/>
          <p:nvPr/>
        </p:nvSpPr>
        <p:spPr>
          <a:xfrm>
            <a:off x="4480560" y="390448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897880" y="386791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FSLogix: the user profile on a file share; follows them to any host using that share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6" name="Node 2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8" name="Node 2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Today: one AVD service,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AVD service stays in Azure; only the session hosts move: Azure, your Azure Local site, or your own hypervisor.</a:t>
            </a:r>
          </a:p>
        </p:txBody>
      </p:sp>
      <p:sp>
        <p:nvSpPr>
          <p:cNvPr id="4" name="Control plane 4"/>
          <p:cNvSpPr/>
          <p:nvPr/>
        </p:nvSpPr>
        <p:spPr>
          <a:xfrm>
            <a:off x="457200" y="1408176"/>
            <a:ext cx="8229600" cy="457200"/>
          </a:xfrm>
          <a:prstGeom prst="roundRect">
            <a:avLst>
              <a:gd name="adj" fmla="val 14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b="1" spc="80" dirty="0">
                <a:solidFill>
                  <a:srgbClr val="FDBA12"/>
                </a:solidFill>
                <a:latin typeface="Roboto"/>
                <a:cs typeface="Roboto"/>
              </a:rPr>
              <a:t>AZURE  ·  MICROSOFT RUNS IT   </a:t>
            </a:r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web feed · broker · gateway · resource directory · diagnostics   |   Entra ID signs users in</a:t>
            </a:r>
          </a:p>
        </p:txBody>
      </p:sp>
      <p:sp>
        <p:nvSpPr>
          <p:cNvPr id="5" name="Your Azure resources 5"/>
          <p:cNvSpPr/>
          <p:nvPr/>
        </p:nvSpPr>
        <p:spPr>
          <a:xfrm>
            <a:off x="457200" y="1911096"/>
            <a:ext cx="8229600" cy="256032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dirty="0">
                <a:solidFill>
                  <a:srgbClr val="1A1B1B"/>
                </a:solidFill>
                <a:latin typeface="Roboto"/>
                <a:cs typeface="Roboto"/>
              </a:rPr>
              <a:t>Yours, in Azure, for all three: workspace · application groups · one host pool per terminal · AVD Insights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" y="217627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i="1" dirty="0">
                <a:solidFill>
                  <a:srgbClr val="193233"/>
                </a:solidFill>
                <a:latin typeface="Roboto"/>
                <a:cs typeface="Roboto"/>
              </a:rPr>
              <a:t>▲  every session host connects out to Azure on TCP 443: you open no inbound ports  ▲</a:t>
            </a:r>
          </a:p>
        </p:txBody>
      </p:sp>
      <p:sp>
        <p:nvSpPr>
          <p:cNvPr id="7" name="Terminal 7"/>
          <p:cNvSpPr/>
          <p:nvPr/>
        </p:nvSpPr>
        <p:spPr>
          <a:xfrm>
            <a:off x="457200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457200" y="2395728"/>
            <a:ext cx="2633472" cy="457200"/>
          </a:xfrm>
          <a:prstGeom prst="round2SameRect">
            <a:avLst/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98F8FE"/>
                </a:solidFill>
                <a:latin typeface="Roboto"/>
                <a:cs typeface="Roboto"/>
              </a:rPr>
              <a:t>✈  TERMINAL A · AVD on Azure</a:t>
            </a:r>
          </a:p>
          <a:p>
            <a:pPr algn="ctr"/>
            <a:r>
              <a:rPr lang="en-US" sz="850" dirty="0">
                <a:solidFill>
                  <a:srgbClr val="98F8FE"/>
                </a:solidFill>
                <a:latin typeface="Roboto"/>
                <a:cs typeface="Roboto"/>
              </a:rPr>
              <a:t>Microsoft's cloud, multi-session hosts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30352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VMs in your VNet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30352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DSC extension + reg. key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30352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Direct outbound to AVD URLs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30352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Entra ID or AD DS (hybrid join)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30352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Azure Files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30352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Autoscale, Start VM on Connect</a:t>
            </a:r>
          </a:p>
        </p:txBody>
      </p:sp>
      <p:sp>
        <p:nvSpPr>
          <p:cNvPr id="15" name="Terminal 15"/>
          <p:cNvSpPr/>
          <p:nvPr/>
        </p:nvSpPr>
        <p:spPr>
          <a:xfrm>
            <a:off x="3255264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ate board 16"/>
          <p:cNvSpPr/>
          <p:nvPr/>
        </p:nvSpPr>
        <p:spPr>
          <a:xfrm>
            <a:off x="3255264" y="2395728"/>
            <a:ext cx="2633472" cy="457200"/>
          </a:xfrm>
          <a:prstGeom prst="round2SameRect">
            <a:avLst/>
          </a:prstGeom>
          <a:solidFill>
            <a:srgbClr val="FDBA12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1A1B1B"/>
                </a:solidFill>
                <a:latin typeface="Roboto"/>
                <a:cs typeface="Roboto"/>
              </a:rPr>
              <a:t>✈  TERMINAL B · AVD on Azure Local</a:t>
            </a:r>
          </a:p>
          <a:p>
            <a:pPr algn="ctr"/>
            <a:r>
              <a:rPr lang="en-US" sz="850" dirty="0">
                <a:solidFill>
                  <a:srgbClr val="1A1B1B"/>
                </a:solidFill>
                <a:latin typeface="Roboto"/>
                <a:cs typeface="Roboto"/>
              </a:rPr>
              <a:t>Your site, Arc VMs, multi-session too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3328416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Azure Local VMs (Arc VMs) on site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3328416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Custom Script ext. + key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328416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+ outbound to AVD URLs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3328416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Portal: AD DS; Entra by PowerShell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3328416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an SMB share on site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3328416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Start VM on Connect; Arc lifecycle</a:t>
            </a:r>
          </a:p>
        </p:txBody>
      </p:sp>
      <p:sp>
        <p:nvSpPr>
          <p:cNvPr id="23" name="Terminal 23"/>
          <p:cNvSpPr/>
          <p:nvPr/>
        </p:nvSpPr>
        <p:spPr>
          <a:xfrm>
            <a:off x="6053328" y="2395728"/>
            <a:ext cx="2633472" cy="2048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Gate board 24"/>
          <p:cNvSpPr/>
          <p:nvPr/>
        </p:nvSpPr>
        <p:spPr>
          <a:xfrm>
            <a:off x="6053328" y="2395728"/>
            <a:ext cx="2633472" cy="457200"/>
          </a:xfrm>
          <a:prstGeom prst="round2SameRect">
            <a:avLst/>
          </a:prstGeom>
          <a:solidFill>
            <a:srgbClr val="1A1B1B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FDBA12"/>
                </a:solidFill>
                <a:latin typeface="Roboto"/>
                <a:cs typeface="Roboto"/>
              </a:rPr>
              <a:t>✈  TERMINAL C · AVD Hybrid</a:t>
            </a:r>
          </a:p>
          <a:p>
            <a:pPr algn="ctr"/>
            <a:r>
              <a:rPr lang="en-US" sz="850" dirty="0">
                <a:solidFill>
                  <a:srgbClr val="FDBA12"/>
                </a:solidFill>
                <a:latin typeface="Roboto"/>
                <a:cs typeface="Roboto"/>
              </a:rPr>
              <a:t>Your hypervisor or server, one user each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126480" y="288036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Any hypervisor VM, headless server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26480" y="3136392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AVD agent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extension: AVD Hybrid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26480" y="3392424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Arc agent + outbound 443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6126480" y="3648456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Win 11: Entra or AD; Server: AD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6126480" y="3904488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FSLogix on your own SMB share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6126480" y="4160520"/>
            <a:ext cx="2487168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0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950" dirty="0">
                <a:solidFill>
                  <a:srgbClr val="1A1B1B"/>
                </a:solidFill>
                <a:latin typeface="Roboto"/>
                <a:cs typeface="Roboto"/>
              </a:rPr>
              <a:t>You power it: no autoscale</a:t>
            </a:r>
          </a:p>
        </p:txBody>
      </p:sp>
      <p:cxnSp>
        <p:nvCxnSpPr>
          <p:cNvPr id="31" name="Line 3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32" name="Node 3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3" name="Text 3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34" name="Node 3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5" name="Text 3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6" name="Node 3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7" name="Text 3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 user connects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connection starts in Azure; then RDP Shortpath takes the shortest path it can.</a:t>
            </a:r>
          </a:p>
        </p:txBody>
      </p:sp>
      <p:sp>
        <p:nvSpPr>
          <p:cNvPr id="4" name="Step 4"/>
          <p:cNvSpPr/>
          <p:nvPr/>
        </p:nvSpPr>
        <p:spPr>
          <a:xfrm>
            <a:off x="457200" y="1570939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96112" y="1444752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Windows App: sign in with Entra ID, get the feed of desktops and apps</a:t>
            </a:r>
          </a:p>
        </p:txBody>
      </p:sp>
      <p:sp>
        <p:nvSpPr>
          <p:cNvPr id="6" name="Step 6"/>
          <p:cNvSpPr/>
          <p:nvPr/>
        </p:nvSpPr>
        <p:spPr>
          <a:xfrm>
            <a:off x="457200" y="2170786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96112" y="204459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Pick a desktop: the client opens TLS 443 to the nearest gateway</a:t>
            </a:r>
          </a:p>
        </p:txBody>
      </p:sp>
      <p:sp>
        <p:nvSpPr>
          <p:cNvPr id="8" name="Step 8"/>
          <p:cNvSpPr/>
          <p:nvPr/>
        </p:nvSpPr>
        <p:spPr>
          <a:xfrm>
            <a:off x="457200" y="2770632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2644445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broker tells the session host to dial out to the same gateway</a:t>
            </a:r>
          </a:p>
        </p:txBody>
      </p:sp>
      <p:sp>
        <p:nvSpPr>
          <p:cNvPr id="10" name="Step 10"/>
          <p:cNvSpPr/>
          <p:nvPr/>
        </p:nvSpPr>
        <p:spPr>
          <a:xfrm>
            <a:off x="457200" y="3370478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4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96112" y="3244291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gateway joins both legs: reverse connect, no inbound ports</a:t>
            </a:r>
          </a:p>
        </p:txBody>
      </p:sp>
      <p:sp>
        <p:nvSpPr>
          <p:cNvPr id="12" name="Step 12"/>
          <p:cNvSpPr/>
          <p:nvPr/>
        </p:nvSpPr>
        <p:spPr>
          <a:xfrm>
            <a:off x="457200" y="3970325"/>
            <a:ext cx="347472" cy="347472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5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96112" y="384413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RDP Shortpath tries UDP; if it works, the session moves to UDP</a:t>
            </a:r>
          </a:p>
        </p:txBody>
      </p:sp>
      <p:sp>
        <p:nvSpPr>
          <p:cNvPr id="14" name="Shortpath 14"/>
          <p:cNvSpPr/>
          <p:nvPr/>
        </p:nvSpPr>
        <p:spPr>
          <a:xfrm>
            <a:off x="4800600" y="1444752"/>
            <a:ext cx="3886200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ortpath head 15"/>
          <p:cNvSpPr/>
          <p:nvPr/>
        </p:nvSpPr>
        <p:spPr>
          <a:xfrm>
            <a:off x="4800600" y="1444752"/>
            <a:ext cx="3886200" cy="329184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60" dirty="0">
                <a:solidFill>
                  <a:srgbClr val="FDBA12"/>
                </a:solidFill>
                <a:latin typeface="Roboto"/>
                <a:cs typeface="Roboto"/>
              </a:rPr>
              <a:t>RDP SHORTPATH: UDP WHEN IT CAN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928616" y="181051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Managed network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on site, VPN or ExpressRoute: straight to the host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928616" y="233629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STUN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direct UDP through NAT; first choice on the internet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4928616" y="286207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TURN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UDP through a Microsoft relay when direct is blocked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28616" y="338785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Fallback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no UDP: stays on TCP 443 through the gateway</a:t>
            </a:r>
          </a:p>
        </p:txBody>
      </p:sp>
      <p:sp>
        <p:nvSpPr>
          <p:cNvPr id="20" name="Terminal B note 20"/>
          <p:cNvSpPr/>
          <p:nvPr/>
        </p:nvSpPr>
        <p:spPr>
          <a:xfrm>
            <a:off x="4910328" y="3913632"/>
            <a:ext cx="3666744" cy="438912"/>
          </a:xfrm>
          <a:prstGeom prst="roundRect">
            <a:avLst>
              <a:gd name="adj" fmla="val 2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Terminal B: users on site go straight to the Azure Local host. Browser: always TCP.</a:t>
            </a:r>
          </a:p>
        </p:txBody>
      </p:sp>
      <p:cxnSp>
        <p:nvCxnSpPr>
          <p:cNvPr id="21" name="Line 2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2" name="Node 2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4" name="Node 2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page you can run in your own tenant;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where we finish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The finish line first: one sign-in, one feed, three desktops from three places, all working now.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The feed: one sign-in to Windows App shows three desktops, Terminal A, B and C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Three host pools behind them: Azure, Azure Local, Hybrid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Host status: every running host shows Available; an idle Azure host may show Shutdown, that is autoscale saving money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shared foundation: built once, used by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AIRPORT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Build the shared parts once; adding a terminal later means adding hosts, not a new environment.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50" dirty="0"/>
              <a:t>Shared by all three: one tenant and its users, one AVD workspace, one monitoring workspace, one Key Vault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Each terminal adds only its session hosts and a profile share: Azure Files in Azure, one share on site</a:t>
            </a:r>
          </a:p>
          <a:p>
            <a:pPr>
              <a:spcBef>
                <a:spcPts val="700"/>
              </a:spcBef>
            </a:pPr>
            <a:r>
              <a:rPr lang="en-US" sz="1850" dirty="0"/>
              <a:t>Built from code and one config file in the repo; nothing clicked by hand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Day 2 across all three terminals: monitor, patch, secure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Monitoring and security are one setup for all three terminals; patching depends on where the host runs.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385180"/>
                <a:gridCol w="2281473"/>
                <a:gridCol w="2281473"/>
                <a:gridCol w="228147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Day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Insights; Azure Monitor agent and a data collection rule into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Patch the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New image version, or Intune / Windows Update for Business if Entra or hybrid joined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you build and patch the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Patch the platform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updates: you pick the time, Azure applies them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Secure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Defender for Servers, Sentinel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foundation as code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repo and one config file build the foundation for all three terminals.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folder per layer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config file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names, networks, the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Secrets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Key Vault references, never values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Terminal A: AVD on Azure, the reference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A  ·  SECTION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AVD on Azure is the baseline: everything later is compared with it, and two parts of it are reused.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Pooled: users share Windows 11 multi-session VMs; breadth-first spreads new users across hosts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Entra-joined hosts: one sign-in (SSO); profiles on Azure Files; RDP Shortpath (slide 7)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Save money: autoscale powers idle hosts off; Start VM on Connect wakes one when a user arrives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Autoscale: Azure only. Start VM on Connect: Azure and Azure Local. Hybrid: neither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Reused next: the image (by Azure Local) and the monitoring (by all three)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Terminal A: the infrastructure of AVD on Azure</a:t>
            </a:r>
          </a:p>
        </p:txBody>
      </p:sp>
      <p:pic>
        <p:nvPicPr>
          <p:cNvPr id="3" name="Chart 3" descr="Terminal A: the infrastructure of AVD on Azure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Build the image once: Azure and Azure Local share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Image Builder makes one Windows 11 multi-session image; Azure uses it, Azure Local imports it.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VMs + Azure Local import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Image Builder: a pinned Windows 11 multi-session + Microsoft 365 version, plus shared scripts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Stored in the Compute Gallery as numbered versions: roll back by picking the previous one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Terminal B imports the same version to the cluster as an Azure Local image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Monitoring: one workspace for all three terminals, and what it costs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Every host in all three terminals reports to one workspace; the data collection rule decides the bill.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Data collection rule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What each host sends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Insights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GB ingested = the bill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AVD Insights: the built-in AVD dashboard for host health and user connections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Every host reports to one Log Analytics workspace: Azure VMs directly, on-site hosts through Arc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data collection rule (DCR) lists what each host sends; keep the Insights defaults only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A, AVD on Azure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Built live: a host pool, a new session host and published apps.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host pool wizard, then the same from a script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new session host, deployed by script while we talk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publish single apps (RemoteApp): the user gets app windows, not a desktop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pool, pooled and Entra-joined, its image and Insights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B: AVD on Azure Local, and why you would choose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Choose Azure Local when the desktops must run at your site; the AVD service and the user experience stay the same.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Same AVD service, workspace and Windows App; only the session hosts move to your cluster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Why: data must stay on site, users near the site need low latency, or the link to Azure is poor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Also: on-site apps and data sit next to the desktops; Windows 11 multi-session works here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In the demo: three Azure Local VMs (one with a GPU), AD-joined; profiles on a file share on the cluster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Terminal B: the infrastructure of AVD on Azure Local</a:t>
            </a:r>
          </a:p>
        </p:txBody>
      </p:sp>
      <p:pic>
        <p:nvPicPr>
          <p:cNvPr id="3" name="Chart 3" descr="Terminal B: the infrastructure of AVD on Azure Local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Getting hosts there: image first, then the host pool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Get a Windows image onto the cluster, then add session hosts from the same host pool blade you use in Azure.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A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build in Azure with Image Builder, then import it as an Azure Local VM image (this demo)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B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download a Marketplace image, e.g. Windows 11 multi-session + Microsoft 365, straight to the cluster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Option C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bring your own sysprepped VHDX from a storage account or a local share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Then add session hosts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pick Azure Local, the custom location, the image and the logical network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Profiles on Azure Local: they live on your cluster too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Profiles need an SMB file share, so on Azure Local you run a small file-server cluster on the cluster and size the cluster for it.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The need: FSLogix needs an SMB file share; a cluster volume (CSV) is disk space, not a share users can reach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answer: Microsoft recommends a file-server cluster of VMs on Azure Local; here a two-VM Scale-Out File Server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Size the cluster for profiles: 20 users × 30 GB + 20 % = 720 GB; two mirrors + reserve = 6 TiB raw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Sizing method: see the azurelocal-avd and azurelocal-sofs-fslogix guides on azurelocal.cloud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GPU desktops on Azure Local: a whole GPU or a shared one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Pass a whole GPU to one session host (DDA) with no vGPU licence, or share it (GPU-P) with NVIDIA licensing and live migration.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DDA (Discrete Device Assignment)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one whole GPU to one session host; no NVIDIA vGPU licence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Free NVIDIA data center driver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compute and AI; desktop graphics acceleration needs an NVIDIA vWS licence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A DDA VM cannot live-migrate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keep GPU users on a dedicated session host; a node drain restarts it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GPU partitioning (GPU-P)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shares one GPU between VMs and can live-migrate, but needs NVIDIA vGPU licences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Running AVD on your site: networks, cluster updates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What changes when the desktops run on your cluster: you own the network, the updates move the VMs, and the bill has three parts.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Network: hosts on a logical network (VLAN) with an NSG; no inbound ports; RDP Shortpath keeps traffic on the LAN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Cluster updates: one node at a time; session hosts live-migrate and keep running; the DDA GPU host restarts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bill: Azure Local host fee + AVD for Azure Local fee per active vCPU + the same user licences as Azure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The connection: brokering stays in Azure; if the site loses Azure, no new sessions can start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B, AVD on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Deploy a session host live on your cluster, then the pre-deployed terminal: its VM, the sizing, the GPU.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Add session hosts wizard, then the script deploys a new Azure Local host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session host as an Azure Local VM, its network and NSG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Sizing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two public guides and the demo's numbers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GPU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L4 by DDA, nvidia-smi and a compute job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Terminal C: what AVD Hybrid is, and why it exists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The same AVD service in Azure, with desktops on the hypervisor or servers you already own.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50" dirty="0"/>
              <a:t>What: the AVD broker and feed stay in Azure; your own Windows machines join as session hosts through Azure Arc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For: existing Hyper-V, vSphere or Nutanix estates, headless servers, and RDS or other VDI you want to move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Runs: Windows 11/10 Enterprise single-session or Windows Server 2016-2025; no multi-session</a:t>
            </a:r>
          </a:p>
          <a:p>
            <a:pPr>
              <a:spcBef>
                <a:spcPts val="700"/>
              </a:spcBef>
            </a:pPr>
            <a:r>
              <a:rPr lang="en-US" sz="1450" dirty="0"/>
              <a:t>Billed: an AVD Hybrid service fee per user per month, plus the Windows or RDS user licences you need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AVD Hybrid or AVD on Azure Local: how to choose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keep desktops on site with the AVD service in Azure.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Platform: Azure Local = validated hardware and Microsoft's stack; Hybrid = any hypervisor or headless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Density: Azure Local runs Windows 11 multi-session; Hybrid is one user per Windows 11 VM, or Windows Server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Hosts: Azure Local adds hosts from the portal, Start VM on Connect; Hybrid: you build, power and scale them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Bill: Azure Local = host fee per core + AVD fee per active vCPU; Hybrid = AVD Hybrid fee per user per month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Choose Azure Local for new on-site VDI at density; Hybrid to reuse what you run today or to move off RDS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AVD Hybrid in four steps: how your own VM joins AVD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Nothing in Azure creates the VM: you build it, Arc introduces it to Azure, and an extension registers it with the host pool.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Build a Windows VM with your own tools on any hypervisor (or use a headless physical server)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Azure Arc agent in it: the machine appears in Azure as an Arc-enabled server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extension: it installs the AVD agent and registers the host in your host pool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The host shows Available (allow up to 15 minutes); users connect with Windows App</a:t>
            </a:r>
          </a:p>
        </p:txBody>
      </p:sp>
      <p:sp>
        <p:nvSpPr>
          <p:cNvPr id="5" name="Opener frame 5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6" name="Leg chart 6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7" name="Text 7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8" name="Line 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9" name="Node 9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1" name="Node 11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3" name="Node 13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Terminal C: the infrastructure of AVD Hybrid</a:t>
            </a:r>
          </a:p>
        </p:txBody>
      </p:sp>
      <p:pic>
        <p:nvPicPr>
          <p:cNvPr id="3" name="Chart 3" descr="Terminal C: the infrastructure of AVD Hybrid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AVD Hybrid: what it runs on, and what it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Any Windows machine you already run can be a session host, if it meets these rules.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686050"/>
        </p:xfrm>
        <a:graphic>
          <a:graphicData uri="http://schemas.openxmlformats.org/drawingml/2006/table">
            <a:tbl>
              <a:tblPr firstRow="1"/>
              <a:tblGrid>
                <a:gridCol w="2743200"/>
                <a:gridCol w="2743200"/>
                <a:gridCol w="274320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Machine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Windows VM on any hypervisor (Hyper-V, vSphere, Nutanix AHV), or a headless physical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laptop or desktop someone works 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 Enterprise, single-session; Windows Server 2016 to 2025 (several users, like RDS)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 multi-session; editions other than Enterprise (Learn lists Enterprise only)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11/10: Entra ID, AD DS or hybrid join; Windows Server: AD DS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joined to Entra ID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Joining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Arc agent, then the AVD Hybrid extension with the host pool token; host pool identity with Reader on the Arc machines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inbound port: hosts connect out to the AVD and Arc URLs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AVD service (feed, broker, gateway), monitoring and inventory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Create, power, scale or patch the VM: no autoscale, power management, Start VM on Connect or session host configuration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Billing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 service fee per user per month, plus the Windows or RDS user licences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fee per vCPU or per core (that is Azure Local)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Can it be an AVD Hybrid host? Yes or no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Common platforms, one answer each: Windows Enterprise or Server, as a VM on your hypervisor or a headless server, through Arc.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927223"/>
        </p:xfrm>
        <a:graphic>
          <a:graphicData uri="http://schemas.openxmlformats.org/drawingml/2006/table">
            <a:tbl>
              <a:tblPr firstRow="1"/>
              <a:tblGrid>
                <a:gridCol w="3200400"/>
                <a:gridCol w="1005840"/>
                <a:gridCol w="402336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Hybrid host?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VM on VMware vSphere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hypervisor that runs Windows VMs; one user per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2025 VM on Nutanix AHV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2016 to 2025; several users per host, RDS CALs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2022 or Windows 11 Enterprise VM on Hyper-V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This lab: Windows 11 Enterprise on Hyper-V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2025 on a physical rack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Physical only as a dedicated, headless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Linux VM on VMware (any distribution)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 are Windows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multi-session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Multi-session is not supported on Hybrid (use Azure or Azure Local)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Pro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Learn lists Windows 11/10 Enterprise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user’s laptop or personal PC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Laptops and personal PCs are not supported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Server 2012 R2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Supported: Windows Server 2016 to 2025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host without the Azure Arc agent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Hybrid hosts must be Arc-enabled; the AVD extension runs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AVD Hybrid: what Azure no longer does for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Azure runs the AVD service; you build, join, patch and power the VM with your own tools.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50" dirty="0"/>
              <a:t>You build and run the VM: your hypervisor, your image, your HA; AVD never powers it on, scales or restarts it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join and configure it: here a script joins AD after first boot, then sets FSLogix through Arc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Arc is the bridge: the extension registers the host; Arc also brings monitoring and inventory</a:t>
            </a:r>
          </a:p>
          <a:p>
            <a:pPr>
              <a:spcBef>
                <a:spcPts val="700"/>
              </a:spcBef>
            </a:pPr>
            <a:r>
              <a:rPr lang="en-US" sz="1950" dirty="0"/>
              <a:t>You patch Windows 11: Windows Update, Autopatch or Configuration Manager; Update Manager is Windows Server only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C, AVD Hybrid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Build a Hybrid host live with the script, then the two pre-built Hybrid hosts and the proof that AVD sees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script builds a new host: Hyper-V VM, AD join, Arc agent, AVD Hybrid extension (about 15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two Hyper-V VMs that Azure sees only as Arc machines, with no VM resource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Proof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AVD Hybrid extension Succeeded, its log, and both hosts Available in Terminal C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types,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user account works in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Hybrid user: one account, created in Active Directory and synced to Entra ID; same name and password in both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A (Azure): hosts joined to Entra ID, so the desktop sign-in is single sign-on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B (Azure Local): Microsoft supports AD join only (hybrid join optional on top)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Terminal C (Hybrid): Windows 11 hosts can join Entra ID, AD or both; we chose AD for the on-site profile share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identity checks: into AVD, onto the desktop, into the profile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session passes three separate identity checks.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the feed, the broker (MFA by Conditional Access: the design)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 on Entra-joined hosts; the AD password on AD-joined on-site hosts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Check 3 up close: the ticket opens the door, permissions decide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host fetches a ticket for the user without a prompt.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Hybrid user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Kerberos ticket for the share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 permission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NTFS permission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Azure Files: Entra ID issues the ticket, no domain controller needed; GA for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On-site share (SOFS): only a domain controller issues the ticket, so the user must exist in AD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Then two locks: the share permission, then the NTFS permission on the user's own folder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passport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Proof on two live hosts: the ticket each one holds for its profile share, and who the share lets in.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Azure Files, issued by Entra ID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On-site host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shows a ticket for the SOFS, issued by Active Directory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permissions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who may open the profile folders on the share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Why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sign-in proves check 1 only; this proves check 3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Where profiles can live, and who can open them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FSLogix opens the profile as the signed-in user, so the share must accept a ticket for that user.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887218"/>
        </p:xfrm>
        <a:graphic>
          <a:graphicData uri="http://schemas.openxmlformats.org/drawingml/2006/table">
            <a:tbl>
              <a:tblPr firstRow="1"/>
              <a:tblGrid>
                <a:gridCol w="992642"/>
                <a:gridCol w="716908"/>
                <a:gridCol w="937496"/>
                <a:gridCol w="1378670"/>
                <a:gridCol w="1323523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AD- or hybrid-joined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Hybrid-joined: yes; AD-only: with a cloud trust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or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with a Kerberos server object and a DC reachable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Profiles: one container or two?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keeps each user's profile in a virtual disk on a file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One container (the default)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the whole profile, Office data included, in one virtual disk. Start here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Two containers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the profile, plus an Office data disk (ODFC: Outlook, Teams and OneDrive caches)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Why split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its own size and storage, no backup (rebuildable from Microsoft 365), corruption stays in one disk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ODFC alone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when another tool (roaming profiles, Citrix UPM) already roams the rest of the profile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carry-on luggage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profile share, the per-user containers, and the settings that make them portable.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share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folder per user, holding a profile disk and an Office-data disk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host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where the disks live, readable folder names, and fail closed instead of a temporary profile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150" b="1" dirty="0">
                <a:solidFill>
                  <a:srgbClr val="98F8FE"/>
                </a:solidFill>
                <a:latin typeface="Roboto"/>
                <a:cs typeface="Roboto"/>
              </a:rPr>
              <a:t>redirections.xml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browser caches and temp files kept out of the profile so it stays small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29347"/>
            <a:ext cx="1920240" cy="2611755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12226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49387"/>
            <a:ext cx="1737360" cy="220027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Same settings in all three terminals; only the share path changes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Does the profile follow the user? Three ways to do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Choose between one profile everywhere and local speed: shared share, Cloud Cache, or one per site.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A: one share in Azure for everyone: one profile everywhere, but on-site users wait on the WAN link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B: Cloud Cache keeps a copy in both places: the same profile, fast on site and in Azure (next slide)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C: one profile per site: fast and simple, but Azure and on site are two different profiles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This lab today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C. Azure Local and Hybrid share one profile on the SOFS; Azure has its own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 descr="Luggage that follows you between flights: Cloud Cache (pattern B)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repo builds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config file and one set of image scripts serve all three terminals.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One config file describes all three host pools. The scripts read it, so nothing is hardcoded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Same image scripts everywhere: FSLogix, Teams media, optimisation, Arc agent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Image build: Azure Image Builder for Azure and Azure Local; a Packer template for other hypervisors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Only creating the VM differs: an Azure VM, an Azure Local VM, or a VM on your own hypervisor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One Azure Monitor workspace sees every host; on-site hosts report through Azure Arc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one repo, one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config file deploys all three terminals, and one set of security controls watches all of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config file, and a what-if preview before anything is deployed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Session rules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same RDP redirection settings on all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Defender for Cloud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session host in one list, Azure VMs and Arc machines alike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Profiles and logs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Defender for Storage on the profile share; all hosts' security events in Sentinel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connecting flight, six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CONNECTING FLIGHT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One user, three terminals, one live run: the right desktop appears, the profile follows, a host fails, and we watch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00350"/>
        </p:xfrm>
        <a:graphic>
          <a:graphicData uri="http://schemas.openxmlformats.org/drawingml/2006/table">
            <a:tbl>
              <a:tblPr firstRow="1"/>
              <a:tblGrid>
                <a:gridCol w="608857"/>
                <a:gridCol w="1391672"/>
                <a:gridCol w="1783080"/>
                <a:gridCol w="1565631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pools show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shows only the new group's desktop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5955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profile container on the SOFS); Azure keeps its own until Cloud Cache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profile container attaches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Hosts from all three terminals in one query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Ask the Azure Copilot Observability Agent (preview)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What went down and when,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CONNECTING FLIGHT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Choose your terminal: five questions, one rule each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CHOOSE YOUR TERMINAL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Azure for bursty demand; Azure Local when data must stay on site; Hybrid to reuse your hypervisor.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65476"/>
        </p:xfrm>
        <a:graphic>
          <a:graphicData uri="http://schemas.openxmlformats.org/drawingml/2006/table">
            <a:tbl>
              <a:tblPr firstRow="1"/>
              <a:tblGrid>
                <a:gridCol w="950485"/>
                <a:gridCol w="1149423"/>
                <a:gridCol w="1436779"/>
                <a:gridCol w="1812552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 Azure region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Azure Local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Any hypervisor you already run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Who creates and powers the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from Azure (Azure Local VMs through Arc)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098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single or multi-session, Windows Server; AD or hybrid join (portal), Entra join (PowerShell)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 or Windows Server; no multi-session; Server: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from AVD: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and storage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fee + AVD per-vCPU fee +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+ user licence + AVD Hybrid service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CHOOSE YOUR TERMINAL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Before you choose: what is GA, and the limits to check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All three are GA.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22218"/>
                <a:gridCol w="1047404"/>
                <a:gridCol w="3441469"/>
                <a:gridCol w="2618509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Limits to know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Check in your tenant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 GA for hybrid and cloud-only users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Licences; Entra Kerberos prerequisites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not documented; Entra join by PowerShell, not the portal; AVD fee per active vCPU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Profiles on an SMB file share (here a Scale-Out File Server), not directly on cluster volumes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(Sept 2026)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Single-session or Windows Server only; no autoscale, power management, Start VM on Connect or session host configuration; RDP Shortpath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 endpoints reachable; Hybrid service user licence; who restarts a failed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Who owns what: monitoring, patching, power, recovery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and security are the same everywhere;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688336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if hybrid/Entra joined, else WSUS/GPO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if hybrid/Entra joined, else WSUS/GPO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 updates: you pick the time, Azure applies them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50596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Security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Defender for Servers P2, Sentinel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Same, through Arc (add Defender for Endpoint: Intune if Entra/hybrid joined, else GPO or Configuration Manager)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cluster restarts it on another node;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 or its cluster, never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you take home: decide, check, run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10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Three things to do on Monday: decide per user group, check the limits in your own tenant, run the repo.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Decide: pick a terminal per user group with the five questions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Check: the GA limits in your own tenant, especially for AVD Hybrid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Run: one repo, one config file, and the follow-along guide for every demo you saw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WHAT YOU TAKE HOME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After this: 14:40 in this room, and two more sessions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Right after this, same room: the Arc side of AVD Hybrid.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14:40, this room: AVD Hybrid on Any Hypervisor (Gregor Reimling, Marcel Meurer, L300): Arc and Day 2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11:10, Room 5: 10 security settings you must configure in Windows 11 (Nicklas Ahlberg, L300)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Thu 13:00, Room 3: Combining identity and network controls in Azure (Kristoffer Hatland, L400)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agenda. Thank you!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Questions, and your feedback</a:t>
            </a:r>
          </a:p>
        </p:txBody>
      </p:sp>
      <p:pic>
        <p:nvPicPr>
          <p:cNvPr id="3" name="Chart 3" descr="Questions, and your feedback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52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2026-10-14T10:35:40Z</dcterms:created>
  <dcterms:modified xsi:type="dcterms:W3CDTF">2026-10-14T10:35:40Z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