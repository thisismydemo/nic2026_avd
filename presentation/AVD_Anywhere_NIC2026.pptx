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0-1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4-1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8-1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1-1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5-1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2-1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3-1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Life in the home realm: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Users refuse to live in one place. One promise covers them all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Three kinds of users, three right places, and the precise promise so the session can be held to it.</a:t>
            </a:r>
          </a:p>
        </p:txBody>
      </p:sp>
      <p:sp>
        <p:nvSpPr>
          <p:cNvPr id="4" name="Realm 4"/>
          <p:cNvSpPr/>
          <p:nvPr/>
        </p:nvSpPr>
        <p:spPr>
          <a:xfrm>
            <a:off x="64008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98F8FE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5" name="Realm 5"/>
          <p:cNvSpPr/>
          <p:nvPr/>
        </p:nvSpPr>
        <p:spPr>
          <a:xfrm>
            <a:off x="333756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6" name="Realm 6"/>
          <p:cNvSpPr/>
          <p:nvPr/>
        </p:nvSpPr>
        <p:spPr>
          <a:xfrm>
            <a:off x="6035040" y="1517904"/>
            <a:ext cx="24688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7" name="Bridge 7"/>
          <p:cNvSpPr/>
          <p:nvPr/>
        </p:nvSpPr>
        <p:spPr>
          <a:xfrm>
            <a:off x="640080" y="2843784"/>
            <a:ext cx="7863840" cy="128016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640080" y="2999232"/>
            <a:ext cx="786384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ID + Arc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One workspace exposes three entitled desktops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The same user and the same profile pattern work in each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Monitoring is shared; patching, power and recovery differ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Realm Map: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The end state first, and where the repo lives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One workspace, three host pools, all Available; everything is in the repo with a follow-along page per demo.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github.com/&lt;org&gt;/nic2026_avd (repo)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186559"/>
            <a:ext cx="4023360" cy="14973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3694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06599"/>
            <a:ext cx="3840480" cy="10858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Demo guide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follow along in your own tenant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4" name="Node 1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Three realms, five decision axes, no prophecy required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REALMS COMPARED — FIVE DECISION AXES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realm.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784348"/>
        </p:xfrm>
        <a:graphic>
          <a:graphicData uri="http://schemas.openxmlformats.org/drawingml/2006/table">
            <a:tbl>
              <a:tblPr firstRow="1"/>
              <a:tblGrid>
                <a:gridCol w="884172"/>
                <a:gridCol w="1503092"/>
                <a:gridCol w="1503092"/>
                <a:gridCol w="1458884"/>
              </a:tblGrid>
              <a:tr h="28117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8117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82981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multi-session; 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Entra, AD or hybrid join (Server: AD);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833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555498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REALMS COMPARED — FIVE DECISION AXES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Yggdrasil: one foundation, one config file, three realms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YGGDRASIL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landing zone built from one config; each realm section shows only its delta.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Control plane, hosts, images, storage, network, monitoring, Arc: seven resource groups by lifecycle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Profile share on its public endpoint, direct egress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Registration tokens are never stored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YGGDRASIL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Failure domains: what the lab proves, and politely does not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Both local realms share one cluster and one internet line.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517904"/>
            <a:ext cx="3108960" cy="2926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Proves hosting-model differences and profile reuse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Does not prove independent-site resilience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00" dirty="0">
                <a:solidFill>
                  <a:srgbClr val="1A1B1B"/>
                </a:solidFill>
                <a:latin typeface="Roboto"/>
                <a:cs typeface="Roboto"/>
              </a:rPr>
              <a:t>Compute locality is not data locality</a:t>
            </a:r>
          </a:p>
        </p:txBody>
      </p:sp>
      <p:sp>
        <p:nvSpPr>
          <p:cNvPr id="5" name="Box 5"/>
          <p:cNvSpPr/>
          <p:nvPr/>
        </p:nvSpPr>
        <p:spPr>
          <a:xfrm>
            <a:off x="3794760" y="1517904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Control plane: Entra, broker, gateway, Azure Monitor</a:t>
            </a:r>
          </a:p>
        </p:txBody>
      </p:sp>
      <p:sp>
        <p:nvSpPr>
          <p:cNvPr id="6" name="Box 6"/>
          <p:cNvSpPr/>
          <p:nvPr/>
        </p:nvSpPr>
        <p:spPr>
          <a:xfrm>
            <a:off x="3794760" y="2121408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 share and Key Vault</a:t>
            </a:r>
          </a:p>
        </p:txBody>
      </p:sp>
      <p:sp>
        <p:nvSpPr>
          <p:cNvPr id="7" name="Box 7"/>
          <p:cNvSpPr/>
          <p:nvPr/>
        </p:nvSpPr>
        <p:spPr>
          <a:xfrm>
            <a:off x="3794760" y="2724912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Network links: site to Azure</a:t>
            </a:r>
          </a:p>
        </p:txBody>
      </p:sp>
      <p:sp>
        <p:nvSpPr>
          <p:cNvPr id="8" name="Box 8"/>
          <p:cNvSpPr/>
          <p:nvPr/>
        </p:nvSpPr>
        <p:spPr>
          <a:xfrm>
            <a:off x="3794760" y="3328416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Azure Local VMs and Hybrid VMs</a:t>
            </a:r>
          </a:p>
        </p:txBody>
      </p:sp>
      <p:sp>
        <p:nvSpPr>
          <p:cNvPr id="9" name="Box 9"/>
          <p:cNvSpPr/>
          <p:nvPr/>
        </p:nvSpPr>
        <p:spPr>
          <a:xfrm>
            <a:off x="3794760" y="3931920"/>
            <a:ext cx="4892040" cy="512064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Nodes and hypervisor hosts: one lab, one site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Support status by realm: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BIFRÖST  ·  SECTION 2B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Before the identity path: what each realm supports today, and what this lab has not yet proven.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11552"/>
        </p:xfrm>
        <a:graphic>
          <a:graphicData uri="http://schemas.openxmlformats.org/drawingml/2006/table">
            <a:tbl>
              <a:tblPr firstRow="1"/>
              <a:tblGrid>
                <a:gridCol w="663129"/>
                <a:gridCol w="1016798"/>
                <a:gridCol w="928380"/>
                <a:gridCol w="1061006"/>
                <a:gridCol w="972589"/>
                <a:gridCol w="707338"/>
              </a:tblGrid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6027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Files: hybrid and cloud-only 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27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join; hybrid join (for SSO) pending in the lab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an SMB service (here the SOFS),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 and Start VM on Connect: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Entra, AD or hybrid join (Server: AD); lab: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on-site SMB (here the SOFS),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BIFRÖST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settings: one user, two join states,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hybrid user everywhere.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Hybrid users: created in AD, synchronized to Entra (password hash sync)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Microsoft Entra Cloud Sync, its agent on its own member server, never on a domain controller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Azure realm: Entra-joined Windows 11, Entra Kerberos to Azure Files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Azure Local and Hybrid realms: AD-joined, AD Kerberos to the SOFS; hybrid join pending, so the AD password at the host for now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Entra SSO on Entra-joined or hybrid-joined hosts; two Conditional Access policies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Bifrost, the map: three identity paths, one diagram, no secret fourth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the profile share: Azure Files in Azure, the SOFS on site.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MFA, Conditional Access, broker, feed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SSO, Virtual Machine User Login role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Bifrost's toll: the ticket, and the ACL has the final word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Entra Kerberos to Azure Files is GA for hybrid and cloud-only users; AD Kerberos is the only key to an on-site share.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Entra Kerberos to Azure Files: GA,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The storage app is excluded from MFA Conditional Access because the ticket request is silent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Current Windows 11 build; cloud security groups; admin consent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98F8FE"/>
                </a:solidFill>
                <a:latin typeface="Roboto"/>
                <a:cs typeface="Roboto"/>
              </a:rPr>
              <a:t>AD Kerberos to the SOFS: hybrid users, a domain controller in line of sight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Asgard: AVD on Azure, the reference realm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ASGARD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Pooled multi-session, Entra-joined hosts, SSO, Shortpath.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Pooled, breadth-first, multi-session Windows 11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Entra-joined, SSO, RDP Shortpath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Scaling plan and Start VM on Connect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ASGARD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forge: one image definition, target-specific outputs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Image Builder to Compute Gallery to host pool.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Pinned source version (Image Builder also accepts latest)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Shared customisation scripts; no identity baked in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Gallery version, replication, rollback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Heimdall's bill: the DCR decides the cost, the workbook shows it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One causal chain: what the DCR selects, what is collected, what Insights shows, what it costs.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Insights default counters and events only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Measured in this lab: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It depends on DCR contents, sampling and collection hours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DCRs do not control every ingestion source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98F8FE"/>
                </a:solidFill>
                <a:latin typeface="Roboto"/>
                <a:cs typeface="Roboto"/>
              </a:rPr>
              <a:t>Preview: Azure Copilot Observability Agent investigates alerts on this workspace; billed per use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Asgard's perks: autoscale and Start VM on Connect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features only this realm gets in full.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Ramp-up, peak, ramp-down, off-peak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Start VM on Connect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00" dirty="0"/>
              <a:t>Midgard: AVD on Azure Local, compute at your site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MIDGARD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Hosts are Azure Local VMs in a different landing zone.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Hosts in the Azure Local landing zone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Created from Azure through the Resource Bridge and custom location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On lnet-iic-nic26-avd-vlan2215-eus; its NSG admits RDP Shortpath from P2S only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Three hosts: al01, al02 and the GPU host al03; AD-joined by the domain-join extension, hybrid users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What breaks when the Resource Bridge is unhealthy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MIDGARD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Images for Azure Local, and the host pool you can touch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There is no direct Image Builder target for Azure Local.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AIB to gallery or VHD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Import as an Azure Local image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218944"/>
            <a:ext cx="2621280" cy="14325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4018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538984"/>
            <a:ext cx="2438400" cy="1021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Or marketplace images downloaded to the cluster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SMB, not CSV, sized bottom-up: and one GPU host by DDA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CSV is not an SMB share; draw the serving layer and its failure boundary.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CSV is storage; FSLogix needs an SMB path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File server VM or SOFS on the cluster, or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This realm: a two-VM SOFS guest cluster on the same cluster; Azure keeps Azure Files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Sizing, bottom-up: 20 users × 30 GB + 20 % = 720 GB → 2 SOFS VMs on 2 × 1.5 TiB CSVs → 6 TiB raw; restarts on one node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azurelocal.cloud/azurelocal-avd · azurelocal.cloud/azurelocal-sofs-fslogix/architecture/capacity-planning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GPU host al03: one L4 by DDA, no live migration; free driver: compute and AI, desktop graphics needs NVIDIA vWS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outer realms: AVD Hybrid in four steps, Arc is the bridge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OUTER REALMS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hosts run on your hypervisor; Arc is the bridge.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1. Create a Windows VM with your tools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2. Install the Arc agent in the guest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4. Host Available (documented expectation: up to 15 minutes; set a timeout)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No hypervisor integration; everything happens inside the guest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AVD never powers, scales, replaces or patches this VM: you own the lifecycle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OUTER REALMS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Terms of residence: requirements, limits, plain Hyper-V VMs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What Hybrid requires of the Arc machine and does not offer.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Win11 Enterprise single-session or Windows Server; no multi-session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Win11: Entra, AD or hybrid join; Server: AD or hybrid. This lab: AD join in the build, like Azure Local (one SOFS); hv01 and hv02, one per node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Standard pool; its managed identity has Reader on the Arc machines' resource group (here: inside the AVD landing zone)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onboarding by service principal, secret in memory, rotated; outbound 443 to AVD and Arc endpoints; RDP Shortpath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No autoscale, power management, Start VM on Connect, Session Host Configuration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Same intent, different plumbing: the extension and the hypervisors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extension, one token, one host.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Arc-enabled VM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CloudDeviceExtension + token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Host Available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You own power and recovery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Hyper-V: tested in the repo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vSphere and AHV: reference templates, labelled as such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Arc-enabled VMware is not required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 without Image Builder: Packer, identity, network, GPU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Packer plus platform-native tools, running the same customisation scripts AIB runs; the domain join and the FSLogix profile...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hyperv-iso (tested), vsphere-iso and Nutanix plugin (reference): one build, the AIB customisation scripts reused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Domain join (AD) and the FSLogix settings profile in the build; SSO back to Entra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Outbound only through the firewall allow-list; RDP Shortpath; GPU per hypervisor, AVD neither adds nor blocks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Windows 11 patching: Intune or Windows Update for Business; Azure Update Manager does not cover Windows 11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Arc here: AMA + DCR, AVD Insights, inventory. Update Manager, Policy, Defender, Arc licensing: Room 5, 14:40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traveller's pack: where it can live, and who can open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TRAVELLER'S PACK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profile store and the session-host identity are one decision: FSLogix mounts the container as the signed-in user over SMB, so...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86050"/>
        </p:xfrm>
        <a:graphic>
          <a:graphicData uri="http://schemas.openxmlformats.org/drawingml/2006/table">
            <a:tbl>
              <a:tblPr firstRow="1"/>
              <a:tblGrid>
                <a:gridCol w="1350294"/>
                <a:gridCol w="882884"/>
                <a:gridCol w="934819"/>
                <a:gridCol w="934819"/>
                <a:gridCol w="1246425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AD/hybrid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/ NAS / vSAN FS / Nutanix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Domain Services +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DS-joined hosts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TRAVELLER'S PACK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realms, three packing lists: the options and the lab's choice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Per realm: how hosts join, where the profile can live, how the host reaches it, and what this lab chose (D-050).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99132"/>
        </p:xfrm>
        <a:graphic>
          <a:graphicData uri="http://schemas.openxmlformats.org/drawingml/2006/table">
            <a:tbl>
              <a:tblPr firstRow="1"/>
              <a:tblGrid>
                <a:gridCol w="1155032"/>
                <a:gridCol w="1443789"/>
                <a:gridCol w="2021305"/>
                <a:gridCol w="1876926"/>
                <a:gridCol w="1732547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options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Path to the profile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Lab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join; hybrid join;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 (Entra Kerberos or AD DS), Azure NetApp Files, file server VM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 region; public or private endpoint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Entra-joined, Azure Files + 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the cluster, Azure Files over the WAN, file server VM, NAS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SOFS: VLAN 2215 → 2216 on the same cluster, SMB 3 CA; Azure Files: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join (hybrid join pending), SOFS (two VMs, one per node)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as Azure Local,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On-site SOFS, or Azure Files outbound 445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join, SOFS (same site, same users)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Splitting the pack: Profile, ODFC and the settings that matter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containers, different size, tier and retention.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Profile: the profile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ODFC: Outlook OST, Teams, OneDrive cache, search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VHDLocations, ODFC VHDLocations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FlipFlopProfileDirectoryName, PreventLoginWithFailure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redirections.xml keeps caches out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9" name="Node 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1" name="Node 1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One pattern, three realms, no teleportation clause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Multiple providers, local reads: resilience, not conflict resolution.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A: one Azure Files share, Entra Kerberos, from all three realms: simplest; on-site realms pay WAN latency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 (the target, not built yet, D-053): Cloud Cache, CCDLocations = SOFS + Azure Files: LAN speed on site, the profile follows the user to Azure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 (the lab today): realm-local containers: the SOFS for Azure Local and Hybrid, Azure Files for Azure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Same hybrid user (UPN, SID) and one FSLogix configuration profile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Cloud Cache costs: a local cache disk and logoff flush time; the host must authenticate to every provider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forge, one repo: reuse the intent, declare the differences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FORGE  ·  SECTION 7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commit, one image version, builder-specific steps.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Shared intent, platform-specific implementation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No template works unchanged everywhere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FORGE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operating model: ownership is not an optional parameter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Verify; otherwise you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crossing: six steps, one claim each, Heimdall watching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HEIMDALL WATCHES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One continuous test: six checkpointed steps, each with a clip and a prepared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10256"/>
        </p:xfrm>
        <a:graphic>
          <a:graphicData uri="http://schemas.openxmlformats.org/drawingml/2006/table">
            <a:tbl>
              <a:tblPr firstRow="1"/>
              <a:tblGrid>
                <a:gridCol w="618920"/>
                <a:gridCol w="1591509"/>
                <a:gridCol w="1635718"/>
                <a:gridCol w="1503092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realm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SOFS container); Azure has its own until pattern 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realms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Investigate the host alert (agent,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It reasons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HEIMDALL WATCHES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What to decide, validate and run next: the take-home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TAKE-HOME, TOMORROW'S SESSION, OTHER SESSIONS, CLOSE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The five axes are the decision; the support table lists what to verify; the repo is what you run.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000" dirty="0"/>
              <a:t>Decide: which realm for which workload (the five axes)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Validate: every 'verify' cell in the support table, in your tenant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Run: the repo, one config file and the follow-along guide</a:t>
            </a:r>
          </a:p>
          <a:p>
            <a:pPr>
              <a:spcBef>
                <a:spcPts val="700"/>
              </a:spcBef>
            </a:pPr>
            <a:r>
              <a:rPr lang="en-US" sz="2000" dirty="0"/>
              <a:t>Questions in the hallway; the repo is yours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TAKE-HOME, TOMORROW'S SESSION, OTHER SESSIONS, CLOSE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crossing in one slide: every realm crossed, and what you take home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recommendation: the Arc side of AVD Hybrid continues in Room 5 twenty minutes from now.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Hand-off: Breaking the Platform Barrier: AVD Hybrid on Any Hypervisor (Gregor Reimling &amp; Marcel Meurer, L300, Wed 2:40 pm, Room 5). We built the hosts, the identity and the profile; they take Arc design before onboarding, how the Arc and AVD agents work together, and day-2 with Update Manager, Policy, Defender and licensing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35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2026-10-13T06:47:53Z</dcterms:created>
  <dcterms:modified xsi:type="dcterms:W3CDTF">2026-10-13T06:47:53Z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