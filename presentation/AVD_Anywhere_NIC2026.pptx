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 autoCompressPictures="0">
  <p:sldMasterIdLst>
    <p:sldMasterId id="2147483648" r:id="rId1"/>
  </p:sldMasterIdLst>
  <p:notesMasterIdLst>
    <p:notesMasterId r:id="rId13"/>
  </p:notesMasterIdLst>
  <p:handoutMasterIdLst>
    <p:handoutMasterId r:id="rId14"/>
  </p:handoutMasterIdLst>
  <p:sldIdLst>
    <p:sldId id="256" r:id="rId1001"/>
    <p:sldId id="257" r:id="rId1002"/>
    <p:sldId id="258" r:id="rId1003"/>
    <p:sldId id="259" r:id="rId1004"/>
    <p:sldId id="260" r:id="rId1005"/>
    <p:sldId id="261" r:id="rId1006"/>
    <p:sldId id="262" r:id="rId1007"/>
    <p:sldId id="263" r:id="rId1008"/>
    <p:sldId id="264" r:id="rId1009"/>
    <p:sldId id="265" r:id="rId1010"/>
    <p:sldId id="266" r:id="rId1011"/>
    <p:sldId id="267" r:id="rId1012"/>
    <p:sldId id="268" r:id="rId1013"/>
    <p:sldId id="269" r:id="rId1014"/>
    <p:sldId id="270" r:id="rId1015"/>
    <p:sldId id="271" r:id="rId1016"/>
    <p:sldId id="272" r:id="rId1017"/>
    <p:sldId id="273" r:id="rId1018"/>
    <p:sldId id="274" r:id="rId1019"/>
    <p:sldId id="275" r:id="rId1020"/>
    <p:sldId id="276" r:id="rId1021"/>
    <p:sldId id="277" r:id="rId1022"/>
    <p:sldId id="278" r:id="rId1023"/>
    <p:sldId id="279" r:id="rId1024"/>
    <p:sldId id="280" r:id="rId1025"/>
    <p:sldId id="281" r:id="rId1026"/>
    <p:sldId id="282" r:id="rId1027"/>
    <p:sldId id="283" r:id="rId1028"/>
    <p:sldId id="284" r:id="rId1029"/>
    <p:sldId id="285" r:id="rId1030"/>
    <p:sldId id="286" r:id="rId1031"/>
    <p:sldId id="287" r:id="rId1032"/>
    <p:sldId id="288" r:id="rId1033"/>
    <p:sldId id="289" r:id="rId1034"/>
    <p:sldId id="290" r:id="rId1035"/>
    <p:sldId id="291" r:id="rId1036"/>
    <p:sldId id="292" r:id="rId1037"/>
    <p:sldId id="293" r:id="rId1038"/>
    <p:sldId id="294" r:id="rId1039"/>
    <p:sldId id="295" r:id="rId1040"/>
    <p:sldId id="296" r:id="rId1041"/>
    <p:sldId id="297" r:id="rId1042"/>
    <p:sldId id="298" r:id="rId1043"/>
  </p:sldIdLst>
  <p:sldSz cx="9144000" cy="5143500" type="screen16x9"/>
  <p:notesSz cx="6858000" cy="9144000"/>
  <p:embeddedFontLst>
    <p:embeddedFont>
      <p:font typeface="IBM Plex Sans" panose="020B0503050203000203" pitchFamily="34" charset="0"/>
      <p:regular r:id="rId15"/>
      <p:bold r:id="rId16"/>
      <p:italic r:id="rId17"/>
      <p:boldItalic r:id="rId18"/>
    </p:embeddedFont>
    <p:embeddedFont>
      <p:font typeface="Roboto" panose="02000000000000000000" pitchFamily="2" charset="0"/>
      <p:regular r:id="rId19"/>
      <p:bold r:id="rId20"/>
      <p:italic r:id="rId21"/>
      <p:boldItalic r:id="rId22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A1B1B"/>
    <a:srgbClr val="193233"/>
    <a:srgbClr val="98F8FE"/>
    <a:srgbClr val="B0FFFF"/>
    <a:srgbClr val="0A1523"/>
    <a:srgbClr val="ED2A24"/>
    <a:srgbClr val="D9FFFF"/>
    <a:srgbClr val="630991"/>
    <a:srgbClr val="0D000D"/>
    <a:srgbClr val="44444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82" autoAdjust="0"/>
    <p:restoredTop sz="94618" autoAdjust="0"/>
  </p:normalViewPr>
  <p:slideViewPr>
    <p:cSldViewPr snapToObjects="1">
      <p:cViewPr varScale="1">
        <p:scale>
          <a:sx n="130" d="100"/>
          <a:sy n="130" d="100"/>
        </p:scale>
        <p:origin x="150" y="1074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notesMaster" Target="notesMasters/notesMaster1.xml"/><Relationship Id="rId18" Type="http://schemas.openxmlformats.org/officeDocument/2006/relationships/font" Target="fonts/font4.fntdata"/><Relationship Id="rId26" Type="http://schemas.openxmlformats.org/officeDocument/2006/relationships/tableStyles" Target="tableStyles.xml"/><Relationship Id="rId21" Type="http://schemas.openxmlformats.org/officeDocument/2006/relationships/font" Target="fonts/font7.fntdata"/><Relationship Id="rId17" Type="http://schemas.openxmlformats.org/officeDocument/2006/relationships/font" Target="fonts/font3.fntdata"/><Relationship Id="rId25" Type="http://schemas.openxmlformats.org/officeDocument/2006/relationships/theme" Target="theme/them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29" Type="http://schemas.openxmlformats.org/officeDocument/2006/relationships/customXml" Target="../customXml/item3.xml"/><Relationship Id="rId1" Type="http://schemas.openxmlformats.org/officeDocument/2006/relationships/slideMaster" Target="slideMasters/slideMaster1.xml"/><Relationship Id="rId24" Type="http://schemas.openxmlformats.org/officeDocument/2006/relationships/viewProps" Target="viewProps.xml"/><Relationship Id="rId15" Type="http://schemas.openxmlformats.org/officeDocument/2006/relationships/font" Target="fonts/font1.fntdata"/><Relationship Id="rId23" Type="http://schemas.openxmlformats.org/officeDocument/2006/relationships/presProps" Target="presProps.xml"/><Relationship Id="rId28" Type="http://schemas.openxmlformats.org/officeDocument/2006/relationships/customXml" Target="../customXml/item2.xml"/><Relationship Id="rId19" Type="http://schemas.openxmlformats.org/officeDocument/2006/relationships/font" Target="fonts/font5.fntdata"/><Relationship Id="rId14" Type="http://schemas.openxmlformats.org/officeDocument/2006/relationships/handoutMaster" Target="handoutMasters/handoutMaster1.xml"/><Relationship Id="rId22" Type="http://schemas.openxmlformats.org/officeDocument/2006/relationships/font" Target="fonts/font8.fntdata"/><Relationship Id="rId27" Type="http://schemas.openxmlformats.org/officeDocument/2006/relationships/customXml" Target="../customXml/item1.xml"/><Relationship Id="rId1001" Type="http://schemas.openxmlformats.org/officeDocument/2006/relationships/slide" Target="slides/slide1.xml"/><Relationship Id="rId1002" Type="http://schemas.openxmlformats.org/officeDocument/2006/relationships/slide" Target="slides/slide2.xml"/><Relationship Id="rId1003" Type="http://schemas.openxmlformats.org/officeDocument/2006/relationships/slide" Target="slides/slide3.xml"/><Relationship Id="rId1004" Type="http://schemas.openxmlformats.org/officeDocument/2006/relationships/slide" Target="slides/slide4.xml"/><Relationship Id="rId1005" Type="http://schemas.openxmlformats.org/officeDocument/2006/relationships/slide" Target="slides/slide5.xml"/><Relationship Id="rId1006" Type="http://schemas.openxmlformats.org/officeDocument/2006/relationships/slide" Target="slides/slide6.xml"/><Relationship Id="rId1007" Type="http://schemas.openxmlformats.org/officeDocument/2006/relationships/slide" Target="slides/slide7.xml"/><Relationship Id="rId1008" Type="http://schemas.openxmlformats.org/officeDocument/2006/relationships/slide" Target="slides/slide8.xml"/><Relationship Id="rId1009" Type="http://schemas.openxmlformats.org/officeDocument/2006/relationships/slide" Target="slides/slide9.xml"/><Relationship Id="rId1010" Type="http://schemas.openxmlformats.org/officeDocument/2006/relationships/slide" Target="slides/slide10.xml"/><Relationship Id="rId1011" Type="http://schemas.openxmlformats.org/officeDocument/2006/relationships/slide" Target="slides/slide11.xml"/><Relationship Id="rId1012" Type="http://schemas.openxmlformats.org/officeDocument/2006/relationships/slide" Target="slides/slide12.xml"/><Relationship Id="rId1013" Type="http://schemas.openxmlformats.org/officeDocument/2006/relationships/slide" Target="slides/slide13.xml"/><Relationship Id="rId1014" Type="http://schemas.openxmlformats.org/officeDocument/2006/relationships/slide" Target="slides/slide14.xml"/><Relationship Id="rId1015" Type="http://schemas.openxmlformats.org/officeDocument/2006/relationships/slide" Target="slides/slide15.xml"/><Relationship Id="rId1016" Type="http://schemas.openxmlformats.org/officeDocument/2006/relationships/slide" Target="slides/slide16.xml"/><Relationship Id="rId1017" Type="http://schemas.openxmlformats.org/officeDocument/2006/relationships/slide" Target="slides/slide17.xml"/><Relationship Id="rId1018" Type="http://schemas.openxmlformats.org/officeDocument/2006/relationships/slide" Target="slides/slide18.xml"/><Relationship Id="rId1019" Type="http://schemas.openxmlformats.org/officeDocument/2006/relationships/slide" Target="slides/slide19.xml"/><Relationship Id="rId1020" Type="http://schemas.openxmlformats.org/officeDocument/2006/relationships/slide" Target="slides/slide20.xml"/><Relationship Id="rId1021" Type="http://schemas.openxmlformats.org/officeDocument/2006/relationships/slide" Target="slides/slide21.xml"/><Relationship Id="rId1022" Type="http://schemas.openxmlformats.org/officeDocument/2006/relationships/slide" Target="slides/slide22.xml"/><Relationship Id="rId1023" Type="http://schemas.openxmlformats.org/officeDocument/2006/relationships/slide" Target="slides/slide23.xml"/><Relationship Id="rId1024" Type="http://schemas.openxmlformats.org/officeDocument/2006/relationships/slide" Target="slides/slide24.xml"/><Relationship Id="rId1025" Type="http://schemas.openxmlformats.org/officeDocument/2006/relationships/slide" Target="slides/slide25.xml"/><Relationship Id="rId1026" Type="http://schemas.openxmlformats.org/officeDocument/2006/relationships/slide" Target="slides/slide26.xml"/><Relationship Id="rId1027" Type="http://schemas.openxmlformats.org/officeDocument/2006/relationships/slide" Target="slides/slide27.xml"/><Relationship Id="rId1028" Type="http://schemas.openxmlformats.org/officeDocument/2006/relationships/slide" Target="slides/slide28.xml"/><Relationship Id="rId1029" Type="http://schemas.openxmlformats.org/officeDocument/2006/relationships/slide" Target="slides/slide29.xml"/><Relationship Id="rId1030" Type="http://schemas.openxmlformats.org/officeDocument/2006/relationships/slide" Target="slides/slide30.xml"/><Relationship Id="rId1031" Type="http://schemas.openxmlformats.org/officeDocument/2006/relationships/slide" Target="slides/slide31.xml"/><Relationship Id="rId1032" Type="http://schemas.openxmlformats.org/officeDocument/2006/relationships/slide" Target="slides/slide32.xml"/><Relationship Id="rId1033" Type="http://schemas.openxmlformats.org/officeDocument/2006/relationships/slide" Target="slides/slide33.xml"/><Relationship Id="rId1034" Type="http://schemas.openxmlformats.org/officeDocument/2006/relationships/slide" Target="slides/slide34.xml"/><Relationship Id="rId1035" Type="http://schemas.openxmlformats.org/officeDocument/2006/relationships/slide" Target="slides/slide35.xml"/><Relationship Id="rId1036" Type="http://schemas.openxmlformats.org/officeDocument/2006/relationships/slide" Target="slides/slide36.xml"/><Relationship Id="rId1037" Type="http://schemas.openxmlformats.org/officeDocument/2006/relationships/slide" Target="slides/slide37.xml"/><Relationship Id="rId1038" Type="http://schemas.openxmlformats.org/officeDocument/2006/relationships/slide" Target="slides/slide38.xml"/><Relationship Id="rId1039" Type="http://schemas.openxmlformats.org/officeDocument/2006/relationships/slide" Target="slides/slide39.xml"/><Relationship Id="rId1040" Type="http://schemas.openxmlformats.org/officeDocument/2006/relationships/slide" Target="slides/slide40.xml"/><Relationship Id="rId1041" Type="http://schemas.openxmlformats.org/officeDocument/2006/relationships/slide" Target="slides/slide41.xml"/><Relationship Id="rId1042" Type="http://schemas.openxmlformats.org/officeDocument/2006/relationships/slide" Target="slides/slide42.xml"/><Relationship Id="rId1043" Type="http://schemas.openxmlformats.org/officeDocument/2006/relationships/slide" Target="slides/slide4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84E9E7-0A46-C642-B1CD-9F43F63A761F}" type="datetime1">
              <a:rPr lang="en-US" smtClean="0"/>
              <a:t>4/13/2026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C0FFE6-5FBB-9B41-A19C-338E023F0B0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567709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3F37FED-970C-2049-96AE-96BD1BA5E2DA}" type="datetime1">
              <a:rPr lang="en-US" smtClean="0"/>
              <a:t>4/13/2026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b-NO"/>
              <a:t>Click to edit Master text styles</a:t>
            </a:r>
          </a:p>
          <a:p>
            <a:pPr lvl="1"/>
            <a:r>
              <a:rPr lang="nb-NO"/>
              <a:t>Second level</a:t>
            </a:r>
          </a:p>
          <a:p>
            <a:pPr lvl="2"/>
            <a:r>
              <a:rPr lang="nb-NO"/>
              <a:t>Third level</a:t>
            </a:r>
          </a:p>
          <a:p>
            <a:pPr lvl="3"/>
            <a:r>
              <a:rPr lang="nb-NO"/>
              <a:t>Fourth level</a:t>
            </a:r>
          </a:p>
          <a:p>
            <a:pPr lvl="4"/>
            <a:r>
              <a:rPr lang="nb-NO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C048085-8ED8-F544-9D86-69C4C46BE9E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9960253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pening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107894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D8F95C4E-1091-4AFC-A458-56779C01DEE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39552" y="1995686"/>
            <a:ext cx="8064896" cy="720080"/>
          </a:xfrm>
        </p:spPr>
        <p:txBody>
          <a:bodyPr>
            <a:normAutofit/>
          </a:bodyPr>
          <a:lstStyle>
            <a:lvl1pPr algn="ctr">
              <a:defRPr sz="280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39552" y="1995686"/>
            <a:ext cx="8064896" cy="720080"/>
          </a:xfrm>
        </p:spPr>
        <p:txBody>
          <a:bodyPr>
            <a:normAutofit/>
          </a:bodyPr>
          <a:lstStyle>
            <a:lvl1pPr algn="ctr">
              <a:defRPr sz="280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5" name="Plassholder for tekst 3">
            <a:extLst>
              <a:ext uri="{FF2B5EF4-FFF2-40B4-BE49-F238E27FC236}">
                <a16:creationId xmlns:a16="http://schemas.microsoft.com/office/drawing/2014/main" id="{1CD8EA4B-13CD-40B4-BDDD-B2F23644D47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39552" y="2931791"/>
            <a:ext cx="8064896" cy="432048"/>
          </a:xfrm>
        </p:spPr>
        <p:txBody>
          <a:bodyPr/>
          <a:lstStyle>
            <a:lvl1pPr marL="0" indent="0" algn="ctr">
              <a:buClr>
                <a:srgbClr val="FDBA12"/>
              </a:buClr>
              <a:buFontTx/>
              <a:buNone/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 marL="4572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2pPr>
            <a:lvl3pPr marL="9144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3pPr>
            <a:lvl4pPr marL="13716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4pPr>
            <a:lvl5pPr marL="18288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</p:txBody>
      </p:sp>
    </p:spTree>
    <p:extLst>
      <p:ext uri="{BB962C8B-B14F-4D97-AF65-F5344CB8AC3E}">
        <p14:creationId xmlns:p14="http://schemas.microsoft.com/office/powerpoint/2010/main" val="2111475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L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8229600" cy="2663825"/>
          </a:xfrm>
        </p:spPr>
        <p:txBody>
          <a:bodyPr/>
          <a:lstStyle>
            <a:lvl1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</p:spTree>
    <p:extLst>
      <p:ext uri="{BB962C8B-B14F-4D97-AF65-F5344CB8AC3E}">
        <p14:creationId xmlns:p14="http://schemas.microsoft.com/office/powerpoint/2010/main" val="39430873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LIGHT media r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4114800" cy="2663825"/>
          </a:xfrm>
        </p:spPr>
        <p:txBody>
          <a:bodyPr/>
          <a:lstStyle>
            <a:lvl1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  <p:sp>
        <p:nvSpPr>
          <p:cNvPr id="6" name="Picture Placeholder 6">
            <a:extLst>
              <a:ext uri="{FF2B5EF4-FFF2-40B4-BE49-F238E27FC236}">
                <a16:creationId xmlns:a16="http://schemas.microsoft.com/office/drawing/2014/main" id="{C01918F4-FC6F-654D-B51C-427897755767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716463" y="1563688"/>
            <a:ext cx="3970337" cy="2663825"/>
          </a:xfrm>
        </p:spPr>
        <p:txBody>
          <a:bodyPr/>
          <a:lstStyle>
            <a:lvl1pPr>
              <a:buClr>
                <a:srgbClr val="444444"/>
              </a:buClr>
              <a:defRPr>
                <a:solidFill>
                  <a:srgbClr val="630991"/>
                </a:solidFill>
                <a:latin typeface="+mj-lt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17857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dia insert L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60A42B-155C-4E38-B2A4-05F9B3773F2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68313" y="411510"/>
            <a:ext cx="8208143" cy="4176464"/>
          </a:xfrm>
        </p:spPr>
        <p:txBody>
          <a:bodyPr/>
          <a:lstStyle>
            <a:lvl1pPr marL="342900" indent="-34290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1pPr>
            <a:lvl2pPr marL="7429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2pPr>
            <a:lvl3pPr marL="12001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3pPr>
            <a:lvl4pPr marL="16573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4pPr>
            <a:lvl5pPr marL="21145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022194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ght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86876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DAR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98F8FE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8229600" cy="2663825"/>
          </a:xfrm>
        </p:spPr>
        <p:txBody>
          <a:bodyPr/>
          <a:lstStyle>
            <a:lvl1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DARK media r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98F8FE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4042792" cy="2663825"/>
          </a:xfrm>
        </p:spPr>
        <p:txBody>
          <a:bodyPr/>
          <a:lstStyle>
            <a:lvl1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  <p:sp>
        <p:nvSpPr>
          <p:cNvPr id="8" name="Picture Placeholder 6">
            <a:extLst>
              <a:ext uri="{FF2B5EF4-FFF2-40B4-BE49-F238E27FC236}">
                <a16:creationId xmlns:a16="http://schemas.microsoft.com/office/drawing/2014/main" id="{C619DA90-5716-16E7-D0C6-E0AD562F6B2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716463" y="1563688"/>
            <a:ext cx="3970337" cy="2663825"/>
          </a:xfrm>
        </p:spPr>
        <p:txBody>
          <a:bodyPr/>
          <a:lstStyle>
            <a:lvl1pPr>
              <a:buClr>
                <a:srgbClr val="FFF9A9"/>
              </a:buClr>
              <a:defRPr>
                <a:solidFill>
                  <a:schemeClr val="bg1">
                    <a:lumMod val="95000"/>
                  </a:schemeClr>
                </a:solidFill>
                <a:latin typeface="+mj-lt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16046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Media insert DAR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60A42B-155C-4E38-B2A4-05F9B3773F2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68313" y="411510"/>
            <a:ext cx="8208143" cy="4176464"/>
          </a:xfrm>
        </p:spPr>
        <p:txBody>
          <a:bodyPr/>
          <a:lstStyle>
            <a:lvl1pPr marL="342900" indent="-34290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1pPr>
            <a:lvl2pPr marL="7429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2pPr>
            <a:lvl3pPr marL="12001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3pPr>
            <a:lvl4pPr marL="16573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4pPr>
            <a:lvl5pPr marL="21145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626547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286161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555526"/>
            <a:ext cx="8229600" cy="914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469927"/>
            <a:ext cx="8229600" cy="28229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0" r:id="rId1"/>
    <p:sldLayoutId id="2147483649" r:id="rId2"/>
    <p:sldLayoutId id="2147483693" r:id="rId3"/>
    <p:sldLayoutId id="2147483692" r:id="rId4"/>
    <p:sldLayoutId id="2147483696" r:id="rId5"/>
    <p:sldLayoutId id="2147483694" r:id="rId6"/>
    <p:sldLayoutId id="2147483691" r:id="rId7"/>
    <p:sldLayoutId id="2147483655" r:id="rId8"/>
    <p:sldLayoutId id="2147483695" r:id="rId9"/>
    <p:sldLayoutId id="2147483697" r:id="rId10"/>
    <p:sldLayoutId id="2147483698" r:id="rId11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3200" kern="1200" baseline="0">
          <a:solidFill>
            <a:srgbClr val="1A1B1B"/>
          </a:solidFill>
          <a:latin typeface="Roboto" panose="02000000000000000000" pitchFamily="2" charset="0"/>
          <a:ea typeface="+mj-ea"/>
          <a:cs typeface="Roboto" panose="02000000000000000000" pitchFamily="2" charset="0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2000" b="0" i="0" strike="noStrike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1pPr>
      <a:lvl2pPr marL="742950" indent="-28575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8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2pPr>
      <a:lvl3pPr marL="1257300" indent="-3429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8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3pPr>
      <a:lvl4pPr marL="1600200" indent="-2286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4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4pPr>
      <a:lvl5pPr marL="2057400" indent="-2286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4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Relationship Id="rId100" Type="http://schemas.openxmlformats.org/officeDocument/2006/relationships/image" Target="../media/gen-s1-1.png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Relationship Id="rId100" Type="http://schemas.openxmlformats.org/officeDocument/2006/relationships/image" Target="../media/gen-s2-1.png"/><Relationship Id="rId101" Type="http://schemas.openxmlformats.org/officeDocument/2006/relationships/image" Target="../media/gen-s2-2.png"/><Relationship Id="rId102" Type="http://schemas.openxmlformats.org/officeDocument/2006/relationships/image" Target="../media/gen-s2-3.png"/><Relationship Id="rId103" Type="http://schemas.openxmlformats.org/officeDocument/2006/relationships/image" Target="../media/gen-s2-4.png"/><Relationship Id="rId104" Type="http://schemas.openxmlformats.org/officeDocument/2006/relationships/image" Target="../media/gen-s2-5.png"/><Relationship Id="rId105" Type="http://schemas.openxmlformats.org/officeDocument/2006/relationships/image" Target="../media/gen-s2-6.png"/><Relationship Id="rId106" Type="http://schemas.openxmlformats.org/officeDocument/2006/relationships/image" Target="../media/gen-s2-7.png"/><Relationship Id="rId107" Type="http://schemas.openxmlformats.org/officeDocument/2006/relationships/image" Target="../media/gen-s2-8.png"/><Relationship Id="rId108" Type="http://schemas.openxmlformats.org/officeDocument/2006/relationships/image" Target="../media/gen-s2-9.png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4-1.png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9-1.png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11-1.png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15-1.png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22-1.png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26-1.png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30-1.png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34-1.png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35-1.png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37-1.png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38-1.png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41-1.png"/></Relationships>
</file>

<file path=ppt/slides/_rels/slide4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ctrTitle"/>
          </p:nvPr>
        </p:nvSpPr>
        <p:spPr>
          <a:xfrm>
            <a:off x="640080" y="1325880"/>
            <a:ext cx="7863840" cy="1280160"/>
          </a:xfrm>
        </p:spPr>
        <p:txBody>
          <a:bodyPr anchor="ctr">
            <a:normAutofit/>
          </a:bodyPr>
          <a:lstStyle/>
          <a:p>
            <a:pPr/>
            <a:r>
              <a:rPr lang="en-US" sz="2600" dirty="0"/>
              <a:t>AVD Anywhere: Azure Virtual Desktop on Azure, Azure Local, and AVD Hybrid Platforms</a:t>
            </a:r>
          </a:p>
        </p:txBody>
      </p:sp>
      <p:sp>
        <p:nvSpPr>
          <p:cNvPr id="3" name="Speaker 3"/>
          <p:cNvSpPr>
            <a:spLocks noGrp="1"/>
          </p:cNvSpPr>
          <p:nvPr>
            <p:ph type="body" sz="quarter" idx="10"/>
          </p:nvPr>
        </p:nvSpPr>
        <p:spPr>
          <a:xfrm>
            <a:off x="640080" y="2743200"/>
            <a:ext cx="7863840" cy="457200"/>
          </a:xfrm>
        </p:spPr>
        <p:txBody>
          <a:bodyPr>
            <a:normAutofit/>
          </a:bodyPr>
          <a:lstStyle/>
          <a:p>
            <a:pPr algn="ctr"/>
            <a:r>
              <a:rPr lang="en-US" sz="1600" dirty="0"/>
              <a:t>Kristopher Turner · NIC 2026 · Wed 14 Oct, 13:20</a:t>
            </a:r>
          </a:p>
        </p:txBody>
      </p:sp>
      <p:pic>
        <p:nvPicPr>
          <p:cNvPr id="4" name="Title design 4" descr="Title slide designed as a boarding pass: AVD Anywhere, Azure Virtual Desktop on Azure, Azure Local, and AVD Hybrid Platforms. Passenger: you; destination: any. Captain Kristopher Turner, Wed 14 Oct, boarding 13:20, gate Room 5. Three terminals: A Azure, B Azure Local, C AVD Hybrid.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ing 2"/>
          <p:cNvSpPr/>
          <p:nvPr/>
        </p:nvSpPr>
        <p:spPr>
          <a:xfrm>
            <a:off x="502920" y="411480"/>
            <a:ext cx="2286000" cy="2286000"/>
          </a:xfrm>
          <a:prstGeom prst="ellipse">
            <a:avLst/>
          </a:prstGeom>
          <a:noFill/>
          <a:ln w="50800">
            <a:solidFill>
              <a:srgbClr val="1A1B1B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3" name="Headshot 3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4360" y="502920"/>
            <a:ext cx="2103120" cy="2103120"/>
          </a:xfrm>
          <a:prstGeom prst="ellipse">
            <a:avLst/>
          </a:prstGeom>
        </p:spPr>
      </p:pic>
      <p:sp>
        <p:nvSpPr>
          <p:cNvPr id="4" name="Title 4"/>
          <p:cNvSpPr>
            <a:spLocks noGrp="1"/>
          </p:cNvSpPr>
          <p:nvPr>
            <p:ph type="ctrTitle"/>
          </p:nvPr>
        </p:nvSpPr>
        <p:spPr>
          <a:xfrm>
            <a:off x="457200" y="2788920"/>
            <a:ext cx="3383280" cy="548640"/>
          </a:xfrm>
        </p:spPr>
        <p:txBody>
          <a:bodyPr anchor="ctr">
            <a:normAutofit/>
          </a:bodyPr>
          <a:lstStyle/>
          <a:p>
            <a:pPr algn="l"/>
            <a:r>
              <a:rPr lang="en-US" sz="2600" dirty="0"/>
              <a:t>Kristopher Turner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3364992"/>
            <a:ext cx="3383280" cy="822960"/>
          </a:xfrm>
          <a:prstGeom prst="rect">
            <a:avLst/>
          </a:prstGeom>
          <a:noFill/>
          <a:ln>
            <a:noFill/>
          </a:ln>
        </p:spPr>
        <p:txBody>
          <a:bodyPr wrap="square" lIns="91440" tIns="0" rIns="91440" bIns="0" rtlCol="0" anchor="t">
            <a:noAutofit/>
          </a:bodyPr>
          <a:lstStyle/>
          <a:p>
            <a:pPr/>
            <a:r>
              <a:rPr lang="en-US" sz="1300" i="1" dirty="0">
                <a:solidFill>
                  <a:srgbClr val="1A1B1B"/>
                </a:solidFill>
                <a:latin typeface="Roboto"/>
                <a:cs typeface="Roboto"/>
              </a:rPr>
              <a:t>Product Technology Architect</a:t>
            </a:r>
          </a:p>
          <a:p>
            <a:pPr>
              <a:spcBef>
                <a:spcPts val="200"/>
              </a:spcBef>
            </a:pPr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TierPoint</a:t>
            </a:r>
          </a:p>
          <a:p>
            <a:pPr>
              <a:spcBef>
                <a:spcPts val="200"/>
              </a:spcBef>
            </a:pPr>
            <a:r>
              <a:rPr lang="en-US" sz="1100" dirty="0">
                <a:solidFill>
                  <a:srgbClr val="193233"/>
                </a:solidFill>
                <a:latin typeface="Roboto"/>
                <a:cs typeface="Roboto"/>
              </a:rPr>
              <a:t>kris@hybridsolutions.cloud</a:t>
            </a:r>
          </a:p>
        </p:txBody>
      </p:sp>
      <p:sp>
        <p:nvSpPr>
          <p:cNvPr id="6" name="Credentials 6"/>
          <p:cNvSpPr/>
          <p:nvPr/>
        </p:nvSpPr>
        <p:spPr>
          <a:xfrm>
            <a:off x="3931920" y="365760"/>
            <a:ext cx="475488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MVP 7"/>
          <p:cNvPicPr>
            <a:picLocks noChangeAspect="1"/>
          </p:cNvPicPr>
          <p:nvPr/>
        </p:nvPicPr>
        <p:blipFill>
          <a:blip r:embed="rId101"/>
          <a:stretch>
            <a:fillRect/>
          </a:stretch>
        </p:blipFill>
        <p:spPr>
          <a:xfrm>
            <a:off x="4160520" y="502920"/>
            <a:ext cx="566928" cy="822960"/>
          </a:xfrm>
          <a:prstGeom prst="rect">
            <a:avLst/>
          </a:prstGeom>
        </p:spPr>
      </p:pic>
      <p:pic>
        <p:nvPicPr>
          <p:cNvPr id="8" name="MCT 8"/>
          <p:cNvPicPr>
            <a:picLocks noChangeAspect="1"/>
          </p:cNvPicPr>
          <p:nvPr/>
        </p:nvPicPr>
        <p:blipFill>
          <a:blip r:embed="rId102"/>
          <a:stretch>
            <a:fillRect/>
          </a:stretch>
        </p:blipFill>
        <p:spPr>
          <a:xfrm>
            <a:off x="4892040" y="521208"/>
            <a:ext cx="822960" cy="795528"/>
          </a:xfrm>
          <a:prstGeom prst="rect">
            <a:avLst/>
          </a:prstGeom>
        </p:spPr>
      </p:pic>
      <p:sp>
        <p:nvSpPr>
          <p:cNvPr id="9" name="Text 9"/>
          <p:cNvSpPr txBox="1"/>
          <p:nvPr/>
        </p:nvSpPr>
        <p:spPr>
          <a:xfrm>
            <a:off x="5852160" y="548640"/>
            <a:ext cx="2743200" cy="731520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/>
            <a:r>
              <a:rPr lang="en-US" sz="1200" b="1" dirty="0">
                <a:solidFill>
                  <a:srgbClr val="1A1B1B"/>
                </a:solidFill>
                <a:latin typeface="Roboto"/>
                <a:cs typeface="Roboto"/>
              </a:rPr>
              <a:t>Microsoft MVP</a:t>
            </a:r>
          </a:p>
          <a:p>
            <a:pPr>
              <a:spcBef>
                <a:spcPts val="200"/>
              </a:spcBef>
            </a:pPr>
            <a:r>
              <a:rPr lang="en-US" sz="1100" dirty="0">
                <a:solidFill>
                  <a:srgbClr val="193233"/>
                </a:solidFill>
                <a:latin typeface="Roboto"/>
                <a:cs typeface="Roboto"/>
              </a:rPr>
              <a:t>Microsoft Certified Trainer</a:t>
            </a:r>
          </a:p>
        </p:txBody>
      </p:sp>
      <p:pic>
        <p:nvPicPr>
          <p:cNvPr id="10" name="Badge 10"/>
          <p:cNvPicPr>
            <a:picLocks noChangeAspect="1"/>
          </p:cNvPicPr>
          <p:nvPr/>
        </p:nvPicPr>
        <p:blipFill>
          <a:blip r:embed="rId103"/>
          <a:stretch>
            <a:fillRect/>
          </a:stretch>
        </p:blipFill>
        <p:spPr>
          <a:xfrm>
            <a:off x="4114800" y="1463040"/>
            <a:ext cx="640080" cy="640080"/>
          </a:xfrm>
          <a:prstGeom prst="rect">
            <a:avLst/>
          </a:prstGeom>
        </p:spPr>
      </p:pic>
      <p:pic>
        <p:nvPicPr>
          <p:cNvPr id="11" name="Badge 11"/>
          <p:cNvPicPr>
            <a:picLocks noChangeAspect="1"/>
          </p:cNvPicPr>
          <p:nvPr/>
        </p:nvPicPr>
        <p:blipFill>
          <a:blip r:embed="rId104"/>
          <a:stretch>
            <a:fillRect/>
          </a:stretch>
        </p:blipFill>
        <p:spPr>
          <a:xfrm>
            <a:off x="4864608" y="1463040"/>
            <a:ext cx="640080" cy="640080"/>
          </a:xfrm>
          <a:prstGeom prst="rect">
            <a:avLst/>
          </a:prstGeom>
        </p:spPr>
      </p:pic>
      <p:pic>
        <p:nvPicPr>
          <p:cNvPr id="12" name="Badge 12"/>
          <p:cNvPicPr>
            <a:picLocks noChangeAspect="1"/>
          </p:cNvPicPr>
          <p:nvPr/>
        </p:nvPicPr>
        <p:blipFill>
          <a:blip r:embed="rId105"/>
          <a:stretch>
            <a:fillRect/>
          </a:stretch>
        </p:blipFill>
        <p:spPr>
          <a:xfrm>
            <a:off x="5614416" y="1463040"/>
            <a:ext cx="640080" cy="640080"/>
          </a:xfrm>
          <a:prstGeom prst="rect">
            <a:avLst/>
          </a:prstGeom>
        </p:spPr>
      </p:pic>
      <p:pic>
        <p:nvPicPr>
          <p:cNvPr id="13" name="Badge 13"/>
          <p:cNvPicPr>
            <a:picLocks noChangeAspect="1"/>
          </p:cNvPicPr>
          <p:nvPr/>
        </p:nvPicPr>
        <p:blipFill>
          <a:blip r:embed="rId106"/>
          <a:stretch>
            <a:fillRect/>
          </a:stretch>
        </p:blipFill>
        <p:spPr>
          <a:xfrm>
            <a:off x="6364224" y="1463040"/>
            <a:ext cx="640080" cy="640080"/>
          </a:xfrm>
          <a:prstGeom prst="rect">
            <a:avLst/>
          </a:prstGeom>
        </p:spPr>
      </p:pic>
      <p:pic>
        <p:nvPicPr>
          <p:cNvPr id="14" name="Badge 14"/>
          <p:cNvPicPr>
            <a:picLocks noChangeAspect="1"/>
          </p:cNvPicPr>
          <p:nvPr/>
        </p:nvPicPr>
        <p:blipFill>
          <a:blip r:embed="rId107"/>
          <a:stretch>
            <a:fillRect/>
          </a:stretch>
        </p:blipFill>
        <p:spPr>
          <a:xfrm>
            <a:off x="7114032" y="1463040"/>
            <a:ext cx="640080" cy="640080"/>
          </a:xfrm>
          <a:prstGeom prst="rect">
            <a:avLst/>
          </a:prstGeom>
        </p:spPr>
      </p:pic>
      <p:pic>
        <p:nvPicPr>
          <p:cNvPr id="15" name="Badge 15"/>
          <p:cNvPicPr>
            <a:picLocks noChangeAspect="1"/>
          </p:cNvPicPr>
          <p:nvPr/>
        </p:nvPicPr>
        <p:blipFill>
          <a:blip r:embed="rId108"/>
          <a:stretch>
            <a:fillRect/>
          </a:stretch>
        </p:blipFill>
        <p:spPr>
          <a:xfrm>
            <a:off x="7863840" y="1463040"/>
            <a:ext cx="640080" cy="640080"/>
          </a:xfrm>
          <a:prstGeom prst="rect">
            <a:avLst/>
          </a:prstGeom>
        </p:spPr>
      </p:pic>
      <p:sp>
        <p:nvSpPr>
          <p:cNvPr id="16" name="Text 16"/>
          <p:cNvSpPr txBox="1"/>
          <p:nvPr/>
        </p:nvSpPr>
        <p:spPr>
          <a:xfrm>
            <a:off x="4114800" y="2103120"/>
            <a:ext cx="448056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650" dirty="0">
                <a:solidFill>
                  <a:srgbClr val="2E4546"/>
                </a:solidFill>
                <a:latin typeface="Roboto"/>
                <a:cs typeface="Roboto"/>
              </a:rPr>
              <a:t>Solutions Architect Expert · Security Engineer · Administrator · Hybrid Administrator · AVD Specialty · Stack Hub Operator</a:t>
            </a:r>
          </a:p>
        </p:txBody>
      </p:sp>
      <p:sp>
        <p:nvSpPr>
          <p:cNvPr id="17" name="Icon 17"/>
          <p:cNvSpPr/>
          <p:nvPr/>
        </p:nvSpPr>
        <p:spPr>
          <a:xfrm>
            <a:off x="3931920" y="25603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X</a:t>
            </a:r>
          </a:p>
        </p:txBody>
      </p:sp>
      <p:sp>
        <p:nvSpPr>
          <p:cNvPr id="18" name="Handle 18"/>
          <p:cNvSpPr/>
          <p:nvPr/>
        </p:nvSpPr>
        <p:spPr>
          <a:xfrm>
            <a:off x="4352544" y="25603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@CountryCloudBoy</a:t>
            </a:r>
          </a:p>
        </p:txBody>
      </p:sp>
      <p:sp>
        <p:nvSpPr>
          <p:cNvPr id="19" name="Icon 19"/>
          <p:cNvSpPr/>
          <p:nvPr/>
        </p:nvSpPr>
        <p:spPr>
          <a:xfrm>
            <a:off x="3931920" y="30175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in</a:t>
            </a:r>
          </a:p>
        </p:txBody>
      </p:sp>
      <p:sp>
        <p:nvSpPr>
          <p:cNvPr id="20" name="Handle 20"/>
          <p:cNvSpPr/>
          <p:nvPr/>
        </p:nvSpPr>
        <p:spPr>
          <a:xfrm>
            <a:off x="4352544" y="30175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kristopherjturner</a:t>
            </a:r>
          </a:p>
        </p:txBody>
      </p:sp>
      <p:sp>
        <p:nvSpPr>
          <p:cNvPr id="21" name="Icon 21"/>
          <p:cNvSpPr/>
          <p:nvPr/>
        </p:nvSpPr>
        <p:spPr>
          <a:xfrm>
            <a:off x="3931920" y="34747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▶</a:t>
            </a:r>
          </a:p>
        </p:txBody>
      </p:sp>
      <p:sp>
        <p:nvSpPr>
          <p:cNvPr id="22" name="Handle 22"/>
          <p:cNvSpPr/>
          <p:nvPr/>
        </p:nvSpPr>
        <p:spPr>
          <a:xfrm>
            <a:off x="4352544" y="34747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@CountryCloudBoy</a:t>
            </a:r>
          </a:p>
        </p:txBody>
      </p:sp>
      <p:sp>
        <p:nvSpPr>
          <p:cNvPr id="23" name="Icon 23"/>
          <p:cNvSpPr/>
          <p:nvPr/>
        </p:nvSpPr>
        <p:spPr>
          <a:xfrm>
            <a:off x="6355080" y="25603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www</a:t>
            </a:r>
          </a:p>
        </p:txBody>
      </p:sp>
      <p:sp>
        <p:nvSpPr>
          <p:cNvPr id="24" name="Handle 24"/>
          <p:cNvSpPr/>
          <p:nvPr/>
        </p:nvSpPr>
        <p:spPr>
          <a:xfrm>
            <a:off x="6775704" y="25603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kristopherjturner.me</a:t>
            </a:r>
          </a:p>
        </p:txBody>
      </p:sp>
      <p:sp>
        <p:nvSpPr>
          <p:cNvPr id="25" name="Icon 25"/>
          <p:cNvSpPr/>
          <p:nvPr/>
        </p:nvSpPr>
        <p:spPr>
          <a:xfrm>
            <a:off x="6355080" y="30175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GH</a:t>
            </a:r>
          </a:p>
        </p:txBody>
      </p:sp>
      <p:sp>
        <p:nvSpPr>
          <p:cNvPr id="26" name="Handle 26"/>
          <p:cNvSpPr/>
          <p:nvPr/>
        </p:nvSpPr>
        <p:spPr>
          <a:xfrm>
            <a:off x="6775704" y="30175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kristopherjturner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ctrTitle"/>
          </p:nvPr>
        </p:nvSpPr>
        <p:spPr>
          <a:xfrm>
            <a:off x="457200" y="182880"/>
            <a:ext cx="8229600" cy="603504"/>
          </a:xfrm>
        </p:spPr>
        <p:txBody>
          <a:bodyPr anchor="ctr">
            <a:normAutofit/>
          </a:bodyPr>
          <a:lstStyle/>
          <a:p>
            <a:pPr algn="l"/>
            <a:r>
              <a:rPr lang="en-US" sz="2450" dirty="0"/>
              <a:t>Home base: Virginia, USA</a:t>
            </a:r>
          </a:p>
        </p:txBody>
      </p:sp>
      <p:sp>
        <p:nvSpPr>
          <p:cNvPr id="3" name="Montage placeholder 3"/>
          <p:cNvSpPr/>
          <p:nvPr/>
        </p:nvSpPr>
        <p:spPr>
          <a:xfrm>
            <a:off x="1483360" y="914400"/>
            <a:ext cx="6177280" cy="3474720"/>
          </a:xfrm>
          <a:prstGeom prst="rect">
            <a:avLst/>
          </a:prstGeom>
          <a:solidFill>
            <a:srgbClr val="1A1B1B"/>
          </a:solidFill>
          <a:ln w="31750">
            <a:solidFill>
              <a:srgbClr val="1A1B1B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800" b="1" dirty="0">
                <a:solidFill>
                  <a:srgbClr val="98F8FE"/>
                </a:solidFill>
                <a:latin typeface="Roboto"/>
                <a:cs typeface="Roboto"/>
              </a:rPr>
              <a:t>Photo montage shown live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What we will do today: the Route Map</a:t>
            </a:r>
          </a:p>
        </p:txBody>
      </p:sp>
      <p:pic>
        <p:nvPicPr>
          <p:cNvPr id="3" name="Chart 3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1548384" y="1097280"/>
            <a:ext cx="6047232" cy="3401568"/>
          </a:xfrm>
          <a:prstGeom prst="rect">
            <a:avLst/>
          </a:prstGeom>
        </p:spPr>
      </p:pic>
      <p:cxnSp>
        <p:nvCxnSpPr>
          <p:cNvPr id="4" name="Line 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5" name="Node 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7" name="Node 7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9" name="Node 9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What is Azure Virtual Desktop?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A desktop and app virtualization service that runs on Azure: full Windows desktops or single apps, delivered to any device.</a:t>
            </a:r>
          </a:p>
        </p:txBody>
      </p:sp>
      <p:sp>
        <p:nvSpPr>
          <p:cNvPr id="4" name="Box 4"/>
          <p:cNvSpPr/>
          <p:nvPr/>
        </p:nvSpPr>
        <p:spPr>
          <a:xfrm>
            <a:off x="45720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Users, any device</a:t>
            </a:r>
          </a:p>
        </p:txBody>
      </p:sp>
      <p:cxnSp>
        <p:nvCxnSpPr>
          <p:cNvPr id="5" name="Arrow 5"/>
          <p:cNvCxnSpPr/>
          <p:nvPr/>
        </p:nvCxnSpPr>
        <p:spPr>
          <a:xfrm>
            <a:off x="23271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6" name="Box 6"/>
          <p:cNvSpPr/>
          <p:nvPr/>
        </p:nvSpPr>
        <p:spPr>
          <a:xfrm>
            <a:off x="258318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Windows App or a browser</a:t>
            </a:r>
          </a:p>
        </p:txBody>
      </p:sp>
      <p:cxnSp>
        <p:nvCxnSpPr>
          <p:cNvPr id="7" name="Arrow 7"/>
          <p:cNvCxnSpPr/>
          <p:nvPr/>
        </p:nvCxnSpPr>
        <p:spPr>
          <a:xfrm>
            <a:off x="445312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8" name="Box 8"/>
          <p:cNvSpPr/>
          <p:nvPr/>
        </p:nvSpPr>
        <p:spPr>
          <a:xfrm>
            <a:off x="470916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AVD service in Azure</a:t>
            </a:r>
          </a:p>
        </p:txBody>
      </p:sp>
      <p:cxnSp>
        <p:nvCxnSpPr>
          <p:cNvPr id="9" name="Arrow 9"/>
          <p:cNvCxnSpPr/>
          <p:nvPr/>
        </p:nvCxnSpPr>
        <p:spPr>
          <a:xfrm>
            <a:off x="657910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0" name="Box 10"/>
          <p:cNvSpPr/>
          <p:nvPr/>
        </p:nvSpPr>
        <p:spPr>
          <a:xfrm>
            <a:off x="683514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193233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Session hosts: Windows VMs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300" dirty="0">
                <a:solidFill>
                  <a:srgbClr val="1A1B1B"/>
                </a:solidFill>
                <a:latin typeface="Roboto"/>
                <a:cs typeface="Roboto"/>
              </a:rPr>
              <a:t>Full Windows 11 desktops or single apps, on any device, through Windows App or a browser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300" dirty="0">
                <a:solidFill>
                  <a:srgbClr val="1A1B1B"/>
                </a:solidFill>
                <a:latin typeface="Roboto"/>
                <a:cs typeface="Roboto"/>
              </a:rPr>
              <a:t>Windows 11 multi-session: many users share one VM, only on AVD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300" dirty="0">
                <a:solidFill>
                  <a:srgbClr val="1A1B1B"/>
                </a:solidFill>
                <a:latin typeface="Roboto"/>
                <a:cs typeface="Roboto"/>
              </a:rPr>
              <a:t>Microsoft runs the gateway, broker and feed; you manage the VMs and their image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300" dirty="0">
                <a:solidFill>
                  <a:srgbClr val="1A1B1B"/>
                </a:solidFill>
                <a:latin typeface="Roboto"/>
                <a:cs typeface="Roboto"/>
              </a:rPr>
              <a:t>Licensed through Microsoft 365 E3, E5, F3, Business Premium or Windows Enterprise</a:t>
            </a:r>
          </a:p>
        </p:txBody>
      </p:sp>
      <p:cxnSp>
        <p:nvCxnSpPr>
          <p:cNvPr id="12" name="Line 12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3" name="Node 13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5" name="Node 15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7" name="Node 1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Today: AVD in three places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50" i="1" dirty="0">
                <a:solidFill>
                  <a:srgbClr val="193233"/>
                </a:solidFill>
                <a:latin typeface="Roboto"/>
                <a:cs typeface="Roboto"/>
              </a:rPr>
              <a:t>The service stays in Azure, so the session hosts can run in Azure, on Azure Local, or on your own hypervisor.</a:t>
            </a:r>
          </a:p>
        </p:txBody>
      </p:sp>
      <p:sp>
        <p:nvSpPr>
          <p:cNvPr id="4" name="Terminal 4"/>
          <p:cNvSpPr/>
          <p:nvPr/>
        </p:nvSpPr>
        <p:spPr>
          <a:xfrm>
            <a:off x="640080" y="1517904"/>
            <a:ext cx="2468880" cy="1188720"/>
          </a:xfrm>
          <a:prstGeom prst="roundRect">
            <a:avLst>
              <a:gd name="adj" fmla="val 8000"/>
            </a:avLst>
          </a:prstGeom>
          <a:solidFill>
            <a:srgbClr val="193233"/>
          </a:solidFill>
          <a:ln w="19050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Azure</a:t>
            </a:r>
          </a:p>
          <a:p>
            <a:pPr algn="ctr">
              <a:spcBef>
                <a:spcPts val="400"/>
              </a:spcBef>
            </a:pPr>
            <a:r>
              <a:rPr lang="en-US" sz="1050" dirty="0">
                <a:solidFill>
                  <a:srgbClr val="98F8FE"/>
                </a:solidFill>
                <a:latin typeface="Roboto"/>
                <a:cs typeface="Roboto"/>
              </a:rPr>
              <a:t>Elastic, pooled, Entra-joined</a:t>
            </a:r>
          </a:p>
        </p:txBody>
      </p:sp>
      <p:sp>
        <p:nvSpPr>
          <p:cNvPr id="5" name="Terminal 5"/>
          <p:cNvSpPr/>
          <p:nvPr/>
        </p:nvSpPr>
        <p:spPr>
          <a:xfrm>
            <a:off x="3337560" y="1517904"/>
            <a:ext cx="2468880" cy="1188720"/>
          </a:xfrm>
          <a:prstGeom prst="roundRect">
            <a:avLst>
              <a:gd name="adj" fmla="val 8000"/>
            </a:avLst>
          </a:prstGeom>
          <a:solidFill>
            <a:srgbClr val="FDBA12"/>
          </a:solidFill>
          <a:ln w="19050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Azure Local</a:t>
            </a:r>
          </a:p>
          <a:p>
            <a:pPr algn="ctr">
              <a:spcBef>
                <a:spcPts val="400"/>
              </a:spcBef>
            </a:pPr>
            <a:r>
              <a:rPr lang="en-US" sz="1050" dirty="0">
                <a:solidFill>
                  <a:srgbClr val="1A1B1B"/>
                </a:solidFill>
                <a:latin typeface="Roboto"/>
                <a:cs typeface="Roboto"/>
              </a:rPr>
              <a:t>Your site: data, latency, regulation</a:t>
            </a:r>
          </a:p>
        </p:txBody>
      </p:sp>
      <p:sp>
        <p:nvSpPr>
          <p:cNvPr id="6" name="Terminal 6"/>
          <p:cNvSpPr/>
          <p:nvPr/>
        </p:nvSpPr>
        <p:spPr>
          <a:xfrm>
            <a:off x="6035040" y="1517904"/>
            <a:ext cx="246888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AVD Hybrid</a:t>
            </a:r>
          </a:p>
          <a:p>
            <a:pPr algn="ctr">
              <a:spcBef>
                <a:spcPts val="400"/>
              </a:spcBef>
            </a:pPr>
            <a:r>
              <a:rPr lang="en-US" sz="1050" dirty="0">
                <a:solidFill>
                  <a:srgbClr val="1A1B1B"/>
                </a:solidFill>
                <a:latin typeface="Roboto"/>
                <a:cs typeface="Roboto"/>
              </a:rPr>
              <a:t>Your hypervisor, Arc-enabled VMs</a:t>
            </a:r>
          </a:p>
        </p:txBody>
      </p:sp>
      <p:sp>
        <p:nvSpPr>
          <p:cNvPr id="7" name="Passport 7"/>
          <p:cNvSpPr/>
          <p:nvPr/>
        </p:nvSpPr>
        <p:spPr>
          <a:xfrm>
            <a:off x="640080" y="2843784"/>
            <a:ext cx="7863840" cy="128016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640080" y="2999232"/>
            <a:ext cx="7863840" cy="29260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Entra ID + Arc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640080" y="3392424"/>
            <a:ext cx="7863840" cy="10515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1A1B1B"/>
                </a:solidFill>
                <a:latin typeface="Roboto"/>
                <a:cs typeface="Roboto"/>
              </a:rPr>
              <a:t>One workspace, one user, one profile pattern across all three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1A1B1B"/>
                </a:solidFill>
                <a:latin typeface="Roboto"/>
                <a:cs typeface="Roboto"/>
              </a:rPr>
              <a:t>Today: how each one is built, live, and what makes them one platform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1A1B1B"/>
                </a:solidFill>
                <a:latin typeface="Roboto"/>
                <a:cs typeface="Roboto"/>
              </a:rPr>
              <a:t>Monitoring is shared; patching, power and recovery differ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1" name="Node 11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3" name="Node 13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5" name="Node 15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Everything you see today is in the repo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50" i="1" dirty="0">
                <a:solidFill>
                  <a:srgbClr val="193233"/>
                </a:solidFill>
                <a:latin typeface="Roboto"/>
                <a:cs typeface="Roboto"/>
              </a:rPr>
              <a:t>Every demo has a follow-along page you can run in your own tenant; no need to photograph slides.</a:t>
            </a:r>
          </a:p>
        </p:txBody>
      </p:sp>
      <p:sp>
        <p:nvSpPr>
          <p:cNvPr id="4" name="Card 4"/>
          <p:cNvSpPr/>
          <p:nvPr/>
        </p:nvSpPr>
        <p:spPr>
          <a:xfrm>
            <a:off x="457200" y="2073212"/>
            <a:ext cx="4023360" cy="172402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Rule 5"/>
          <p:cNvSpPr/>
          <p:nvPr/>
        </p:nvSpPr>
        <p:spPr>
          <a:xfrm>
            <a:off x="621792" y="2256092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548640" y="2393252"/>
            <a:ext cx="3840480" cy="1312545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Repo</a:t>
            </a:r>
          </a:p>
          <a:p>
            <a:pPr>
              <a:spcBef>
                <a:spcPts val="600"/>
              </a:spcBef>
            </a:pPr>
            <a:r>
              <a:rPr lang="en-US" sz="1350" dirty="0">
                <a:solidFill>
                  <a:srgbClr val="193233"/>
                </a:solidFill>
                <a:latin typeface="Roboto"/>
                <a:cs typeface="Roboto"/>
              </a:rPr>
              <a:t>github.com/thisismydemo/nic2026_avd</a:t>
            </a:r>
          </a:p>
        </p:txBody>
      </p:sp>
      <p:sp>
        <p:nvSpPr>
          <p:cNvPr id="7" name="Card 7"/>
          <p:cNvSpPr/>
          <p:nvPr/>
        </p:nvSpPr>
        <p:spPr>
          <a:xfrm>
            <a:off x="4663440" y="2073212"/>
            <a:ext cx="4023360" cy="172402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Rule 8"/>
          <p:cNvSpPr/>
          <p:nvPr/>
        </p:nvSpPr>
        <p:spPr>
          <a:xfrm>
            <a:off x="4828032" y="2256092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754880" y="2393252"/>
            <a:ext cx="3840480" cy="1312545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Follow-along</a:t>
            </a:r>
          </a:p>
          <a:p>
            <a:pPr>
              <a:spcBef>
                <a:spcPts val="600"/>
              </a:spcBef>
            </a:pPr>
            <a:r>
              <a:rPr lang="en-US" sz="1550" dirty="0">
                <a:solidFill>
                  <a:srgbClr val="193233"/>
                </a:solidFill>
                <a:latin typeface="Roboto"/>
                <a:cs typeface="Roboto"/>
              </a:rPr>
              <a:t>thisismydemo.cloud/nic2026_avd, in your own tenant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1" name="Node 11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3" name="Node 13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5" name="Node 15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Demo Time: where we finish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200" i="1" dirty="0">
                <a:solidFill>
                  <a:srgbClr val="C3FBFE"/>
                </a:solidFill>
                <a:latin typeface="Roboto"/>
                <a:cs typeface="Roboto"/>
              </a:rPr>
              <a:t>The pre-deployed environment: one workspace, three host pools, every running host Available.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698879"/>
            <a:ext cx="2621280" cy="247269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188175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018919"/>
            <a:ext cx="2438400" cy="206121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The feed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one workspace, three desktops</a:t>
            </a:r>
          </a:p>
        </p:txBody>
      </p:sp>
      <p:sp>
        <p:nvSpPr>
          <p:cNvPr id="8" name="Card 8"/>
          <p:cNvSpPr/>
          <p:nvPr/>
        </p:nvSpPr>
        <p:spPr>
          <a:xfrm>
            <a:off x="3261360" y="1698879"/>
            <a:ext cx="2621280" cy="247269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3425952" y="188175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352800" y="2018919"/>
            <a:ext cx="2438400" cy="206121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Three host pools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Azure, Azure Local, Hybrid</a:t>
            </a:r>
          </a:p>
        </p:txBody>
      </p:sp>
      <p:sp>
        <p:nvSpPr>
          <p:cNvPr id="11" name="Card 11"/>
          <p:cNvSpPr/>
          <p:nvPr/>
        </p:nvSpPr>
        <p:spPr>
          <a:xfrm>
            <a:off x="6065520" y="1698879"/>
            <a:ext cx="2621280" cy="247269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6230112" y="188175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6156960" y="2018919"/>
            <a:ext cx="2438400" cy="206121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Hosts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every running host Available; az01 is off by design, the scaling plan keeps one of two running</a:t>
            </a:r>
          </a:p>
        </p:txBody>
      </p:sp>
      <p:cxnSp>
        <p:nvCxnSpPr>
          <p:cNvPr id="14" name="Line 1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5" name="Node 1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7" name="Node 17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9" name="Node 19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1" name="Text 21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The shared foundation: built once, used by all three terminals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THE AIRPORT  ·  SECTION 1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50" i="1" dirty="0">
                <a:solidFill>
                  <a:srgbClr val="193233"/>
                </a:solidFill>
                <a:latin typeface="Roboto"/>
                <a:cs typeface="Roboto"/>
              </a:rPr>
              <a:t>All three terminals sit on one foundation built from code; each terminal only adds its own hosts.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2100" dirty="0"/>
              <a:t>What all three share: one workspace, one identity, one monitoring workspace, one image gallery</a:t>
            </a:r>
          </a:p>
          <a:p>
            <a:pPr>
              <a:spcBef>
                <a:spcPts val="700"/>
              </a:spcBef>
            </a:pPr>
            <a:r>
              <a:rPr lang="en-US" sz="2100" dirty="0"/>
              <a:t>What each terminal adds: only its session hosts (on site, also the profile share)</a:t>
            </a:r>
          </a:p>
          <a:p>
            <a:pPr>
              <a:spcBef>
                <a:spcPts val="700"/>
              </a:spcBef>
            </a:pPr>
            <a:r>
              <a:rPr lang="en-US" sz="2100" dirty="0"/>
              <a:t>Built from one config file in the repo; nothing clicked by hand</a:t>
            </a:r>
          </a:p>
        </p:txBody>
      </p:sp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THE AIRPORT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2" name="Node 12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4" name="Node 1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Demo Time: the foundation as code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One repo and one config file build the foundation for all three terminals.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2064639"/>
            <a:ext cx="2621280" cy="174117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224751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384679"/>
            <a:ext cx="2438400" cy="132969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The repo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one folder per layer</a:t>
            </a:r>
          </a:p>
        </p:txBody>
      </p:sp>
      <p:sp>
        <p:nvSpPr>
          <p:cNvPr id="8" name="Card 8"/>
          <p:cNvSpPr/>
          <p:nvPr/>
        </p:nvSpPr>
        <p:spPr>
          <a:xfrm>
            <a:off x="3261360" y="2064639"/>
            <a:ext cx="2621280" cy="174117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3425952" y="224751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352800" y="2384679"/>
            <a:ext cx="2438400" cy="132969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The config file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names, networks, the three host pools</a:t>
            </a:r>
          </a:p>
        </p:txBody>
      </p:sp>
      <p:sp>
        <p:nvSpPr>
          <p:cNvPr id="11" name="Card 11"/>
          <p:cNvSpPr/>
          <p:nvPr/>
        </p:nvSpPr>
        <p:spPr>
          <a:xfrm>
            <a:off x="6065520" y="2064639"/>
            <a:ext cx="2621280" cy="174117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6230112" y="224751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6156960" y="2384679"/>
            <a:ext cx="2438400" cy="132969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Secrets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Key Vault references, never values</a:t>
            </a:r>
          </a:p>
        </p:txBody>
      </p:sp>
      <p:cxnSp>
        <p:nvCxnSpPr>
          <p:cNvPr id="14" name="Line 1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5" name="Node 1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7" name="Node 17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9" name="Node 19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1" name="Text 21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Terminal A: AVD on Azure, the reference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TERMINAL A  ·  SECTION 2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How AVD on Azure works: the baseline the other two terminals are measured against.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800" dirty="0"/>
              <a:t>Pooled, breadth-first, multi-session Windows 11; Entra-joined, SSO, RDP Shortpath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Autoscale and Start VM on Connect: autoscale only here; Start VM on Connect here and on Azure Local, never on Hybrid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Reused by B and C: the image (next slide) and the monitoring (the slide after)</a:t>
            </a:r>
          </a:p>
        </p:txBody>
      </p:sp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TERMINAL A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2" name="Node 12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4" name="Node 1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350" dirty="0"/>
              <a:t>Reused everywhere, part 1: one image, built once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Image Builder builds one image into the gallery; Terminal B imports the same image, Terminal C rebuilds it with Packer.</a:t>
            </a:r>
          </a:p>
        </p:txBody>
      </p:sp>
      <p:sp>
        <p:nvSpPr>
          <p:cNvPr id="4" name="Box 4"/>
          <p:cNvSpPr/>
          <p:nvPr/>
        </p:nvSpPr>
        <p:spPr>
          <a:xfrm>
            <a:off x="45720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Pinned source image</a:t>
            </a:r>
          </a:p>
        </p:txBody>
      </p:sp>
      <p:cxnSp>
        <p:nvCxnSpPr>
          <p:cNvPr id="5" name="Arrow 5"/>
          <p:cNvCxnSpPr/>
          <p:nvPr/>
        </p:nvCxnSpPr>
        <p:spPr>
          <a:xfrm>
            <a:off x="23271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6" name="Box 6"/>
          <p:cNvSpPr/>
          <p:nvPr/>
        </p:nvSpPr>
        <p:spPr>
          <a:xfrm>
            <a:off x="258318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Shared customisation scripts</a:t>
            </a:r>
          </a:p>
        </p:txBody>
      </p:sp>
      <p:cxnSp>
        <p:nvCxnSpPr>
          <p:cNvPr id="7" name="Arrow 7"/>
          <p:cNvCxnSpPr/>
          <p:nvPr/>
        </p:nvCxnSpPr>
        <p:spPr>
          <a:xfrm>
            <a:off x="445312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8" name="Box 8"/>
          <p:cNvSpPr/>
          <p:nvPr/>
        </p:nvSpPr>
        <p:spPr>
          <a:xfrm>
            <a:off x="470916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Gallery version</a:t>
            </a:r>
          </a:p>
        </p:txBody>
      </p:sp>
      <p:cxnSp>
        <p:nvCxnSpPr>
          <p:cNvPr id="9" name="Arrow 9"/>
          <p:cNvCxnSpPr/>
          <p:nvPr/>
        </p:nvCxnSpPr>
        <p:spPr>
          <a:xfrm>
            <a:off x="657910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0" name="Box 10"/>
          <p:cNvSpPr/>
          <p:nvPr/>
        </p:nvSpPr>
        <p:spPr>
          <a:xfrm>
            <a:off x="683514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193233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Replicate and roll back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350" dirty="0">
                <a:solidFill>
                  <a:srgbClr val="1A1B1B"/>
                </a:solidFill>
                <a:latin typeface="Roboto"/>
                <a:cs typeface="Roboto"/>
              </a:rPr>
              <a:t>Image Builder builds it from a pinned Windows 11 version with shared scripts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350" dirty="0">
                <a:solidFill>
                  <a:srgbClr val="1A1B1B"/>
                </a:solidFill>
                <a:latin typeface="Roboto"/>
                <a:cs typeface="Roboto"/>
              </a:rPr>
              <a:t>It lands in the Compute Gallery: versioned, replicated, easy to roll back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350" dirty="0">
                <a:solidFill>
                  <a:srgbClr val="1A1B1B"/>
                </a:solidFill>
                <a:latin typeface="Roboto"/>
                <a:cs typeface="Roboto"/>
              </a:rPr>
              <a:t>Terminal B imports that image to the cluster; Terminal C builds the same scripts with Packer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350" dirty="0">
                <a:solidFill>
                  <a:srgbClr val="1A1B1B"/>
                </a:solidFill>
                <a:latin typeface="Roboto"/>
                <a:cs typeface="Roboto"/>
              </a:rPr>
              <a:t>No identity baked in: each terminal joins the domain its own way</a:t>
            </a:r>
          </a:p>
        </p:txBody>
      </p:sp>
      <p:cxnSp>
        <p:nvCxnSpPr>
          <p:cNvPr id="12" name="Line 12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3" name="Node 13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5" name="Node 15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7" name="Node 1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Reused everywhere, part 2: one monitoring view, and what it costs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50" i="1" dirty="0">
                <a:solidFill>
                  <a:srgbClr val="193233"/>
                </a:solidFill>
                <a:latin typeface="Roboto"/>
                <a:cs typeface="Roboto"/>
              </a:rPr>
              <a:t>AVD Insights is the one view for the hosts of all three terminals; the data collection rule decides the bill.</a:t>
            </a:r>
          </a:p>
        </p:txBody>
      </p:sp>
      <p:sp>
        <p:nvSpPr>
          <p:cNvPr id="4" name="Box 4"/>
          <p:cNvSpPr/>
          <p:nvPr/>
        </p:nvSpPr>
        <p:spPr>
          <a:xfrm>
            <a:off x="45720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DCR selection</a:t>
            </a:r>
          </a:p>
        </p:txBody>
      </p:sp>
      <p:cxnSp>
        <p:nvCxnSpPr>
          <p:cNvPr id="5" name="Arrow 5"/>
          <p:cNvCxnSpPr/>
          <p:nvPr/>
        </p:nvCxnSpPr>
        <p:spPr>
          <a:xfrm>
            <a:off x="23271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6" name="Box 6"/>
          <p:cNvSpPr/>
          <p:nvPr/>
        </p:nvSpPr>
        <p:spPr>
          <a:xfrm>
            <a:off x="258318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Collected signal</a:t>
            </a:r>
          </a:p>
        </p:txBody>
      </p:sp>
      <p:cxnSp>
        <p:nvCxnSpPr>
          <p:cNvPr id="7" name="Arrow 7"/>
          <p:cNvCxnSpPr/>
          <p:nvPr/>
        </p:nvCxnSpPr>
        <p:spPr>
          <a:xfrm>
            <a:off x="445312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8" name="Box 8"/>
          <p:cNvSpPr/>
          <p:nvPr/>
        </p:nvSpPr>
        <p:spPr>
          <a:xfrm>
            <a:off x="470916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Insights evidence</a:t>
            </a:r>
          </a:p>
        </p:txBody>
      </p:sp>
      <p:cxnSp>
        <p:nvCxnSpPr>
          <p:cNvPr id="9" name="Arrow 9"/>
          <p:cNvCxnSpPr/>
          <p:nvPr/>
        </p:nvCxnSpPr>
        <p:spPr>
          <a:xfrm>
            <a:off x="657910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0" name="Box 10"/>
          <p:cNvSpPr/>
          <p:nvPr/>
        </p:nvSpPr>
        <p:spPr>
          <a:xfrm>
            <a:off x="683514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193233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Ingestion and cost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Collect only the Insights defaults: counters and events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Measured in the demo environment: roughly 3 to 5 GB per host per month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Preview: the Azure Copilot Observability Agent investigates alerts on this workspace, billed per use</a:t>
            </a:r>
          </a:p>
        </p:txBody>
      </p:sp>
      <p:cxnSp>
        <p:nvCxnSpPr>
          <p:cNvPr id="12" name="Line 12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3" name="Node 13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5" name="Node 15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7" name="Node 1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Demo Time: Terminal A, AVD on Azure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5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Deploy it live next to the pre-deployed terminal: a host pool and a session host, then the image and the monitoring.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820799"/>
            <a:ext cx="1920240" cy="222885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200367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140839"/>
            <a:ext cx="1737360" cy="181737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Live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the host pool wizard, then the same from a script</a:t>
            </a:r>
          </a:p>
        </p:txBody>
      </p:sp>
      <p:sp>
        <p:nvSpPr>
          <p:cNvPr id="8" name="Card 8"/>
          <p:cNvSpPr/>
          <p:nvPr/>
        </p:nvSpPr>
        <p:spPr>
          <a:xfrm>
            <a:off x="2560320" y="1820799"/>
            <a:ext cx="1920240" cy="222885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2724912" y="200367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2651760" y="2140839"/>
            <a:ext cx="1737360" cy="181737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Live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a new session host, deployed by script while we talk</a:t>
            </a:r>
          </a:p>
        </p:txBody>
      </p:sp>
      <p:sp>
        <p:nvSpPr>
          <p:cNvPr id="11" name="Card 11"/>
          <p:cNvSpPr/>
          <p:nvPr/>
        </p:nvSpPr>
        <p:spPr>
          <a:xfrm>
            <a:off x="4663440" y="1820799"/>
            <a:ext cx="1920240" cy="222885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4828032" y="200367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754880" y="2140839"/>
            <a:ext cx="1737360" cy="181737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Pre-deployed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the pool, pooled and Entra-joined, and its image</a:t>
            </a:r>
          </a:p>
        </p:txBody>
      </p:sp>
      <p:sp>
        <p:nvSpPr>
          <p:cNvPr id="14" name="Card 14"/>
          <p:cNvSpPr/>
          <p:nvPr/>
        </p:nvSpPr>
        <p:spPr>
          <a:xfrm>
            <a:off x="6766560" y="1820799"/>
            <a:ext cx="1920240" cy="222885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Rule 15"/>
          <p:cNvSpPr/>
          <p:nvPr/>
        </p:nvSpPr>
        <p:spPr>
          <a:xfrm>
            <a:off x="6931152" y="200367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858000" y="2140839"/>
            <a:ext cx="1737360" cy="181737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Monitoring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Insights, and the DCR before and after</a:t>
            </a:r>
          </a:p>
        </p:txBody>
      </p:sp>
      <p:cxnSp>
        <p:nvCxnSpPr>
          <p:cNvPr id="17" name="Line 17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8" name="Node 18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20" name="Node 20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22" name="Node 22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4" name="Text 24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Terminal B: AVD on Azure Local, and why you would choose it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TERMINAL B  ·  SECTION 3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Same service, compute at your site: why you would choose it, and what runs in the demo.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800" dirty="0"/>
              <a:t>Why: data stays on site, low latency for local users, regulation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Same AVD service and workspace; the session hosts run on your cluster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In the demo: al01, al02 and the GPU host al03, AD-joined, hybrid users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On the AVD logical network (VLAN 2215) with an NSG; profiles on a SOFS on the same cluster</a:t>
            </a:r>
          </a:p>
        </p:txBody>
      </p:sp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TERMINAL B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2" name="Node 12"/>
          <p:cNvSpPr/>
          <p:nvPr/>
        </p:nvSpPr>
        <p:spPr>
          <a:xfrm>
            <a:off x="532638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4" name="Node 1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How AVD on Azure Local fits together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The service stays in Azure; the session hosts are Azure Local VMs that Azure creates on your cluster through Arc.</a:t>
            </a:r>
          </a:p>
        </p:txBody>
      </p:sp>
      <p:sp>
        <p:nvSpPr>
          <p:cNvPr id="4" name="Box 4"/>
          <p:cNvSpPr/>
          <p:nvPr/>
        </p:nvSpPr>
        <p:spPr>
          <a:xfrm>
            <a:off x="457200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AVD in Azure</a:t>
            </a:r>
          </a:p>
        </p:txBody>
      </p:sp>
      <p:cxnSp>
        <p:nvCxnSpPr>
          <p:cNvPr id="5" name="Arrow 5"/>
          <p:cNvCxnSpPr/>
          <p:nvPr/>
        </p:nvCxnSpPr>
        <p:spPr>
          <a:xfrm>
            <a:off x="1901952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6" name="Box 6"/>
          <p:cNvSpPr/>
          <p:nvPr/>
        </p:nvSpPr>
        <p:spPr>
          <a:xfrm>
            <a:off x="2157984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Custom location</a:t>
            </a:r>
          </a:p>
        </p:txBody>
      </p:sp>
      <p:cxnSp>
        <p:nvCxnSpPr>
          <p:cNvPr id="7" name="Arrow 7"/>
          <p:cNvCxnSpPr/>
          <p:nvPr/>
        </p:nvCxnSpPr>
        <p:spPr>
          <a:xfrm>
            <a:off x="3602736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8" name="Box 8"/>
          <p:cNvSpPr/>
          <p:nvPr/>
        </p:nvSpPr>
        <p:spPr>
          <a:xfrm>
            <a:off x="3858768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Arc Resource Bridge</a:t>
            </a:r>
          </a:p>
        </p:txBody>
      </p:sp>
      <p:cxnSp>
        <p:nvCxnSpPr>
          <p:cNvPr id="9" name="Arrow 9"/>
          <p:cNvCxnSpPr/>
          <p:nvPr/>
        </p:nvCxnSpPr>
        <p:spPr>
          <a:xfrm>
            <a:off x="5303520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0" name="Box 10"/>
          <p:cNvSpPr/>
          <p:nvPr/>
        </p:nvSpPr>
        <p:spPr>
          <a:xfrm>
            <a:off x="5559552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Azure Local VM</a:t>
            </a:r>
          </a:p>
        </p:txBody>
      </p:sp>
      <p:cxnSp>
        <p:nvCxnSpPr>
          <p:cNvPr id="11" name="Arrow 11"/>
          <p:cNvCxnSpPr/>
          <p:nvPr/>
        </p:nvCxnSpPr>
        <p:spPr>
          <a:xfrm>
            <a:off x="7004304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2" name="Box 12"/>
          <p:cNvSpPr/>
          <p:nvPr/>
        </p:nvSpPr>
        <p:spPr>
          <a:xfrm>
            <a:off x="7260336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193233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Session host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1A1B1B"/>
                </a:solidFill>
                <a:latin typeface="Roboto"/>
                <a:cs typeface="Roboto"/>
              </a:rPr>
              <a:t>In Azure: host pool, workspace, app groups, broker; a pool is Azure Local only, never mixed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1A1B1B"/>
                </a:solidFill>
                <a:latin typeface="Roboto"/>
                <a:cs typeface="Roboto"/>
              </a:rPr>
              <a:t>On your cluster: session hosts created from the AVD blade through the custom location and Resource Bridge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1A1B1B"/>
                </a:solidFill>
                <a:latin typeface="Roboto"/>
                <a:cs typeface="Roboto"/>
              </a:rPr>
              <a:t>On each host: the Arc agent and the AVD agent; AD DS join (hybrid join for SSO); Azure verification activates multi-session</a:t>
            </a:r>
          </a:p>
        </p:txBody>
      </p:sp>
      <p:cxnSp>
        <p:nvCxnSpPr>
          <p:cNvPr id="14" name="Line 1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5" name="Node 1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7" name="Node 17"/>
          <p:cNvSpPr/>
          <p:nvPr/>
        </p:nvSpPr>
        <p:spPr>
          <a:xfrm>
            <a:off x="532638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9" name="Node 19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1" name="Text 21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150" dirty="0"/>
              <a:t>Getting hosts there: image first, then the host pool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Step 1: get an image onto the cluster.</a:t>
            </a:r>
          </a:p>
        </p:txBody>
      </p:sp>
      <p:sp>
        <p:nvSpPr>
          <p:cNvPr id="4" name="Card 4"/>
          <p:cNvSpPr/>
          <p:nvPr/>
        </p:nvSpPr>
        <p:spPr>
          <a:xfrm>
            <a:off x="457200" y="2097024"/>
            <a:ext cx="2621280" cy="1676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Rule 5"/>
          <p:cNvSpPr/>
          <p:nvPr/>
        </p:nvSpPr>
        <p:spPr>
          <a:xfrm>
            <a:off x="621792" y="227990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548640" y="2417064"/>
            <a:ext cx="2438400" cy="1264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Build with Image Builder, then import it as an Azure Local image</a:t>
            </a:r>
          </a:p>
        </p:txBody>
      </p:sp>
      <p:sp>
        <p:nvSpPr>
          <p:cNvPr id="7" name="Card 7"/>
          <p:cNvSpPr/>
          <p:nvPr/>
        </p:nvSpPr>
        <p:spPr>
          <a:xfrm>
            <a:off x="3261360" y="2097024"/>
            <a:ext cx="2621280" cy="1676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Rule 8"/>
          <p:cNvSpPr/>
          <p:nvPr/>
        </p:nvSpPr>
        <p:spPr>
          <a:xfrm>
            <a:off x="3425952" y="227990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352800" y="2417064"/>
            <a:ext cx="2438400" cy="1264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Or download a Marketplace image straight to the cluster</a:t>
            </a:r>
          </a:p>
        </p:txBody>
      </p:sp>
      <p:sp>
        <p:nvSpPr>
          <p:cNvPr id="10" name="Card 10"/>
          <p:cNvSpPr/>
          <p:nvPr/>
        </p:nvSpPr>
        <p:spPr>
          <a:xfrm>
            <a:off x="6065520" y="2097024"/>
            <a:ext cx="2621280" cy="1676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Rule 11"/>
          <p:cNvSpPr/>
          <p:nvPr/>
        </p:nvSpPr>
        <p:spPr>
          <a:xfrm>
            <a:off x="6230112" y="227990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6156960" y="2417064"/>
            <a:ext cx="2438400" cy="1264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Then add session hosts from the host pool, as on Azure</a:t>
            </a:r>
          </a:p>
        </p:txBody>
      </p:sp>
      <p:cxnSp>
        <p:nvCxnSpPr>
          <p:cNvPr id="13" name="Line 13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4" name="Node 14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6" name="Node 16"/>
          <p:cNvSpPr/>
          <p:nvPr/>
        </p:nvSpPr>
        <p:spPr>
          <a:xfrm>
            <a:off x="532638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8" name="Node 18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100" dirty="0"/>
              <a:t>Profiles on Azure Local: they live on your cluster too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FSLogix needs an SMB share.</a:t>
            </a:r>
          </a:p>
        </p:txBody>
      </p:sp>
      <p:sp>
        <p:nvSpPr>
          <p:cNvPr id="4" name="Card 4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Rule 5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FSLogix needs an SMB share; a cluster volume (CSV) is storage, not a share</a:t>
            </a:r>
          </a:p>
        </p:txBody>
      </p:sp>
      <p:sp>
        <p:nvSpPr>
          <p:cNvPr id="7" name="Card 7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Rule 8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Microsoft recommends a file-server cluster of VMs on Azure Local; the demo runs a two-VM SOFS</a:t>
            </a:r>
          </a:p>
        </p:txBody>
      </p:sp>
      <p:sp>
        <p:nvSpPr>
          <p:cNvPr id="10" name="Card 10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Rule 11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450" b="1" dirty="0">
                <a:solidFill>
                  <a:srgbClr val="1A1B1B"/>
                </a:solidFill>
                <a:latin typeface="Roboto"/>
                <a:cs typeface="Roboto"/>
              </a:rPr>
              <a:t>Size the cluster for the profiles too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193233"/>
                </a:solidFill>
                <a:latin typeface="Roboto"/>
                <a:cs typeface="Roboto"/>
              </a:rPr>
              <a:t>20 users × 30 GB + 20 % = 720 GB usable, 6 TiB raw</a:t>
            </a:r>
          </a:p>
        </p:txBody>
      </p:sp>
      <p:sp>
        <p:nvSpPr>
          <p:cNvPr id="13" name="Card 13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Rule 14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Sizing guides</a:t>
            </a:r>
          </a:p>
          <a:p>
            <a:pPr>
              <a:spcBef>
                <a:spcPts val="600"/>
              </a:spcBef>
            </a:pPr>
            <a:r>
              <a:rPr lang="en-US" sz="1100" dirty="0">
                <a:solidFill>
                  <a:srgbClr val="193233"/>
                </a:solidFill>
                <a:latin typeface="Roboto"/>
                <a:cs typeface="Roboto"/>
              </a:rPr>
              <a:t>azurelocal.cloud/azurelocal-avd and azurelocal.cloud/azurelocal-sofs-fslogix</a:t>
            </a:r>
          </a:p>
        </p:txBody>
      </p:sp>
      <p:cxnSp>
        <p:nvCxnSpPr>
          <p:cNvPr id="16" name="Line 1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7" name="Node 1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9" name="Node 19"/>
          <p:cNvSpPr/>
          <p:nvPr/>
        </p:nvSpPr>
        <p:spPr>
          <a:xfrm>
            <a:off x="532638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21" name="Node 2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GPU desktops on Azure Local: one L4 by DDA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One GPU passed whole to one session host: what it gives you, and what it costs you.</a:t>
            </a:r>
          </a:p>
        </p:txBody>
      </p:sp>
      <p:sp>
        <p:nvSpPr>
          <p:cNvPr id="4" name="Card 4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Rule 5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DDA passes the whole GPU to one session host; no vGPU licence needed</a:t>
            </a:r>
          </a:p>
        </p:txBody>
      </p:sp>
      <p:sp>
        <p:nvSpPr>
          <p:cNvPr id="7" name="Card 7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Rule 8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Free data center driver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193233"/>
                </a:solidFill>
                <a:latin typeface="Roboto"/>
                <a:cs typeface="Roboto"/>
              </a:rPr>
              <a:t>compute and AI; desktop graphics acceleration needs NVIDIA vWS</a:t>
            </a:r>
          </a:p>
        </p:txBody>
      </p:sp>
      <p:sp>
        <p:nvSpPr>
          <p:cNvPr id="10" name="Card 10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Rule 11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500" b="1" dirty="0">
                <a:solidFill>
                  <a:srgbClr val="1A1B1B"/>
                </a:solidFill>
                <a:latin typeface="Roboto"/>
                <a:cs typeface="Roboto"/>
              </a:rPr>
              <a:t>A DDA VM cannot live-migrate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193233"/>
                </a:solidFill>
                <a:latin typeface="Roboto"/>
                <a:cs typeface="Roboto"/>
              </a:rPr>
              <a:t>give it its own host (here al03); on a drain it restarts</a:t>
            </a:r>
          </a:p>
        </p:txBody>
      </p:sp>
      <p:sp>
        <p:nvSpPr>
          <p:cNvPr id="13" name="Card 13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Rule 14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GPU partitioning shares one GPU between VMs, but needs NVIDIA vGPU licensing</a:t>
            </a:r>
          </a:p>
        </p:txBody>
      </p:sp>
      <p:cxnSp>
        <p:nvCxnSpPr>
          <p:cNvPr id="16" name="Line 1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7" name="Node 1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9" name="Node 19"/>
          <p:cNvSpPr/>
          <p:nvPr/>
        </p:nvSpPr>
        <p:spPr>
          <a:xfrm>
            <a:off x="532638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21" name="Node 2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Running AVD on your site: networks, cluster updates and the bill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What changes when the desktops run on your cluster: you own the network, the updates move the VMs, and the bill has three parts.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900" dirty="0"/>
              <a:t>Network: hosts on a logical network (here VLAN 2215) with an NSG; AVD needs outbound only, RDP Shortpath on the LAN</a:t>
            </a:r>
          </a:p>
          <a:p>
            <a:pPr>
              <a:spcBef>
                <a:spcPts val="700"/>
              </a:spcBef>
            </a:pPr>
            <a:r>
              <a:rPr lang="en-US" sz="1900" dirty="0"/>
              <a:t>Cluster updates: one node at a time, VMs live-migrate, no desktop downtime; the DDA GPU host restarts instead</a:t>
            </a:r>
          </a:p>
          <a:p>
            <a:pPr>
              <a:spcBef>
                <a:spcPts val="700"/>
              </a:spcBef>
            </a:pPr>
            <a:r>
              <a:rPr lang="en-US" sz="1900" dirty="0"/>
              <a:t>The bill: the Azure Local fee + the AVD for Azure Local fee per active vCPU + the same user access rights as Azure</a:t>
            </a:r>
          </a:p>
          <a:p>
            <a:pPr>
              <a:spcBef>
                <a:spcPts val="700"/>
              </a:spcBef>
            </a:pPr>
            <a:r>
              <a:rPr lang="en-US" sz="1900" dirty="0"/>
              <a:t>The connection: brokering stays in Azure; no Azure connection, no new sessions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2638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Demo Time: Terminal B, AVD on Azure Local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4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50" i="1" dirty="0">
                <a:solidFill>
                  <a:srgbClr val="C3FBFE"/>
                </a:solidFill>
                <a:latin typeface="Roboto"/>
                <a:cs typeface="Roboto"/>
              </a:rPr>
              <a:t>Deploy a session host live on your cluster, then the pre-deployed terminal: its VM, the sizing, the GPU.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Live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the Add session hosts wizard, then the script deploys a new Azure Local host</a:t>
            </a:r>
          </a:p>
        </p:txBody>
      </p:sp>
      <p:sp>
        <p:nvSpPr>
          <p:cNvPr id="8" name="Card 8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Pre-deployed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a session host as an Azure Local VM, its network and NSG</a:t>
            </a:r>
          </a:p>
        </p:txBody>
      </p:sp>
      <p:sp>
        <p:nvSpPr>
          <p:cNvPr id="11" name="Card 11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Sizing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the two public guides and the demo's numbers</a:t>
            </a:r>
          </a:p>
        </p:txBody>
      </p:sp>
      <p:sp>
        <p:nvSpPr>
          <p:cNvPr id="14" name="Card 14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Rule 15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GPU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one L4 by DDA, nvidia-smi and a compute job</a:t>
            </a:r>
          </a:p>
        </p:txBody>
      </p:sp>
      <p:cxnSp>
        <p:nvCxnSpPr>
          <p:cNvPr id="17" name="Line 17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8" name="Node 18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20" name="Node 20"/>
          <p:cNvSpPr/>
          <p:nvPr/>
        </p:nvSpPr>
        <p:spPr>
          <a:xfrm>
            <a:off x="532638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22" name="Node 22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4" name="Text 24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50" dirty="0"/>
              <a:t>Terminal C: AVD Hybrid in four steps, on any hypervisor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TERMINAL C  ·  SECTION 4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00" i="1" dirty="0">
                <a:solidFill>
                  <a:srgbClr val="193233"/>
                </a:solidFill>
                <a:latin typeface="Roboto"/>
                <a:cs typeface="Roboto"/>
              </a:rPr>
              <a:t>The service stays in Azure; your own VM joins it from the inside, on Hyper-V, vSphere or Nutanix AHV.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550" dirty="0"/>
              <a:t>1. Create a Windows VM with your own tools, on any hypervisor: Hyper-V, vSphere, Nutanix AHV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2. Install the Arc agent in the VM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3. Add the AVD Hybrid extension with a registration token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4. The host shows Available (allow up to 15 minutes)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AVD never powers, scales or patches this VM: you own it</a:t>
            </a:r>
          </a:p>
        </p:txBody>
      </p:sp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TERMINAL C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2" name="Node 12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4" name="Node 14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450" dirty="0"/>
              <a:t>What AVD Hybrid requires, and what you give up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What Hybrid requires of the VM, and the AVD features you do not get.</a:t>
            </a:r>
          </a:p>
        </p:txBody>
      </p:sp>
      <p:sp>
        <p:nvSpPr>
          <p:cNvPr id="4" name="Card 4"/>
          <p:cNvSpPr/>
          <p:nvPr/>
        </p:nvSpPr>
        <p:spPr>
          <a:xfrm>
            <a:off x="457200" y="1698879"/>
            <a:ext cx="1920240" cy="247269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Rule 5"/>
          <p:cNvSpPr/>
          <p:nvPr/>
        </p:nvSpPr>
        <p:spPr>
          <a:xfrm>
            <a:off x="621792" y="188175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548640" y="2018919"/>
            <a:ext cx="1737360" cy="206121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Windows 11 Enterprise single-session or Windows Server; no multi-session</a:t>
            </a:r>
          </a:p>
        </p:txBody>
      </p:sp>
      <p:sp>
        <p:nvSpPr>
          <p:cNvPr id="7" name="Card 7"/>
          <p:cNvSpPr/>
          <p:nvPr/>
        </p:nvSpPr>
        <p:spPr>
          <a:xfrm>
            <a:off x="2560320" y="1698879"/>
            <a:ext cx="1920240" cy="247269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Rule 8"/>
          <p:cNvSpPr/>
          <p:nvPr/>
        </p:nvSpPr>
        <p:spPr>
          <a:xfrm>
            <a:off x="2724912" y="188175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2651760" y="2018919"/>
            <a:ext cx="1737360" cy="206121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Join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193233"/>
                </a:solidFill>
                <a:latin typeface="Roboto"/>
                <a:cs typeface="Roboto"/>
              </a:rPr>
              <a:t>Windows 11 Entra, AD or hybrid; Windows Server AD or hybrid (here: AD)</a:t>
            </a:r>
          </a:p>
        </p:txBody>
      </p:sp>
      <p:sp>
        <p:nvSpPr>
          <p:cNvPr id="10" name="Card 10"/>
          <p:cNvSpPr/>
          <p:nvPr/>
        </p:nvSpPr>
        <p:spPr>
          <a:xfrm>
            <a:off x="4663440" y="1698879"/>
            <a:ext cx="1920240" cy="247269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Rule 11"/>
          <p:cNvSpPr/>
          <p:nvPr/>
        </p:nvSpPr>
        <p:spPr>
          <a:xfrm>
            <a:off x="4828032" y="188175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754880" y="2018919"/>
            <a:ext cx="1737360" cy="206121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The host pool's identity needs Reader on the Arc machines' resource group</a:t>
            </a:r>
          </a:p>
        </p:txBody>
      </p:sp>
      <p:sp>
        <p:nvSpPr>
          <p:cNvPr id="13" name="Card 13"/>
          <p:cNvSpPr/>
          <p:nvPr/>
        </p:nvSpPr>
        <p:spPr>
          <a:xfrm>
            <a:off x="6766560" y="1698879"/>
            <a:ext cx="1920240" cy="247269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Rule 14"/>
          <p:cNvSpPr/>
          <p:nvPr/>
        </p:nvSpPr>
        <p:spPr>
          <a:xfrm>
            <a:off x="6931152" y="188175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858000" y="2018919"/>
            <a:ext cx="1737360" cy="206121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No autoscale, power management or Start VM on Connect</a:t>
            </a:r>
          </a:p>
        </p:txBody>
      </p:sp>
      <p:cxnSp>
        <p:nvCxnSpPr>
          <p:cNvPr id="16" name="Line 1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7" name="Node 1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9" name="Node 19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21" name="Node 21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500" dirty="0"/>
              <a:t>AVD Hybrid: what Azure no longer does for you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Azure does not build, join or patch this VM: you do, with your own tools.</a:t>
            </a:r>
          </a:p>
        </p:txBody>
      </p:sp>
      <p:sp>
        <p:nvSpPr>
          <p:cNvPr id="4" name="Card 4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Rule 5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The image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193233"/>
                </a:solidFill>
                <a:latin typeface="Roboto"/>
                <a:cs typeface="Roboto"/>
              </a:rPr>
              <a:t>you build it with Packer, reusing the Image Builder scripts</a:t>
            </a:r>
          </a:p>
        </p:txBody>
      </p:sp>
      <p:sp>
        <p:nvSpPr>
          <p:cNvPr id="7" name="Card 7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Rule 8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450" b="1" dirty="0">
                <a:solidFill>
                  <a:srgbClr val="1A1B1B"/>
                </a:solidFill>
                <a:latin typeface="Roboto"/>
                <a:cs typeface="Roboto"/>
              </a:rPr>
              <a:t>Domain join and FSLogix settings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193233"/>
                </a:solidFill>
                <a:latin typeface="Roboto"/>
                <a:cs typeface="Roboto"/>
              </a:rPr>
              <a:t>baked into the image, nothing joins it at deploy time</a:t>
            </a:r>
          </a:p>
        </p:txBody>
      </p:sp>
      <p:sp>
        <p:nvSpPr>
          <p:cNvPr id="10" name="Card 10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Rule 11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Patching Windows 11</a:t>
            </a:r>
          </a:p>
          <a:p>
            <a:pPr>
              <a:spcBef>
                <a:spcPts val="600"/>
              </a:spcBef>
            </a:pPr>
            <a:r>
              <a:rPr lang="en-US" sz="1550" dirty="0">
                <a:solidFill>
                  <a:srgbClr val="193233"/>
                </a:solidFill>
                <a:latin typeface="Roboto"/>
                <a:cs typeface="Roboto"/>
              </a:rPr>
              <a:t>Intune or Windows Update for Business (Update Manager does not cover it)</a:t>
            </a:r>
          </a:p>
        </p:txBody>
      </p:sp>
      <p:sp>
        <p:nvSpPr>
          <p:cNvPr id="13" name="Card 13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Rule 14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Arc gives you monitoring and inventory; the Arc depth is next door at 14:40</a:t>
            </a:r>
          </a:p>
        </p:txBody>
      </p:sp>
      <p:cxnSp>
        <p:nvCxnSpPr>
          <p:cNvPr id="16" name="Line 1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7" name="Node 1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9" name="Node 19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21" name="Node 21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Demo Time: Terminal C, AVD Hybrid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3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Deploy a Hybrid host live with the script, then the pre-deployed Hybrid terminal.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942719"/>
            <a:ext cx="2621280" cy="198501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212559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262759"/>
            <a:ext cx="2438400" cy="157353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Live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the script deploys a new Hybrid host: VM, Arc agent, extension</a:t>
            </a:r>
          </a:p>
        </p:txBody>
      </p:sp>
      <p:sp>
        <p:nvSpPr>
          <p:cNvPr id="8" name="Card 8"/>
          <p:cNvSpPr/>
          <p:nvPr/>
        </p:nvSpPr>
        <p:spPr>
          <a:xfrm>
            <a:off x="3261360" y="1942719"/>
            <a:ext cx="2621280" cy="198501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3425952" y="212559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352800" y="2262759"/>
            <a:ext cx="2438400" cy="157353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Pre-deployed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plain Hyper-V VMs seen in Azure only as Arc machines</a:t>
            </a:r>
          </a:p>
        </p:txBody>
      </p:sp>
      <p:sp>
        <p:nvSpPr>
          <p:cNvPr id="11" name="Card 11"/>
          <p:cNvSpPr/>
          <p:nvPr/>
        </p:nvSpPr>
        <p:spPr>
          <a:xfrm>
            <a:off x="6065520" y="1942719"/>
            <a:ext cx="2621280" cy="198501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6230112" y="212559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6156960" y="2262759"/>
            <a:ext cx="2438400" cy="157353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The AVD Hybrid extension and its log; the hosts Available</a:t>
            </a:r>
          </a:p>
        </p:txBody>
      </p:sp>
      <p:cxnSp>
        <p:nvCxnSpPr>
          <p:cNvPr id="14" name="Line 1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5" name="Node 1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7" name="Node 17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9" name="Node 19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1" name="Text 21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Passport control: one user, two join states, and why AD is back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THE PASSPORT  ·  SECTION 5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One hybrid user everywhere.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400" dirty="0"/>
              <a:t>Hybrid users: created in AD, synchronized to Entra (password hash sync)</a:t>
            </a:r>
          </a:p>
          <a:p>
            <a:pPr>
              <a:spcBef>
                <a:spcPts val="700"/>
              </a:spcBef>
            </a:pPr>
            <a:r>
              <a:rPr lang="en-US" sz="1400" dirty="0"/>
              <a:t>Microsoft Entra Cloud Sync, its agent on its own member server, never on a domain controller</a:t>
            </a:r>
          </a:p>
          <a:p>
            <a:pPr>
              <a:spcBef>
                <a:spcPts val="700"/>
              </a:spcBef>
            </a:pPr>
            <a:r>
              <a:rPr lang="en-US" sz="1400" dirty="0"/>
              <a:t>Azure terminal: Entra-joined Windows 11, Entra Kerberos to Azure Files</a:t>
            </a:r>
          </a:p>
          <a:p>
            <a:pPr>
              <a:spcBef>
                <a:spcPts val="700"/>
              </a:spcBef>
            </a:pPr>
            <a:r>
              <a:rPr lang="en-US" sz="1400" dirty="0"/>
              <a:t>Azure Local and Hybrid terminals: AD-joined, AD Kerberos to the SOFS; hybrid join pending, so the AD password at the host for now</a:t>
            </a:r>
          </a:p>
          <a:p>
            <a:pPr>
              <a:spcBef>
                <a:spcPts val="700"/>
              </a:spcBef>
            </a:pPr>
            <a:r>
              <a:rPr lang="en-US" sz="1400" dirty="0"/>
              <a:t>Entra SSO on Entra-joined or hybrid-joined hosts; Conditional Access for MFA by design</a:t>
            </a:r>
          </a:p>
        </p:txBody>
      </p:sp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THE PASSPORT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2" name="Node 12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4" name="Node 1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Three identity paths: to AVD, to the host, to the profile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50" i="1" dirty="0">
                <a:solidFill>
                  <a:srgbClr val="193233"/>
                </a:solidFill>
                <a:latin typeface="Roboto"/>
                <a:cs typeface="Roboto"/>
              </a:rPr>
              <a:t>User to service, user to host, host-as-user to the profile share: Azure Files in Azure, the SOFS on site.</a:t>
            </a:r>
          </a:p>
        </p:txBody>
      </p:sp>
      <p:sp>
        <p:nvSpPr>
          <p:cNvPr id="4" name="Path 4"/>
          <p:cNvSpPr/>
          <p:nvPr/>
        </p:nvSpPr>
        <p:spPr>
          <a:xfrm>
            <a:off x="822960" y="1517904"/>
            <a:ext cx="7498080" cy="8900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Step 5"/>
          <p:cNvSpPr/>
          <p:nvPr/>
        </p:nvSpPr>
        <p:spPr>
          <a:xfrm>
            <a:off x="932688" y="1761744"/>
            <a:ext cx="402336" cy="402336"/>
          </a:xfrm>
          <a:prstGeom prst="ellipse">
            <a:avLst/>
          </a:prstGeom>
          <a:solidFill>
            <a:srgbClr val="193233"/>
          </a:solidFill>
          <a:ln w="12700">
            <a:solidFill>
              <a:srgbClr val="19323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400" b="1" dirty="0">
                <a:solidFill>
                  <a:srgbClr val="98F8FE"/>
                </a:solidFill>
                <a:latin typeface="Roboto"/>
                <a:cs typeface="Roboto"/>
              </a:rPr>
              <a:t>1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1444752" y="1517904"/>
            <a:ext cx="6784848" cy="890016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200" b="1" dirty="0">
                <a:solidFill>
                  <a:srgbClr val="1A1B1B"/>
                </a:solidFill>
                <a:latin typeface="Roboto"/>
                <a:cs typeface="Roboto"/>
              </a:rPr>
              <a:t>User to AVD</a:t>
            </a:r>
          </a:p>
          <a:p>
            <a:pPr>
              <a:spcBef>
                <a:spcPts val="200"/>
              </a:spcBef>
            </a:pPr>
            <a:r>
              <a:rPr lang="en-US" sz="1000" dirty="0">
                <a:solidFill>
                  <a:srgbClr val="193233"/>
                </a:solidFill>
                <a:latin typeface="Roboto"/>
                <a:cs typeface="Roboto"/>
              </a:rPr>
              <a:t>Entra sign-in, the feed, the broker (MFA by Conditional Access: the design)</a:t>
            </a:r>
          </a:p>
        </p:txBody>
      </p:sp>
      <p:sp>
        <p:nvSpPr>
          <p:cNvPr id="7" name="Path 7"/>
          <p:cNvSpPr/>
          <p:nvPr/>
        </p:nvSpPr>
        <p:spPr>
          <a:xfrm>
            <a:off x="822960" y="2535936"/>
            <a:ext cx="7498080" cy="8900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Step 8"/>
          <p:cNvSpPr/>
          <p:nvPr/>
        </p:nvSpPr>
        <p:spPr>
          <a:xfrm>
            <a:off x="932688" y="2779776"/>
            <a:ext cx="402336" cy="402336"/>
          </a:xfrm>
          <a:prstGeom prst="ellipse">
            <a:avLst/>
          </a:prstGeom>
          <a:solidFill>
            <a:srgbClr val="FDBA12"/>
          </a:solidFill>
          <a:ln w="12700">
            <a:solidFill>
              <a:srgbClr val="19323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400" b="1" dirty="0">
                <a:solidFill>
                  <a:srgbClr val="1A1B1B"/>
                </a:solidFill>
                <a:latin typeface="Roboto"/>
                <a:cs typeface="Roboto"/>
              </a:rPr>
              <a:t>2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1444752" y="2535936"/>
            <a:ext cx="6784848" cy="890016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200" b="1" dirty="0">
                <a:solidFill>
                  <a:srgbClr val="1A1B1B"/>
                </a:solidFill>
                <a:latin typeface="Roboto"/>
                <a:cs typeface="Roboto"/>
              </a:rPr>
              <a:t>User to the session host</a:t>
            </a:r>
          </a:p>
          <a:p>
            <a:pPr>
              <a:spcBef>
                <a:spcPts val="200"/>
              </a:spcBef>
            </a:pPr>
            <a:r>
              <a:rPr lang="en-US" sz="1000" dirty="0">
                <a:solidFill>
                  <a:srgbClr val="193233"/>
                </a:solidFill>
                <a:latin typeface="Roboto"/>
                <a:cs typeface="Roboto"/>
              </a:rPr>
              <a:t>SSO on Entra-joined hosts; the AD password on AD-joined on-site hosts</a:t>
            </a:r>
          </a:p>
        </p:txBody>
      </p:sp>
      <p:sp>
        <p:nvSpPr>
          <p:cNvPr id="10" name="Path 10"/>
          <p:cNvSpPr/>
          <p:nvPr/>
        </p:nvSpPr>
        <p:spPr>
          <a:xfrm>
            <a:off x="822960" y="3553968"/>
            <a:ext cx="7498080" cy="8900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Step 11"/>
          <p:cNvSpPr/>
          <p:nvPr/>
        </p:nvSpPr>
        <p:spPr>
          <a:xfrm>
            <a:off x="932688" y="3797808"/>
            <a:ext cx="402336" cy="4023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9323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400" b="1" dirty="0">
                <a:solidFill>
                  <a:srgbClr val="1A1B1B"/>
                </a:solidFill>
                <a:latin typeface="Roboto"/>
                <a:cs typeface="Roboto"/>
              </a:rPr>
              <a:t>3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1444752" y="3553968"/>
            <a:ext cx="6784848" cy="890016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200" b="1" dirty="0">
                <a:solidFill>
                  <a:srgbClr val="1A1B1B"/>
                </a:solidFill>
                <a:latin typeface="Roboto"/>
                <a:cs typeface="Roboto"/>
              </a:rPr>
              <a:t>Host, as the user, to the profile share</a:t>
            </a:r>
          </a:p>
          <a:p>
            <a:pPr>
              <a:spcBef>
                <a:spcPts val="200"/>
              </a:spcBef>
            </a:pPr>
            <a:r>
              <a:rPr lang="en-US" sz="1000" dirty="0">
                <a:solidFill>
                  <a:srgbClr val="193233"/>
                </a:solidFill>
                <a:latin typeface="Roboto"/>
                <a:cs typeface="Roboto"/>
              </a:rPr>
              <a:t>Azure: Entra Kerberos to Azure Files · Azure Local and Hybrid: AD Kerberos to the SOFS (hybrid user)</a:t>
            </a:r>
          </a:p>
        </p:txBody>
      </p:sp>
      <p:cxnSp>
        <p:nvCxnSpPr>
          <p:cNvPr id="13" name="Line 13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4" name="Node 14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6" name="Node 16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8" name="Node 18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Path 3 up close: the ticket opens the share, the permissions decide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Entra Kerberos to Azure Files is GA for hybrid and cloud-only users; AD Kerberos is the only key to an on-site share.</a:t>
            </a:r>
          </a:p>
        </p:txBody>
      </p:sp>
      <p:sp>
        <p:nvSpPr>
          <p:cNvPr id="4" name="Box 4"/>
          <p:cNvSpPr/>
          <p:nvPr/>
        </p:nvSpPr>
        <p:spPr>
          <a:xfrm>
            <a:off x="45720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Entra user</a:t>
            </a:r>
          </a:p>
        </p:txBody>
      </p:sp>
      <p:cxnSp>
        <p:nvCxnSpPr>
          <p:cNvPr id="5" name="Arrow 5"/>
          <p:cNvCxnSpPr/>
          <p:nvPr/>
        </p:nvCxnSpPr>
        <p:spPr>
          <a:xfrm>
            <a:off x="23271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6" name="Box 6"/>
          <p:cNvSpPr/>
          <p:nvPr/>
        </p:nvSpPr>
        <p:spPr>
          <a:xfrm>
            <a:off x="258318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Kerberos ticket (cifs)</a:t>
            </a:r>
          </a:p>
        </p:txBody>
      </p:sp>
      <p:cxnSp>
        <p:nvCxnSpPr>
          <p:cNvPr id="7" name="Arrow 7"/>
          <p:cNvCxnSpPr/>
          <p:nvPr/>
        </p:nvCxnSpPr>
        <p:spPr>
          <a:xfrm>
            <a:off x="445312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8" name="Box 8"/>
          <p:cNvSpPr/>
          <p:nvPr/>
        </p:nvSpPr>
        <p:spPr>
          <a:xfrm>
            <a:off x="470916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SMB share</a:t>
            </a:r>
          </a:p>
        </p:txBody>
      </p:sp>
      <p:cxnSp>
        <p:nvCxnSpPr>
          <p:cNvPr id="9" name="Arrow 9"/>
          <p:cNvCxnSpPr/>
          <p:nvPr/>
        </p:nvCxnSpPr>
        <p:spPr>
          <a:xfrm>
            <a:off x="657910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0" name="Box 10"/>
          <p:cNvSpPr/>
          <p:nvPr/>
        </p:nvSpPr>
        <p:spPr>
          <a:xfrm>
            <a:off x="683514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193233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ACL result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1A1B1B"/>
                </a:solidFill>
                <a:latin typeface="Roboto"/>
                <a:cs typeface="Roboto"/>
              </a:rPr>
              <a:t>Azure Files: an Entra Kerberos ticket, GA for hybrid and cloud-only users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1A1B1B"/>
                </a:solidFill>
                <a:latin typeface="Roboto"/>
                <a:cs typeface="Roboto"/>
              </a:rPr>
              <a:t>On-site share: only an AD Kerberos ticket opens it, so the user must exist in AD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1A1B1B"/>
                </a:solidFill>
                <a:latin typeface="Roboto"/>
                <a:cs typeface="Roboto"/>
              </a:rPr>
              <a:t>Design rule: exclude the storage app from MFA policies; the ticket request is silent</a:t>
            </a:r>
          </a:p>
        </p:txBody>
      </p:sp>
      <p:cxnSp>
        <p:nvCxnSpPr>
          <p:cNvPr id="12" name="Line 12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3" name="Node 13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5" name="Node 15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7" name="Node 1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Demo Time: the passport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One chain proven on a host: principal, ticket, share, ACL.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942719"/>
            <a:ext cx="2621280" cy="198501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212559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262759"/>
            <a:ext cx="2438400" cy="157353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Ticket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klist on the Azure host, Entra Kerberos for Azure Files</a:t>
            </a:r>
          </a:p>
        </p:txBody>
      </p:sp>
      <p:sp>
        <p:nvSpPr>
          <p:cNvPr id="8" name="Card 8"/>
          <p:cNvSpPr/>
          <p:nvPr/>
        </p:nvSpPr>
        <p:spPr>
          <a:xfrm>
            <a:off x="3261360" y="1942719"/>
            <a:ext cx="2621280" cy="198501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3425952" y="212559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352800" y="2262759"/>
            <a:ext cx="2438400" cy="157353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ACL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who may open the profile share</a:t>
            </a:r>
          </a:p>
        </p:txBody>
      </p:sp>
      <p:sp>
        <p:nvSpPr>
          <p:cNvPr id="11" name="Card 11"/>
          <p:cNvSpPr/>
          <p:nvPr/>
        </p:nvSpPr>
        <p:spPr>
          <a:xfrm>
            <a:off x="6065520" y="1942719"/>
            <a:ext cx="2621280" cy="198501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6230112" y="212559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6156960" y="2262759"/>
            <a:ext cx="2438400" cy="157353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Proof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a sign-in proves path one; this proves path three</a:t>
            </a:r>
          </a:p>
        </p:txBody>
      </p:sp>
      <p:cxnSp>
        <p:nvCxnSpPr>
          <p:cNvPr id="14" name="Line 1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5" name="Node 1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7" name="Node 17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9" name="Node 19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1" name="Text 21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450" dirty="0"/>
              <a:t>Where profiles can live, and who can open them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CARRY-ON LUGGAGE  ·  SECTION 6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The profile store and the session-host identity are one decision.</a:t>
            </a:r>
          </a:p>
        </p:txBody>
      </p:sp>
      <p:graphicFrame>
        <p:nvGraphicFramePr>
          <p:cNvPr id="5" name="Table 5"/>
          <p:cNvGraphicFramePr>
            <a:graphicFrameLocks noGrp="1"/>
          </p:cNvGraphicFramePr>
          <p:nvPr/>
        </p:nvGraphicFramePr>
        <p:xfrm>
          <a:off x="457200" y="1517904"/>
          <a:ext cx="5349240" cy="2686050"/>
        </p:xfrm>
        <a:graphic>
          <a:graphicData uri="http://schemas.openxmlformats.org/drawingml/2006/table">
            <a:tbl>
              <a:tblPr firstRow="1"/>
              <a:tblGrid>
                <a:gridCol w="1350294"/>
                <a:gridCol w="882884"/>
                <a:gridCol w="934819"/>
                <a:gridCol w="934819"/>
                <a:gridCol w="1246425"/>
              </a:tblGrid>
              <a:tr h="4812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Profile store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Auth on the share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Entra host, cloud-only user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Entra host, hybrid user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AD/hybrid host, hybrid user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Files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Entra Kerberos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 (GA)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69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Files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AD DS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Yes, DC in sight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3669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NetApp Files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AD DS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Yes, DC in sight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69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SOFS on Azure Local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AD DS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Yes, DC in sight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Yes, native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4812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File server VM / NAS / vSAN FS / Nutanix Files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AD DS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 (a single VM: no transparent failover)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69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Entra Domain Services + Azure Files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Entra DS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Entra DS-joined hosts only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—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</a:tbl>
          </a:graphicData>
        </a:graphic>
      </p:graphicFrame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CARRY-ON LUGGAGE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2" name="Node 12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4" name="Node 1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What goes in the profile: two containers and the settings that matter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Two containers, different size, tier and retention.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2200" dirty="0"/>
              <a:t>Profile container: the user's profile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ODFC container: the Office caches (Outlook, Teams, OneDrive, search), rebuildable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VHDLocations: where each container lives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Safety settings: FlipFlopProfileDirectoryName, PreventLoginWithFailure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redirections.xml keeps caches out of the profile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Demo Time: the carry-on luggage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The profile share, the per-user containers, and the settings that make them portable.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942719"/>
            <a:ext cx="2621280" cy="198501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212559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262759"/>
            <a:ext cx="2438400" cy="157353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Share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one Profile and one ODFC container per user</a:t>
            </a:r>
          </a:p>
        </p:txBody>
      </p:sp>
      <p:sp>
        <p:nvSpPr>
          <p:cNvPr id="8" name="Card 8"/>
          <p:cNvSpPr/>
          <p:nvPr/>
        </p:nvSpPr>
        <p:spPr>
          <a:xfrm>
            <a:off x="3261360" y="1942719"/>
            <a:ext cx="2621280" cy="198501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3425952" y="212559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352800" y="2262759"/>
            <a:ext cx="2438400" cy="157353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Settings</a:t>
            </a:r>
          </a:p>
          <a:p>
            <a:pPr>
              <a:spcBef>
                <a:spcPts val="600"/>
              </a:spcBef>
            </a:pPr>
            <a:r>
              <a:rPr lang="en-US" sz="1300" dirty="0">
                <a:solidFill>
                  <a:srgbClr val="C3FBFE"/>
                </a:solidFill>
                <a:latin typeface="Roboto"/>
                <a:cs typeface="Roboto"/>
              </a:rPr>
              <a:t>VHDLocations, folder naming, PreventLoginWithFailure</a:t>
            </a:r>
          </a:p>
        </p:txBody>
      </p:sp>
      <p:sp>
        <p:nvSpPr>
          <p:cNvPr id="11" name="Card 11"/>
          <p:cNvSpPr/>
          <p:nvPr/>
        </p:nvSpPr>
        <p:spPr>
          <a:xfrm>
            <a:off x="6065520" y="1942719"/>
            <a:ext cx="2621280" cy="198501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6230112" y="212559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6156960" y="2262759"/>
            <a:ext cx="2438400" cy="157353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Pattern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the same in all three terminals, only the share path differs</a:t>
            </a:r>
          </a:p>
        </p:txBody>
      </p:sp>
      <p:cxnSp>
        <p:nvCxnSpPr>
          <p:cNvPr id="14" name="Line 1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5" name="Node 1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7" name="Node 17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9" name="Node 19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1" name="Text 21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100" dirty="0"/>
              <a:t>Does the profile follow the user? Three ways to do it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A: one share in Azure; B: Cloud Cache in both places, the target; C: one profile per site, what the demo runs today.</a:t>
            </a:r>
          </a:p>
        </p:txBody>
      </p:sp>
      <p:sp>
        <p:nvSpPr>
          <p:cNvPr id="4" name="Card 4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Rule 5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A: one share in Azure for everyone: one profile everywhere, but on-site users wait on the WAN</a:t>
            </a:r>
          </a:p>
        </p:txBody>
      </p:sp>
      <p:sp>
        <p:nvSpPr>
          <p:cNvPr id="7" name="Card 7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Rule 8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B: Cloud Cache keeps the same profile in both places: fast on site and in Azure (the target, next slide)</a:t>
            </a:r>
          </a:p>
        </p:txBody>
      </p:sp>
      <p:sp>
        <p:nvSpPr>
          <p:cNvPr id="10" name="Card 10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Rule 11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C: one profile per site: fast, but Azure and on site are different profiles (the demo today)</a:t>
            </a:r>
          </a:p>
        </p:txBody>
      </p:sp>
      <p:sp>
        <p:nvSpPr>
          <p:cNvPr id="13" name="Card 13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Rule 14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Today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193233"/>
                </a:solidFill>
                <a:latin typeface="Roboto"/>
                <a:cs typeface="Roboto"/>
              </a:rPr>
              <a:t>Azure Local and Hybrid share one profile; Azure has its own until B</a:t>
            </a:r>
          </a:p>
        </p:txBody>
      </p:sp>
      <p:cxnSp>
        <p:nvCxnSpPr>
          <p:cNvPr id="16" name="Line 1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7" name="Node 1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9" name="Node 19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21" name="Node 2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Luggage that follows you between flights: Cloud Cache (pattern B)</a:t>
            </a:r>
          </a:p>
        </p:txBody>
      </p:sp>
      <p:pic>
        <p:nvPicPr>
          <p:cNvPr id="3" name="Chart 3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1548384" y="1097280"/>
            <a:ext cx="6047232" cy="3401568"/>
          </a:xfrm>
          <a:prstGeom prst="rect">
            <a:avLst/>
          </a:prstGeom>
        </p:spPr>
      </p:pic>
      <p:cxnSp>
        <p:nvCxnSpPr>
          <p:cNvPr id="4" name="Line 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5" name="Node 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7" name="Node 7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9" name="Node 9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One repo builds all three terminals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GROUND CREW  ·  SECTION 7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One config file and shared image scripts; only the image builder and the create-the-VM step differ per terminal.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800" dirty="0"/>
              <a:t>One config file describes all three host pools; nothing hardcoded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Image scripts shared: Image Builder for Azure and Azure Local, Packer for Hybrid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Only creating the VM differs: Azure, Azure Local, your hypervisor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One monitoring workspace sees every host, through Arc on site</a:t>
            </a:r>
          </a:p>
        </p:txBody>
      </p:sp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GROUND CREW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2" name="Node 12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4" name="Node 1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Demo Time: one repo, three terminals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The same pipeline builds all three terminals; only the create-the-VM step differs.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2064639"/>
            <a:ext cx="2621280" cy="174117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224751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384679"/>
            <a:ext cx="2438400" cy="132969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Repo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the one config file</a:t>
            </a:r>
          </a:p>
        </p:txBody>
      </p:sp>
      <p:sp>
        <p:nvSpPr>
          <p:cNvPr id="8" name="Card 8"/>
          <p:cNvSpPr/>
          <p:nvPr/>
        </p:nvSpPr>
        <p:spPr>
          <a:xfrm>
            <a:off x="3261360" y="2064639"/>
            <a:ext cx="2621280" cy="174117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3425952" y="224751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352800" y="2384679"/>
            <a:ext cx="2438400" cy="132969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Hybrid onboarding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the Arc agent, then the AVD extension</a:t>
            </a:r>
          </a:p>
        </p:txBody>
      </p:sp>
      <p:sp>
        <p:nvSpPr>
          <p:cNvPr id="11" name="Card 11"/>
          <p:cNvSpPr/>
          <p:nvPr/>
        </p:nvSpPr>
        <p:spPr>
          <a:xfrm>
            <a:off x="6065520" y="2064639"/>
            <a:ext cx="2621280" cy="174117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6230112" y="224751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6156960" y="2384679"/>
            <a:ext cx="2438400" cy="132969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What-if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before the what-now</a:t>
            </a:r>
          </a:p>
        </p:txBody>
      </p:sp>
      <p:cxnSp>
        <p:nvCxnSpPr>
          <p:cNvPr id="14" name="Line 1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5" name="Node 1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7" name="Node 17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9" name="Node 19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1" name="Text 21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Demo Time: the connecting flight, six steps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THE CONNECTING FLIGHT  ·  SECTION 8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6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One continuous live test across all three terminals: six steps, each with a claim, a clip and a recovery state behind it.</a:t>
            </a:r>
          </a:p>
        </p:txBody>
      </p:sp>
      <p:graphicFrame>
        <p:nvGraphicFramePr>
          <p:cNvPr id="6" name="Table 6"/>
          <p:cNvGraphicFramePr>
            <a:graphicFrameLocks noGrp="1"/>
          </p:cNvGraphicFramePr>
          <p:nvPr/>
        </p:nvGraphicFramePr>
        <p:xfrm>
          <a:off x="457200" y="1517904"/>
          <a:ext cx="5349240" cy="2810256"/>
        </p:xfrm>
        <a:graphic>
          <a:graphicData uri="http://schemas.openxmlformats.org/drawingml/2006/table">
            <a:tbl>
              <a:tblPr firstRow="1"/>
              <a:tblGrid>
                <a:gridCol w="618920"/>
                <a:gridCol w="1591509"/>
                <a:gridCol w="1635718"/>
                <a:gridCol w="1503092"/>
              </a:tblGrid>
              <a:tr h="262128"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Step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Action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Observable proof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Pass condition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1 State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Show the three pools and the user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Three desktops, hosts Available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Entitlement is not routing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2 Entitle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Change the user's group, refresh the feed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Different desktops appear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Feed matches the group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</a:tr>
              <a:tr h="627888"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3 Portable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Sign in on each terminal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Known file on Azure Local and Hybrid (same SOFS container); Azure has its own until pattern B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Same SID, container attached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4 Fail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Hard power-off a Hybrid host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Host Unavailable; new session on host 2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Saved work present, unsaved lost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5 Watch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Query the one workspace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All three terminals in one view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Persistence is not recovery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6 Explain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Investigate the host alert (agent, preview)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Findings, ruled-out causes, next steps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It reasons from Azure-side signals only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</a:tr>
            </a:tbl>
          </a:graphicData>
        </a:graphic>
      </p:graphicFrame>
      <p:sp>
        <p:nvSpPr>
          <p:cNvPr id="7" name="Opener frame 7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8" name="Leg chart 8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9" name="Text 9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98F8FE"/>
                </a:solidFill>
                <a:latin typeface="Roboto"/>
                <a:cs typeface="Roboto"/>
              </a:rPr>
              <a:t>YOU ARE HERE  ·  THE CONNECTING FLIGHT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1" name="Node 11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3" name="Node 13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5" name="Node 15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50" dirty="0"/>
              <a:t>Choose your terminal: five decision axes, one rule each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CHOOSE YOUR TERMINAL  ·  SECTION 9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50" i="1" dirty="0">
                <a:solidFill>
                  <a:srgbClr val="193233"/>
                </a:solidFill>
                <a:latin typeface="Roboto"/>
                <a:cs typeface="Roboto"/>
              </a:rPr>
              <a:t>Locality, lifecycle owner, identity and OS, operations, support: and a one-line rule per terminal.</a:t>
            </a:r>
          </a:p>
        </p:txBody>
      </p:sp>
      <p:graphicFrame>
        <p:nvGraphicFramePr>
          <p:cNvPr id="5" name="Table 5"/>
          <p:cNvGraphicFramePr>
            <a:graphicFrameLocks noGrp="1"/>
          </p:cNvGraphicFramePr>
          <p:nvPr/>
        </p:nvGraphicFramePr>
        <p:xfrm>
          <a:off x="457200" y="1517904"/>
          <a:ext cx="5349240" cy="2536698"/>
        </p:xfrm>
        <a:graphic>
          <a:graphicData uri="http://schemas.openxmlformats.org/drawingml/2006/table">
            <a:tbl>
              <a:tblPr firstRow="1"/>
              <a:tblGrid>
                <a:gridCol w="884172"/>
                <a:gridCol w="1503092"/>
                <a:gridCol w="1503092"/>
                <a:gridCol w="1458884"/>
              </a:tblGrid>
              <a:tr h="271653">
                <a:tc>
                  <a:txBody>
                    <a:bodyPr/>
                    <a:lstStyle/>
                    <a:p>
                      <a:pPr algn="l"/>
                      <a:r>
                        <a:rPr lang="en-US" sz="8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Axis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AVD on Azure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AVD on Azure Local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AVD Hybrid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271653">
                <a:tc>
                  <a:txBody>
                    <a:bodyPr/>
                    <a:lstStyle/>
                    <a:p>
                      <a:pPr algn="l"/>
                      <a:r>
                        <a:rPr lang="en-US" sz="8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Locality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Your cluster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Your hypervisor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1193">
                <a:tc>
                  <a:txBody>
                    <a:bodyPr/>
                    <a:lstStyle/>
                    <a:p>
                      <a:pPr algn="l"/>
                      <a:r>
                        <a:rPr lang="en-US" sz="8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Lifecycle owner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through Arc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You, with hypervisor tools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789813">
                <a:tc>
                  <a:txBody>
                    <a:bodyPr/>
                    <a:lstStyle/>
                    <a:p>
                      <a:pPr algn="l"/>
                      <a:r>
                        <a:rPr lang="en-US" sz="8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Identity and OS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Entra, AD or hybrid; Win11 single or multi-session, Windows Server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Win11 multi-session; AD DS join (+ hybrid join for SSO)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Win11/10 Enterprise single-session; Entra, AD or hybrid join (Server: AD); no multi-session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1193">
                <a:tc>
                  <a:txBody>
                    <a:bodyPr/>
                    <a:lstStyle/>
                    <a:p>
                      <a:pPr algn="l"/>
                      <a:r>
                        <a:rPr lang="en-US" sz="8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Operations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Autoscale, Start VM on Connect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Start VM on Connect; autoscale not documented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None: you scale and power-manage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401193">
                <a:tc>
                  <a:txBody>
                    <a:bodyPr/>
                    <a:lstStyle/>
                    <a:p>
                      <a:pPr algn="l"/>
                      <a:r>
                        <a:rPr lang="en-US" sz="8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Support and licensing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compute plus user licence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Cluster, AVD on Azure Local fee, user licence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Your infrastructure plus user licence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CHOOSE YOUR TERMINAL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2" name="Node 12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4" name="Node 1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100" dirty="0"/>
              <a:t>Support status by terminal: GA, preview and to-verify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250" i="1" dirty="0">
                <a:solidFill>
                  <a:srgbClr val="193233"/>
                </a:solidFill>
                <a:latin typeface="Roboto"/>
                <a:cs typeface="Roboto"/>
              </a:rPr>
              <a:t>What each terminal supports today, and what to verify in your own tenant before you choose.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457200" y="1517904"/>
          <a:ext cx="8229600" cy="2519172"/>
        </p:xfrm>
        <a:graphic>
          <a:graphicData uri="http://schemas.openxmlformats.org/drawingml/2006/table">
            <a:tbl>
              <a:tblPr firstRow="1"/>
              <a:tblGrid>
                <a:gridCol w="1020198"/>
                <a:gridCol w="1564304"/>
                <a:gridCol w="1428278"/>
                <a:gridCol w="1632317"/>
                <a:gridCol w="1496291"/>
                <a:gridCol w="1088212"/>
              </a:tblGrid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Terminal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Host OS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Join and SSO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Profile auth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Power features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62979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Windows 11 multi-session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Entra join, SSO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Entra Kerberos to Azure Files: hybrid and cloud-only GA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Autoscale, Start VM on Connect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GA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981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Local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Windows 11 multi-session (GA)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AD DS join; hybrid join (for SSO) pending in the lab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AD Kerberos to an SMB service (here the SOFS), not a CSV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Start VM on Connect; autoscale not documented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GA with items to verify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78981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AVD Hybrid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Windows 11 Enterprise single-session, or Windows Server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Arc-enabled; Entra, AD or hybrid join (Server: AD); lab: AD join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AD Kerberos to on-site SMB (here the SOFS), or Azure Files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None: no autoscale, power management or Start VM on Connect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Verify product status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150" dirty="0"/>
              <a:t>Who owns what: monitoring, patching, power, recovery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Monitoring is common; patching, power and recovery are not.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457200" y="1517904"/>
          <a:ext cx="8229600" cy="2498598"/>
        </p:xfrm>
        <a:graphic>
          <a:graphicData uri="http://schemas.openxmlformats.org/drawingml/2006/table">
            <a:tbl>
              <a:tblPr firstRow="1"/>
              <a:tblGrid>
                <a:gridCol w="1496291"/>
                <a:gridCol w="2244436"/>
                <a:gridCol w="2244436"/>
                <a:gridCol w="2244436"/>
              </a:tblGrid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Task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Azure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Azure Local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AVD Hybrid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Guest patching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Image replacement; Intune or WUfB for Windows 11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Same; Update Manager covers servers, not Windows 11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Same; Intune or WUfB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Host or hypervisor patching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Microsoft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Lifecycle Manager: you schedule, Azure orchestrates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You, with your hypervisor tooling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Power and scaling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Scaling plan, Start VM on Connect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Start VM on Connect; autoscale not documented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You: none from AVD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Monitoring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Insights and Log Analytics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Same workspace, via Arc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Same workspace, via Arc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Failed VM recovery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Redeploy from the image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Cluster and operator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The hypervisor, not AVD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550" dirty="0"/>
              <a:t>The trip in one slide: decide, validate, run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WHAT YOU TAKE HOME  ·  SECTION 10</a:t>
            </a:r>
          </a:p>
        </p:txBody>
      </p:sp>
      <p:pic>
        <p:nvPicPr>
          <p:cNvPr id="4" name="Chart 4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1548384" y="1097280"/>
            <a:ext cx="6047232" cy="3401568"/>
          </a:xfrm>
          <a:prstGeom prst="rect">
            <a:avLst/>
          </a:prstGeom>
        </p:spPr>
      </p:pic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450" dirty="0"/>
              <a:t>Tomorrow: Azure Local, from discovery to Day 2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The cluster under all this, how it was planned, deployed and operated.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2200" dirty="0"/>
              <a:t>We just saw AVD land on an Azure Local cluster. Tomorrow: how that cluster was planned for these desktops, built and run.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Thu 15 Oct, 09:50, Room 5: plan and discover; deploy and Day-2 ready; operate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Same cluster, same repo, live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Next door at 14:40, and you may also like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The first card is a hand-off, not a recommendation.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800" dirty="0"/>
              <a:t>Hand-off: Breaking the Platform Barrier: AVD Hybrid on Any Hypervisor (Gregor Reimling &amp; Marcel Meurer, L300, Wed 2:40 pm, Room 5): Arc design, Arc and AVD agents, day-2 with Update Manager, Policy, Defender, licensing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Combining identity and network controls in Azure (Kristoffer Hatland, L400, Thu 1:00 pm, Room 3)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10 security settings you must configure in Windows 11 (Nicklas Ahlberg, L300, Thu 11:10 am, Room 5)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Times are Oslo time. Rooms can change: check the NIC agenda.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43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PT-mal_NIC">
  <a:themeElements>
    <a:clrScheme name="Violet II">
      <a:dk1>
        <a:sysClr val="windowText" lastClr="000000"/>
      </a:dk1>
      <a:lt1>
        <a:sysClr val="window" lastClr="FFFFFF"/>
      </a:lt1>
      <a:dk2>
        <a:srgbClr val="632E62"/>
      </a:dk2>
      <a:lt2>
        <a:srgbClr val="EAE5EB"/>
      </a:lt2>
      <a:accent1>
        <a:srgbClr val="92278F"/>
      </a:accent1>
      <a:accent2>
        <a:srgbClr val="9B57D3"/>
      </a:accent2>
      <a:accent3>
        <a:srgbClr val="755DD9"/>
      </a:accent3>
      <a:accent4>
        <a:srgbClr val="665EB8"/>
      </a:accent4>
      <a:accent5>
        <a:srgbClr val="45A5ED"/>
      </a:accent5>
      <a:accent6>
        <a:srgbClr val="5982DB"/>
      </a:accent6>
      <a:hlink>
        <a:srgbClr val="0066FF"/>
      </a:hlink>
      <a:folHlink>
        <a:srgbClr val="666699"/>
      </a:folHlink>
    </a:clrScheme>
    <a:fontScheme name="Custom 1">
      <a:majorFont>
        <a:latin typeface="Figtree"/>
        <a:ea typeface=""/>
        <a:cs typeface=""/>
      </a:majorFont>
      <a:minorFont>
        <a:latin typeface="Figtre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550606D0306B414485AB0ED919BE5093" ma:contentTypeVersion="9" ma:contentTypeDescription="Opprett et nytt dokument." ma:contentTypeScope="" ma:versionID="86e9e4850e235c65c8f7baa53c7b85b0">
  <xsd:schema xmlns:xsd="http://www.w3.org/2001/XMLSchema" xmlns:xs="http://www.w3.org/2001/XMLSchema" xmlns:p="http://schemas.microsoft.com/office/2006/metadata/properties" xmlns:ns2="aecd07d0-0a4a-468d-8d2c-4a3699fc1520" targetNamespace="http://schemas.microsoft.com/office/2006/metadata/properties" ma:root="true" ma:fieldsID="4fc96f60fa9e8a66d91aa9b5ee3560b2" ns2:_="">
    <xsd:import namespace="aecd07d0-0a4a-468d-8d2c-4a3699fc152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ecd07d0-0a4a-468d-8d2c-4a3699fc152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Bildemerkelapper" ma:readOnly="false" ma:fieldId="{5cf76f15-5ced-4ddc-b409-7134ff3c332f}" ma:taxonomyMulti="true" ma:sspId="a82fb023-be25-41c8-82b3-54dea1880b3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nholdstype"/>
        <xsd:element ref="dc:title" minOccurs="0" maxOccurs="1" ma:index="4" ma:displayName="Tit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aecd07d0-0a4a-468d-8d2c-4a3699fc1520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A95E7B90-D9B1-4401-9CFA-9F79C1459A12}"/>
</file>

<file path=customXml/itemProps2.xml><?xml version="1.0" encoding="utf-8"?>
<ds:datastoreItem xmlns:ds="http://schemas.openxmlformats.org/officeDocument/2006/customXml" ds:itemID="{0404F62A-926D-496C-8752-68B7680A57D6}"/>
</file>

<file path=customXml/itemProps3.xml><?xml version="1.0" encoding="utf-8"?>
<ds:datastoreItem xmlns:ds="http://schemas.openxmlformats.org/officeDocument/2006/customXml" ds:itemID="{C598BBD6-4872-427A-8421-76B5D6EEA5AB}"/>
</file>

<file path=docProps/app.xml><?xml version="1.0" encoding="utf-8"?>
<Properties xmlns="http://schemas.openxmlformats.org/officeDocument/2006/extended-properties" xmlns:vt="http://schemas.openxmlformats.org/officeDocument/2006/docPropsVTypes">
  <Template>PPT-mal_NIC.potx</Template>
  <Application>Microsoft Office PowerPoint</Application>
  <PresentationFormat>On-screen Show (16:9)</PresentationFormat>
  <Slides>43</Slides>
  <Notes>0</Notes>
  <HiddenSlides>0</HiddenSlides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AVD Anywhere</dc:title>
  <dc:subject>Azure Virtual Desktop on Azure, Azure Local, and AVD Hybrid Platforms</dc:subject>
  <dc:creator>Kristopher Turner</dc:creator>
  <cp:lastModifiedBy>Kristopher Turner</cp:lastModifiedBy>
  <cp:revision>1</cp:revision>
  <dcterms:created xsi:type="dcterms:W3CDTF">2026-10-14T04:29:33Z</dcterms:created>
  <dcterms:modified xsi:type="dcterms:W3CDTF">2026-10-14T04:29:33Z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0x010100550606D0306B414485AB0ED919BE5093</vt:lpwstr>
  </property>
</Properties>
</file>