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1001"/>
    <p:sldId id="257" r:id="rId1002"/>
    <p:sldId id="258" r:id="rId1003"/>
    <p:sldId id="259" r:id="rId1004"/>
    <p:sldId id="260" r:id="rId1005"/>
    <p:sldId id="261" r:id="rId1006"/>
    <p:sldId id="262" r:id="rId1007"/>
    <p:sldId id="263" r:id="rId1008"/>
    <p:sldId id="264" r:id="rId1009"/>
    <p:sldId id="265" r:id="rId1010"/>
    <p:sldId id="266" r:id="rId1011"/>
    <p:sldId id="267" r:id="rId1012"/>
    <p:sldId id="268" r:id="rId1013"/>
    <p:sldId id="269" r:id="rId1014"/>
    <p:sldId id="270" r:id="rId1015"/>
    <p:sldId id="271" r:id="rId1016"/>
    <p:sldId id="272" r:id="rId1017"/>
    <p:sldId id="273" r:id="rId1018"/>
    <p:sldId id="274" r:id="rId1019"/>
    <p:sldId id="275" r:id="rId1020"/>
    <p:sldId id="276" r:id="rId1021"/>
    <p:sldId id="277" r:id="rId1022"/>
    <p:sldId id="278" r:id="rId1023"/>
    <p:sldId id="279" r:id="rId1024"/>
    <p:sldId id="280" r:id="rId1025"/>
    <p:sldId id="281" r:id="rId1026"/>
    <p:sldId id="282" r:id="rId1027"/>
    <p:sldId id="283" r:id="rId1028"/>
    <p:sldId id="284" r:id="rId1029"/>
    <p:sldId id="285" r:id="rId1030"/>
    <p:sldId id="286" r:id="rId1031"/>
    <p:sldId id="287" r:id="rId1032"/>
    <p:sldId id="288" r:id="rId1033"/>
    <p:sldId id="289" r:id="rId1034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B1B"/>
    <a:srgbClr val="193233"/>
    <a:srgbClr val="98F8FE"/>
    <a:srgbClr val="B0FFFF"/>
    <a:srgbClr val="0A1523"/>
    <a:srgbClr val="ED2A24"/>
    <a:srgbClr val="D9FFFF"/>
    <a:srgbClr val="630991"/>
    <a:srgbClr val="0D000D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18" autoAdjust="0"/>
  </p:normalViewPr>
  <p:slideViewPr>
    <p:cSldViewPr snapToObjects="1">
      <p:cViewPr varScale="1">
        <p:scale>
          <a:sx n="130" d="100"/>
          <a:sy n="130" d="100"/>
        </p:scale>
        <p:origin x="150" y="10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21" Type="http://schemas.openxmlformats.org/officeDocument/2006/relationships/font" Target="fonts/font7.fntdata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9" Type="http://schemas.openxmlformats.org/officeDocument/2006/relationships/font" Target="fonts/font5.fntdata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customXml" Target="../customXml/item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1032" Type="http://schemas.openxmlformats.org/officeDocument/2006/relationships/slide" Target="slides/slide32.xml"/><Relationship Id="rId1033" Type="http://schemas.openxmlformats.org/officeDocument/2006/relationships/slide" Target="slides/slide33.xml"/><Relationship Id="rId1034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E9E7-0A46-C642-B1CD-9F43F63A761F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0FFE6-5FBB-9B41-A19C-338E023F0B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770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37FED-970C-2049-96AE-96BD1BA5E2DA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Click to edit Master text styles</a:t>
            </a:r>
          </a:p>
          <a:p>
            <a:pPr lvl="1"/>
            <a:r>
              <a:rPr lang="nb-NO"/>
              <a:t>Second level</a:t>
            </a:r>
          </a:p>
          <a:p>
            <a:pPr lvl="2"/>
            <a:r>
              <a:rPr lang="nb-NO"/>
              <a:t>Third level</a:t>
            </a:r>
          </a:p>
          <a:p>
            <a:pPr lvl="3"/>
            <a:r>
              <a:rPr lang="nb-NO"/>
              <a:t>Fourth level</a:t>
            </a:r>
          </a:p>
          <a:p>
            <a:pPr lvl="4"/>
            <a:r>
              <a:rPr lang="nb-N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8085-8ED8-F544-9D86-69C4C46BE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0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78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F95C4E-1091-4AFC-A458-56779C01DE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CD8EA4B-13CD-40B4-BDDD-B2F23644D4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2931791"/>
            <a:ext cx="8064896" cy="432048"/>
          </a:xfrm>
        </p:spPr>
        <p:txBody>
          <a:bodyPr/>
          <a:lstStyle>
            <a:lvl1pPr marL="0" indent="0" algn="ctr">
              <a:buClr>
                <a:srgbClr val="FDBA12"/>
              </a:buClr>
              <a:buFontTx/>
              <a:buNone/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2pPr>
            <a:lvl3pPr marL="9144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3pPr>
            <a:lvl4pPr marL="13716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4pPr>
            <a:lvl5pPr marL="18288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1114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4308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1918F4-FC6F-654D-B51C-4278977557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444444"/>
              </a:buClr>
              <a:defRPr>
                <a:solidFill>
                  <a:srgbClr val="63099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8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inser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1pPr>
            <a:lvl2pPr marL="7429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2pPr>
            <a:lvl3pPr marL="12001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3pPr>
            <a:lvl4pPr marL="16573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4pPr>
            <a:lvl5pPr marL="21145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87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042792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619DA90-5716-16E7-D0C6-E0AD562F6B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FFF9A9"/>
              </a:buCl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0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inser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1pPr>
            <a:lvl2pPr marL="7429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2pPr>
            <a:lvl3pPr marL="12001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3pPr>
            <a:lvl4pPr marL="16573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4pPr>
            <a:lvl5pPr marL="21145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5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61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55526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69927"/>
            <a:ext cx="8229600" cy="2822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3" r:id="rId3"/>
    <p:sldLayoutId id="2147483692" r:id="rId4"/>
    <p:sldLayoutId id="2147483696" r:id="rId5"/>
    <p:sldLayoutId id="2147483694" r:id="rId6"/>
    <p:sldLayoutId id="2147483691" r:id="rId7"/>
    <p:sldLayoutId id="2147483655" r:id="rId8"/>
    <p:sldLayoutId id="2147483695" r:id="rId9"/>
    <p:sldLayoutId id="2147483697" r:id="rId10"/>
    <p:sldLayoutId id="2147483698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rgbClr val="1A1B1B"/>
          </a:solidFill>
          <a:latin typeface="Roboto" panose="02000000000000000000" pitchFamily="2" charset="0"/>
          <a:ea typeface="+mj-ea"/>
          <a:cs typeface="Roboto" panose="02000000000000000000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2000" b="0" i="0" strike="noStrike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2pPr>
      <a:lvl3pPr marL="12573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100" Type="http://schemas.openxmlformats.org/officeDocument/2006/relationships/image" Target="../media/gen-s2-1.png"/><Relationship Id="rId101" Type="http://schemas.openxmlformats.org/officeDocument/2006/relationships/image" Target="../media/gen-s2-2.png"/><Relationship Id="rId102" Type="http://schemas.openxmlformats.org/officeDocument/2006/relationships/image" Target="../media/gen-s2-3.png"/><Relationship Id="rId103" Type="http://schemas.openxmlformats.org/officeDocument/2006/relationships/image" Target="../media/gen-s2-4.png"/><Relationship Id="rId104" Type="http://schemas.openxmlformats.org/officeDocument/2006/relationships/image" Target="../media/gen-s2-5.png"/><Relationship Id="rId105" Type="http://schemas.openxmlformats.org/officeDocument/2006/relationships/image" Target="../media/gen-s2-6.png"/><Relationship Id="rId106" Type="http://schemas.openxmlformats.org/officeDocument/2006/relationships/image" Target="../media/gen-s2-7.png"/><Relationship Id="rId107" Type="http://schemas.openxmlformats.org/officeDocument/2006/relationships/image" Target="../media/gen-s2-8.png"/><Relationship Id="rId108" Type="http://schemas.openxmlformats.org/officeDocument/2006/relationships/image" Target="../media/gen-s2-9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4-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6-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7-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9-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13-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17-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20-1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24-1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28-1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30-1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31-1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32-1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640080" y="1325880"/>
            <a:ext cx="7863840" cy="1280160"/>
          </a:xfrm>
        </p:spPr>
        <p:txBody>
          <a:bodyPr anchor="ctr">
            <a:normAutofit/>
          </a:bodyPr>
          <a:lstStyle/>
          <a:p>
            <a:pPr/>
            <a:r>
              <a:rPr lang="en-US" sz="2600" dirty="0"/>
              <a:t>AVD Anywhere: Azure Virtual Desktop on Azure, Azure Local, and AVD Hybrid Platforms</a:t>
            </a:r>
          </a:p>
        </p:txBody>
      </p:sp>
      <p:sp>
        <p:nvSpPr>
          <p:cNvPr id="3" name="Speaker 3"/>
          <p:cNvSpPr>
            <a:spLocks noGrp="1"/>
          </p:cNvSpPr>
          <p:nvPr>
            <p:ph type="body" sz="quarter" idx="10"/>
          </p:nvPr>
        </p:nvSpPr>
        <p:spPr>
          <a:xfrm>
            <a:off x="640080" y="2743200"/>
            <a:ext cx="7863840" cy="457200"/>
          </a:xfrm>
        </p:spPr>
        <p:txBody>
          <a:bodyPr>
            <a:normAutofit/>
          </a:bodyPr>
          <a:lstStyle/>
          <a:p>
            <a:pPr algn="ctr"/>
            <a:r>
              <a:rPr lang="en-US" sz="1600" dirty="0"/>
              <a:t>Kristopher Turner · NIC 2026 · Wed 14 Oct, 13:20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2"/>
          <p:cNvSpPr/>
          <p:nvPr/>
        </p:nvSpPr>
        <p:spPr>
          <a:xfrm>
            <a:off x="502920" y="411480"/>
            <a:ext cx="2286000" cy="2286000"/>
          </a:xfrm>
          <a:prstGeom prst="ellipse">
            <a:avLst/>
          </a:prstGeom>
          <a:noFill/>
          <a:ln w="50800">
            <a:solidFill>
              <a:srgbClr val="1A1B1B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Headshot 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4360" y="502920"/>
            <a:ext cx="2103120" cy="2103120"/>
          </a:xfrm>
          <a:prstGeom prst="ellipse">
            <a:avLst/>
          </a:prstGeom>
        </p:spPr>
      </p:pic>
      <p:sp>
        <p:nvSpPr>
          <p:cNvPr id="4" name="Title 4"/>
          <p:cNvSpPr>
            <a:spLocks noGrp="1"/>
          </p:cNvSpPr>
          <p:nvPr>
            <p:ph type="ctrTitle"/>
          </p:nvPr>
        </p:nvSpPr>
        <p:spPr>
          <a:xfrm>
            <a:off x="457200" y="2788920"/>
            <a:ext cx="3383280" cy="548640"/>
          </a:xfrm>
        </p:spPr>
        <p:txBody>
          <a:bodyPr anchor="ctr">
            <a:normAutofit/>
          </a:bodyPr>
          <a:lstStyle/>
          <a:p>
            <a:pPr algn="l"/>
            <a:r>
              <a:rPr lang="en-US" sz="2600" dirty="0"/>
              <a:t>Kristopher Turner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3364992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>
            <a:noAutofit/>
          </a:bodyPr>
          <a:lstStyle/>
          <a:p>
            <a:pPr/>
            <a:r>
              <a:rPr lang="en-US" sz="1300" i="1" dirty="0">
                <a:solidFill>
                  <a:srgbClr val="1A1B1B"/>
                </a:solidFill>
                <a:latin typeface="Roboto"/>
                <a:cs typeface="Roboto"/>
              </a:rPr>
              <a:t>Product Technology Architect</a:t>
            </a:r>
          </a:p>
          <a:p>
            <a:pPr>
              <a:spcBef>
                <a:spcPts val="200"/>
              </a:spcBef>
            </a:pPr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TierPoint</a:t>
            </a:r>
          </a:p>
          <a:p>
            <a:pPr>
              <a:spcBef>
                <a:spcPts val="200"/>
              </a:spcBef>
            </a:pPr>
            <a:r>
              <a:rPr lang="en-US" sz="1100" dirty="0">
                <a:solidFill>
                  <a:srgbClr val="193233"/>
                </a:solidFill>
                <a:latin typeface="Roboto"/>
                <a:cs typeface="Roboto"/>
              </a:rPr>
              <a:t>kris@hybridsolutions.cloud</a:t>
            </a:r>
          </a:p>
        </p:txBody>
      </p:sp>
      <p:sp>
        <p:nvSpPr>
          <p:cNvPr id="6" name="Credentials 6"/>
          <p:cNvSpPr/>
          <p:nvPr/>
        </p:nvSpPr>
        <p:spPr>
          <a:xfrm>
            <a:off x="3931920" y="365760"/>
            <a:ext cx="4754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MVP 7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60520" y="502920"/>
            <a:ext cx="566928" cy="822960"/>
          </a:xfrm>
          <a:prstGeom prst="rect">
            <a:avLst/>
          </a:prstGeom>
        </p:spPr>
      </p:pic>
      <p:pic>
        <p:nvPicPr>
          <p:cNvPr id="8" name="MCT 8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4892040" y="521208"/>
            <a:ext cx="822960" cy="795528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852160" y="5486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/>
            <a:r>
              <a:rPr lang="en-US" sz="1200" b="1" dirty="0">
                <a:solidFill>
                  <a:srgbClr val="1A1B1B"/>
                </a:solidFill>
                <a:latin typeface="Roboto"/>
                <a:cs typeface="Roboto"/>
              </a:rPr>
              <a:t>Microsoft MVP</a:t>
            </a:r>
          </a:p>
          <a:p>
            <a:pPr>
              <a:spcBef>
                <a:spcPts val="200"/>
              </a:spcBef>
            </a:pPr>
            <a:r>
              <a:rPr lang="en-US" sz="1100" dirty="0">
                <a:solidFill>
                  <a:srgbClr val="193233"/>
                </a:solidFill>
                <a:latin typeface="Roboto"/>
                <a:cs typeface="Roboto"/>
              </a:rPr>
              <a:t>Microsoft Certified Trainer</a:t>
            </a:r>
          </a:p>
        </p:txBody>
      </p:sp>
      <p:pic>
        <p:nvPicPr>
          <p:cNvPr id="10" name="Badge 10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14800" y="1463040"/>
            <a:ext cx="640080" cy="640080"/>
          </a:xfrm>
          <a:prstGeom prst="rect">
            <a:avLst/>
          </a:prstGeom>
        </p:spPr>
      </p:pic>
      <p:pic>
        <p:nvPicPr>
          <p:cNvPr id="11" name="Badge 11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864608" y="1463040"/>
            <a:ext cx="640080" cy="640080"/>
          </a:xfrm>
          <a:prstGeom prst="rect">
            <a:avLst/>
          </a:prstGeom>
        </p:spPr>
      </p:pic>
      <p:pic>
        <p:nvPicPr>
          <p:cNvPr id="12" name="Badge 12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5614416" y="1463040"/>
            <a:ext cx="640080" cy="640080"/>
          </a:xfrm>
          <a:prstGeom prst="rect">
            <a:avLst/>
          </a:prstGeom>
        </p:spPr>
      </p:pic>
      <p:pic>
        <p:nvPicPr>
          <p:cNvPr id="13" name="Badge 13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6364224" y="1463040"/>
            <a:ext cx="640080" cy="640080"/>
          </a:xfrm>
          <a:prstGeom prst="rect">
            <a:avLst/>
          </a:prstGeom>
        </p:spPr>
      </p:pic>
      <p:pic>
        <p:nvPicPr>
          <p:cNvPr id="14" name="Badge 14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7114032" y="1463040"/>
            <a:ext cx="640080" cy="640080"/>
          </a:xfrm>
          <a:prstGeom prst="rect">
            <a:avLst/>
          </a:prstGeom>
        </p:spPr>
      </p:pic>
      <p:pic>
        <p:nvPicPr>
          <p:cNvPr id="15" name="Badge 15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7863840" y="1463040"/>
            <a:ext cx="640080" cy="64008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4114800" y="2103120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50" dirty="0">
                <a:solidFill>
                  <a:srgbClr val="2E4546"/>
                </a:solidFill>
                <a:latin typeface="Roboto"/>
                <a:cs typeface="Roboto"/>
              </a:rPr>
              <a:t>Solutions Architect Expert · Security Engineer · Administrator · Hybrid Administrator · AVD Specialty · Stack Hub Operator</a:t>
            </a:r>
          </a:p>
        </p:txBody>
      </p:sp>
      <p:sp>
        <p:nvSpPr>
          <p:cNvPr id="17" name="Icon 17"/>
          <p:cNvSpPr/>
          <p:nvPr/>
        </p:nvSpPr>
        <p:spPr>
          <a:xfrm>
            <a:off x="3931920" y="2560320"/>
            <a:ext cx="347472" cy="347472"/>
          </a:xfrm>
          <a:prstGeom prst="roundRect">
            <a:avLst>
              <a:gd name="adj" fmla="val 14000"/>
            </a:avLst>
          </a:prstGeom>
          <a:solidFill>
            <a:srgbClr val="1A1B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98F8FE"/>
                </a:solidFill>
                <a:latin typeface="Roboto"/>
                <a:cs typeface="Roboto"/>
              </a:rPr>
              <a:t>X</a:t>
            </a:r>
          </a:p>
        </p:txBody>
      </p:sp>
      <p:sp>
        <p:nvSpPr>
          <p:cNvPr id="18" name="Handle 18"/>
          <p:cNvSpPr/>
          <p:nvPr/>
        </p:nvSpPr>
        <p:spPr>
          <a:xfrm>
            <a:off x="4352544" y="2560320"/>
            <a:ext cx="192024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109728" tIns="0" rIns="73152" bIns="0" rtlCol="0" anchor="ctr">
            <a:noAutofit/>
          </a:bodyPr>
          <a:lstStyle/>
          <a:p>
            <a:pPr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@CountryCloudBoy</a:t>
            </a:r>
          </a:p>
        </p:txBody>
      </p:sp>
      <p:sp>
        <p:nvSpPr>
          <p:cNvPr id="19" name="Icon 19"/>
          <p:cNvSpPr/>
          <p:nvPr/>
        </p:nvSpPr>
        <p:spPr>
          <a:xfrm>
            <a:off x="3931920" y="3017520"/>
            <a:ext cx="347472" cy="347472"/>
          </a:xfrm>
          <a:prstGeom prst="roundRect">
            <a:avLst>
              <a:gd name="adj" fmla="val 14000"/>
            </a:avLst>
          </a:prstGeom>
          <a:solidFill>
            <a:srgbClr val="1A1B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98F8FE"/>
                </a:solidFill>
                <a:latin typeface="Roboto"/>
                <a:cs typeface="Roboto"/>
              </a:rPr>
              <a:t>in</a:t>
            </a:r>
          </a:p>
        </p:txBody>
      </p:sp>
      <p:sp>
        <p:nvSpPr>
          <p:cNvPr id="20" name="Handle 20"/>
          <p:cNvSpPr/>
          <p:nvPr/>
        </p:nvSpPr>
        <p:spPr>
          <a:xfrm>
            <a:off x="4352544" y="3017520"/>
            <a:ext cx="192024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109728" tIns="0" rIns="73152" bIns="0" rtlCol="0" anchor="ctr">
            <a:noAutofit/>
          </a:bodyPr>
          <a:lstStyle/>
          <a:p>
            <a:pPr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kristopherjturner</a:t>
            </a:r>
          </a:p>
        </p:txBody>
      </p:sp>
      <p:sp>
        <p:nvSpPr>
          <p:cNvPr id="21" name="Icon 21"/>
          <p:cNvSpPr/>
          <p:nvPr/>
        </p:nvSpPr>
        <p:spPr>
          <a:xfrm>
            <a:off x="3931920" y="3474720"/>
            <a:ext cx="347472" cy="347472"/>
          </a:xfrm>
          <a:prstGeom prst="roundRect">
            <a:avLst>
              <a:gd name="adj" fmla="val 14000"/>
            </a:avLst>
          </a:prstGeom>
          <a:solidFill>
            <a:srgbClr val="1A1B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98F8FE"/>
                </a:solidFill>
                <a:latin typeface="Roboto"/>
                <a:cs typeface="Roboto"/>
              </a:rPr>
              <a:t>▶</a:t>
            </a:r>
          </a:p>
        </p:txBody>
      </p:sp>
      <p:sp>
        <p:nvSpPr>
          <p:cNvPr id="22" name="Handle 22"/>
          <p:cNvSpPr/>
          <p:nvPr/>
        </p:nvSpPr>
        <p:spPr>
          <a:xfrm>
            <a:off x="4352544" y="3474720"/>
            <a:ext cx="192024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109728" tIns="0" rIns="73152" bIns="0" rtlCol="0" anchor="ctr">
            <a:noAutofit/>
          </a:bodyPr>
          <a:lstStyle/>
          <a:p>
            <a:pPr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@CountryCloudBoy</a:t>
            </a:r>
          </a:p>
        </p:txBody>
      </p:sp>
      <p:sp>
        <p:nvSpPr>
          <p:cNvPr id="23" name="Icon 23"/>
          <p:cNvSpPr/>
          <p:nvPr/>
        </p:nvSpPr>
        <p:spPr>
          <a:xfrm>
            <a:off x="6355080" y="2560320"/>
            <a:ext cx="347472" cy="347472"/>
          </a:xfrm>
          <a:prstGeom prst="roundRect">
            <a:avLst>
              <a:gd name="adj" fmla="val 14000"/>
            </a:avLst>
          </a:prstGeom>
          <a:solidFill>
            <a:srgbClr val="1A1B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98F8FE"/>
                </a:solidFill>
                <a:latin typeface="Roboto"/>
                <a:cs typeface="Roboto"/>
              </a:rPr>
              <a:t>www</a:t>
            </a:r>
          </a:p>
        </p:txBody>
      </p:sp>
      <p:sp>
        <p:nvSpPr>
          <p:cNvPr id="24" name="Handle 24"/>
          <p:cNvSpPr/>
          <p:nvPr/>
        </p:nvSpPr>
        <p:spPr>
          <a:xfrm>
            <a:off x="6775704" y="2560320"/>
            <a:ext cx="192024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109728" tIns="0" rIns="73152" bIns="0" rtlCol="0" anchor="ctr">
            <a:noAutofit/>
          </a:bodyPr>
          <a:lstStyle/>
          <a:p>
            <a:pPr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kristopherjturner.me</a:t>
            </a:r>
          </a:p>
        </p:txBody>
      </p:sp>
      <p:sp>
        <p:nvSpPr>
          <p:cNvPr id="25" name="Icon 25"/>
          <p:cNvSpPr/>
          <p:nvPr/>
        </p:nvSpPr>
        <p:spPr>
          <a:xfrm>
            <a:off x="6355080" y="3017520"/>
            <a:ext cx="347472" cy="347472"/>
          </a:xfrm>
          <a:prstGeom prst="roundRect">
            <a:avLst>
              <a:gd name="adj" fmla="val 14000"/>
            </a:avLst>
          </a:prstGeom>
          <a:solidFill>
            <a:srgbClr val="1A1B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98F8FE"/>
                </a:solidFill>
                <a:latin typeface="Roboto"/>
                <a:cs typeface="Roboto"/>
              </a:rPr>
              <a:t>GH</a:t>
            </a:r>
          </a:p>
        </p:txBody>
      </p:sp>
      <p:sp>
        <p:nvSpPr>
          <p:cNvPr id="26" name="Handle 26"/>
          <p:cNvSpPr/>
          <p:nvPr/>
        </p:nvSpPr>
        <p:spPr>
          <a:xfrm>
            <a:off x="6775704" y="3017520"/>
            <a:ext cx="192024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109728" tIns="0" rIns="73152" bIns="0" rtlCol="0" anchor="ctr">
            <a:noAutofit/>
          </a:bodyPr>
          <a:lstStyle/>
          <a:p>
            <a:pPr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kristopherjturner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Users refuse to live in one place. One promise covers them all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150" i="1" dirty="0">
                <a:solidFill>
                  <a:srgbClr val="193233"/>
                </a:solidFill>
                <a:latin typeface="Roboto"/>
                <a:cs typeface="Roboto"/>
              </a:rPr>
              <a:t>Three kinds of users, three right places, and the precise promise so the session can be held to it.</a:t>
            </a:r>
          </a:p>
        </p:txBody>
      </p:sp>
      <p:sp>
        <p:nvSpPr>
          <p:cNvPr id="4" name="Realm 4"/>
          <p:cNvSpPr/>
          <p:nvPr/>
        </p:nvSpPr>
        <p:spPr>
          <a:xfrm>
            <a:off x="640080" y="1517904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193233"/>
          </a:solidFill>
          <a:ln w="19050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Azure</a:t>
            </a:r>
          </a:p>
          <a:p>
            <a:pPr algn="ctr">
              <a:spcBef>
                <a:spcPts val="400"/>
              </a:spcBef>
            </a:pPr>
            <a:r>
              <a:rPr lang="en-US" sz="1050" dirty="0">
                <a:solidFill>
                  <a:srgbClr val="98F8FE"/>
                </a:solidFill>
                <a:latin typeface="Roboto"/>
                <a:cs typeface="Roboto"/>
              </a:rPr>
              <a:t>Elastic, pooled, Entra-joined</a:t>
            </a:r>
          </a:p>
        </p:txBody>
      </p:sp>
      <p:sp>
        <p:nvSpPr>
          <p:cNvPr id="5" name="Realm 5"/>
          <p:cNvSpPr/>
          <p:nvPr/>
        </p:nvSpPr>
        <p:spPr>
          <a:xfrm>
            <a:off x="3337560" y="1517904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FDBA12"/>
          </a:solidFill>
          <a:ln w="19050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A1B1B"/>
                </a:solidFill>
                <a:latin typeface="Roboto"/>
                <a:cs typeface="Roboto"/>
              </a:rPr>
              <a:t>Azure Local</a:t>
            </a:r>
          </a:p>
          <a:p>
            <a:pPr algn="ctr">
              <a:spcBef>
                <a:spcPts val="400"/>
              </a:spcBef>
            </a:pPr>
            <a:r>
              <a:rPr lang="en-US" sz="1050" dirty="0">
                <a:solidFill>
                  <a:srgbClr val="1A1B1B"/>
                </a:solidFill>
                <a:latin typeface="Roboto"/>
                <a:cs typeface="Roboto"/>
              </a:rPr>
              <a:t>Your site: data, latency, regulation</a:t>
            </a:r>
          </a:p>
        </p:txBody>
      </p:sp>
      <p:sp>
        <p:nvSpPr>
          <p:cNvPr id="6" name="Realm 6"/>
          <p:cNvSpPr/>
          <p:nvPr/>
        </p:nvSpPr>
        <p:spPr>
          <a:xfrm>
            <a:off x="6035040" y="1517904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A1B1B"/>
                </a:solidFill>
                <a:latin typeface="Roboto"/>
                <a:cs typeface="Roboto"/>
              </a:rPr>
              <a:t>AVD Hybrid</a:t>
            </a:r>
          </a:p>
          <a:p>
            <a:pPr algn="ctr">
              <a:spcBef>
                <a:spcPts val="400"/>
              </a:spcBef>
            </a:pPr>
            <a:r>
              <a:rPr lang="en-US" sz="1050" dirty="0">
                <a:solidFill>
                  <a:srgbClr val="1A1B1B"/>
                </a:solidFill>
                <a:latin typeface="Roboto"/>
                <a:cs typeface="Roboto"/>
              </a:rPr>
              <a:t>Your hypervisor, Arc-enabled VMs</a:t>
            </a:r>
          </a:p>
        </p:txBody>
      </p:sp>
      <p:sp>
        <p:nvSpPr>
          <p:cNvPr id="7" name="Bridge 7"/>
          <p:cNvSpPr/>
          <p:nvPr/>
        </p:nvSpPr>
        <p:spPr>
          <a:xfrm>
            <a:off x="640080" y="2843784"/>
            <a:ext cx="7863840" cy="128016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40080" y="299923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Entra ID + Arc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" y="3392424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1A1B1B"/>
                </a:solidFill>
                <a:latin typeface="Roboto"/>
                <a:cs typeface="Roboto"/>
              </a:rPr>
              <a:t>One workspace exposes three entitled desktops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1A1B1B"/>
                </a:solidFill>
                <a:latin typeface="Roboto"/>
                <a:cs typeface="Roboto"/>
              </a:rPr>
              <a:t>The same user and the same profile pattern work in each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1A1B1B"/>
                </a:solidFill>
                <a:latin typeface="Roboto"/>
                <a:cs typeface="Roboto"/>
              </a:rPr>
              <a:t>Monitoring is shared; patching, power and recovery differ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The Realm Map: the whole session on one map</a:t>
            </a:r>
          </a:p>
        </p:txBody>
      </p:sp>
      <p:pic>
        <p:nvPicPr>
          <p:cNvPr id="3" name="Chart 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48384" y="1097280"/>
            <a:ext cx="6047232" cy="3401568"/>
          </a:xfrm>
          <a:prstGeom prst="rect">
            <a:avLst/>
          </a:prstGeom>
        </p:spPr>
      </p:pic>
      <p:cxnSp>
        <p:nvCxnSpPr>
          <p:cNvPr id="4" name="Line 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5" name="Node 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7" name="Node 7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9" name="Node 9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500" dirty="0"/>
              <a:t>The end state first, and where the repo lives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C3FBFE"/>
                </a:solidFill>
                <a:latin typeface="Roboto"/>
                <a:cs typeface="Roboto"/>
              </a:rPr>
              <a:t>One workspace, three host pools, all Available; everything is in the repo with a follow-along page per demo.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2186559"/>
            <a:ext cx="4023360" cy="14973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3694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506599"/>
            <a:ext cx="3840480" cy="10858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github.com/&lt;org&gt;/nic2026_avd (repo)</a:t>
            </a:r>
          </a:p>
        </p:txBody>
      </p:sp>
      <p:sp>
        <p:nvSpPr>
          <p:cNvPr id="8" name="Card 8"/>
          <p:cNvSpPr/>
          <p:nvPr/>
        </p:nvSpPr>
        <p:spPr>
          <a:xfrm>
            <a:off x="4663440" y="2186559"/>
            <a:ext cx="4023360" cy="14973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4828032" y="23694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754880" y="2506599"/>
            <a:ext cx="3840480" cy="10858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Demo guide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follow along in your own tenant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2" name="Node 12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4" name="Node 14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100" dirty="0"/>
              <a:t>Three realms, five decision axes, no prophecy required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THE REALMS COMPARED — FIVE DECISION AXES  ·  SECTION 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200" i="1" dirty="0">
                <a:solidFill>
                  <a:srgbClr val="193233"/>
                </a:solidFill>
                <a:latin typeface="Roboto"/>
                <a:cs typeface="Roboto"/>
              </a:rPr>
              <a:t>Locality, lifecycle owner, identity and OS, operations, support: and a one-line rule per realm.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57200" y="1517904"/>
          <a:ext cx="5349240" cy="2784348"/>
        </p:xfrm>
        <a:graphic>
          <a:graphicData uri="http://schemas.openxmlformats.org/drawingml/2006/table">
            <a:tbl>
              <a:tblPr firstRow="1"/>
              <a:tblGrid>
                <a:gridCol w="884172"/>
                <a:gridCol w="1503092"/>
                <a:gridCol w="1503092"/>
                <a:gridCol w="1458884"/>
              </a:tblGrid>
              <a:tr h="28117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Axis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AVD on 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AVD on Azure Local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AVD Hybrid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28117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Locality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Your cluster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Your hypervisor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Lifecycle owner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through Arc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You, with hypervisor tools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82981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Identity and OS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Entra, AD or hybrid; Win11 single or multi-session, Windows Server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Win11 multi-session; AD DS join (+ hybrid join for SSO)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Win11/10 Enterprise single-session; Entra, AD or hybrid join (Server: AD); no multi-session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Autoscale, Start VM on Connect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To verify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None: you scale and power-manage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Support and licensing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compute plus user licence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Cluster, AVD on Azure Local fee, user licence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Your infrastructure plus user licence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THE REALMS COMPARED — FIVE DECISION AXES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Yggdrasil: one foundation, one config file, three realms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YGGDRASIL  ·  SECTION 2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One landing zone built from one config; each realm section shows only its delta.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100" dirty="0"/>
              <a:t>Control plane, hosts, images, storage, network, monitoring, Arc: seven resource groups by lifecycle</a:t>
            </a:r>
          </a:p>
          <a:p>
            <a:pPr>
              <a:spcBef>
                <a:spcPts val="700"/>
              </a:spcBef>
            </a:pPr>
            <a:r>
              <a:rPr lang="en-US" sz="2100" dirty="0"/>
              <a:t>Profile share on its public endpoint, direct egress</a:t>
            </a:r>
          </a:p>
          <a:p>
            <a:pPr>
              <a:spcBef>
                <a:spcPts val="700"/>
              </a:spcBef>
            </a:pPr>
            <a:r>
              <a:rPr lang="en-US" sz="2100" dirty="0"/>
              <a:t>Registration tokens are never stored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YGGDRASIL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Failure domains: what the lab proves, and politely does not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Both local realms share one cluster and one internet line.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517904"/>
            <a:ext cx="3108960" cy="2926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1A1B1B"/>
                </a:solidFill>
                <a:latin typeface="Roboto"/>
                <a:cs typeface="Roboto"/>
              </a:rPr>
              <a:t>Proves hosting-model differences and profile reuse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1A1B1B"/>
                </a:solidFill>
                <a:latin typeface="Roboto"/>
                <a:cs typeface="Roboto"/>
              </a:rPr>
              <a:t>Does not prove independent-site resilience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1A1B1B"/>
                </a:solidFill>
                <a:latin typeface="Roboto"/>
                <a:cs typeface="Roboto"/>
              </a:rPr>
              <a:t>Compute locality is not data locality</a:t>
            </a:r>
          </a:p>
        </p:txBody>
      </p:sp>
      <p:sp>
        <p:nvSpPr>
          <p:cNvPr id="5" name="Box 5"/>
          <p:cNvSpPr/>
          <p:nvPr/>
        </p:nvSpPr>
        <p:spPr>
          <a:xfrm>
            <a:off x="3794760" y="1517904"/>
            <a:ext cx="489204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Control plane: Entra, broker, gateway, Azure Monitor</a:t>
            </a:r>
          </a:p>
        </p:txBody>
      </p:sp>
      <p:sp>
        <p:nvSpPr>
          <p:cNvPr id="6" name="Box 6"/>
          <p:cNvSpPr/>
          <p:nvPr/>
        </p:nvSpPr>
        <p:spPr>
          <a:xfrm>
            <a:off x="3794760" y="2121408"/>
            <a:ext cx="489204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Profile share and Key Vault</a:t>
            </a:r>
          </a:p>
        </p:txBody>
      </p:sp>
      <p:sp>
        <p:nvSpPr>
          <p:cNvPr id="7" name="Box 7"/>
          <p:cNvSpPr/>
          <p:nvPr/>
        </p:nvSpPr>
        <p:spPr>
          <a:xfrm>
            <a:off x="3794760" y="2724912"/>
            <a:ext cx="489204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Network links: site to Azure</a:t>
            </a:r>
          </a:p>
        </p:txBody>
      </p:sp>
      <p:sp>
        <p:nvSpPr>
          <p:cNvPr id="8" name="Box 8"/>
          <p:cNvSpPr/>
          <p:nvPr/>
        </p:nvSpPr>
        <p:spPr>
          <a:xfrm>
            <a:off x="3794760" y="3328416"/>
            <a:ext cx="489204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A1B1B"/>
                </a:solidFill>
                <a:latin typeface="Roboto"/>
                <a:cs typeface="Roboto"/>
              </a:rPr>
              <a:t>Azure Local VMs and Hybrid VMs</a:t>
            </a:r>
          </a:p>
        </p:txBody>
      </p:sp>
      <p:sp>
        <p:nvSpPr>
          <p:cNvPr id="9" name="Box 9"/>
          <p:cNvSpPr/>
          <p:nvPr/>
        </p:nvSpPr>
        <p:spPr>
          <a:xfrm>
            <a:off x="3794760" y="3931920"/>
            <a:ext cx="4892040" cy="512064"/>
          </a:xfrm>
          <a:prstGeom prst="roundRect">
            <a:avLst>
              <a:gd name="adj" fmla="val 9000"/>
            </a:avLst>
          </a:prstGeom>
          <a:solidFill>
            <a:srgbClr val="193233"/>
          </a:solidFill>
          <a:ln w="15875">
            <a:solidFill>
              <a:srgbClr val="193233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98F8FE"/>
                </a:solidFill>
                <a:latin typeface="Roboto"/>
                <a:cs typeface="Roboto"/>
              </a:rPr>
              <a:t>Nodes and hypervisor hosts: one lab, one site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250" dirty="0"/>
              <a:t>Support status by realm: GA, preview and to-verify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BIFRÖST  ·  SECTION 2B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200" i="1" dirty="0">
                <a:solidFill>
                  <a:srgbClr val="193233"/>
                </a:solidFill>
                <a:latin typeface="Roboto"/>
                <a:cs typeface="Roboto"/>
              </a:rPr>
              <a:t>Before the identity path: what each realm supports today, and what this lab has not yet proven.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57200" y="1517904"/>
          <a:ext cx="5349240" cy="2511552"/>
        </p:xfrm>
        <a:graphic>
          <a:graphicData uri="http://schemas.openxmlformats.org/drawingml/2006/table">
            <a:tbl>
              <a:tblPr firstRow="1"/>
              <a:tblGrid>
                <a:gridCol w="663129"/>
                <a:gridCol w="1016798"/>
                <a:gridCol w="928380"/>
                <a:gridCol w="1061006"/>
                <a:gridCol w="972589"/>
                <a:gridCol w="707338"/>
              </a:tblGrid>
              <a:tr h="401193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Realm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Host OS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Join and SSO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Profile auth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Power features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660273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Windows 11 multi-session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join, SSO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Kerberos to Azure Files: hybrid and cloud-only GA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Autoscale, Start VM on Connect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GA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0273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Local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Windows 11 multi-session (GA)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 join; hybrid join (for SSO) pending in the lab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Kerberos to an SMB service (here the SOFS), not a CSV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Autoscale and Start VM on Connect: verify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GA with items to verify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789813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AVD Hybrid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Windows 11 Enterprise single-session, or Windows Server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Arc-enabled; Entra, AD or hybrid join (Server: AD); lab: AD join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Kerberos to on-site SMB (here the SOFS), or Azure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None: no autoscale, power management or Start VM on Connect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Verify product status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BIFRÖST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Bifrost, the settings: one user, two join states, and why AD is back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One hybrid user everywhere.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600" dirty="0"/>
              <a:t>Hybrid users: created in AD, synchronized to Entra (password hash sync)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Entra Connect Sync on its own member server, never on a domain controller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Azure realm: Entra-joined Windows 11, Entra Kerberos to Azure Files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Azure Local and Hybrid realms: AD-joined, AD Kerberos to the SOFS; hybrid join pending, so the AD password at the host for now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Entra SSO on Entra-joined or hybrid-joined hosts; two Conditional Access policies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Bifrost, the map: three identity paths, one diagram, no secret fourth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193233"/>
                </a:solidFill>
                <a:latin typeface="Roboto"/>
                <a:cs typeface="Roboto"/>
              </a:rPr>
              <a:t>User to service, user to host, host-as-user to the profile share: Azure Files in Azure, the SOFS on site.</a:t>
            </a:r>
          </a:p>
        </p:txBody>
      </p:sp>
      <p:sp>
        <p:nvSpPr>
          <p:cNvPr id="4" name="Path 4"/>
          <p:cNvSpPr/>
          <p:nvPr/>
        </p:nvSpPr>
        <p:spPr>
          <a:xfrm>
            <a:off x="822960" y="1517904"/>
            <a:ext cx="7498080" cy="890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tep 5"/>
          <p:cNvSpPr/>
          <p:nvPr/>
        </p:nvSpPr>
        <p:spPr>
          <a:xfrm>
            <a:off x="932688" y="1761744"/>
            <a:ext cx="402336" cy="402336"/>
          </a:xfrm>
          <a:prstGeom prst="ellipse">
            <a:avLst/>
          </a:prstGeom>
          <a:solidFill>
            <a:srgbClr val="193233"/>
          </a:solidFill>
          <a:ln w="12700">
            <a:solidFill>
              <a:srgbClr val="19323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98F8FE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444752" y="1517904"/>
            <a:ext cx="6784848" cy="8900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/>
            <a:r>
              <a:rPr lang="en-US" sz="1200" b="1" dirty="0">
                <a:solidFill>
                  <a:srgbClr val="1A1B1B"/>
                </a:solidFill>
                <a:latin typeface="Roboto"/>
                <a:cs typeface="Roboto"/>
              </a:rPr>
              <a:t>User to AVD</a:t>
            </a:r>
          </a:p>
          <a:p>
            <a:pPr>
              <a:spcBef>
                <a:spcPts val="200"/>
              </a:spcBef>
            </a:pPr>
            <a:r>
              <a:rPr lang="en-US" sz="1000" dirty="0">
                <a:solidFill>
                  <a:srgbClr val="193233"/>
                </a:solidFill>
                <a:latin typeface="Roboto"/>
                <a:cs typeface="Roboto"/>
              </a:rPr>
              <a:t>Entra sign-in, MFA, Conditional Access, broker, feed</a:t>
            </a:r>
          </a:p>
        </p:txBody>
      </p:sp>
      <p:sp>
        <p:nvSpPr>
          <p:cNvPr id="7" name="Path 7"/>
          <p:cNvSpPr/>
          <p:nvPr/>
        </p:nvSpPr>
        <p:spPr>
          <a:xfrm>
            <a:off x="822960" y="2535936"/>
            <a:ext cx="7498080" cy="890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tep 8"/>
          <p:cNvSpPr/>
          <p:nvPr/>
        </p:nvSpPr>
        <p:spPr>
          <a:xfrm>
            <a:off x="932688" y="2779776"/>
            <a:ext cx="402336" cy="402336"/>
          </a:xfrm>
          <a:prstGeom prst="ellipse">
            <a:avLst/>
          </a:prstGeom>
          <a:solidFill>
            <a:srgbClr val="FDBA12"/>
          </a:solidFill>
          <a:ln w="12700">
            <a:solidFill>
              <a:srgbClr val="19323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A1B1B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444752" y="2535936"/>
            <a:ext cx="6784848" cy="8900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/>
            <a:r>
              <a:rPr lang="en-US" sz="1200" b="1" dirty="0">
                <a:solidFill>
                  <a:srgbClr val="1A1B1B"/>
                </a:solidFill>
                <a:latin typeface="Roboto"/>
                <a:cs typeface="Roboto"/>
              </a:rPr>
              <a:t>User to the session host</a:t>
            </a:r>
          </a:p>
          <a:p>
            <a:pPr>
              <a:spcBef>
                <a:spcPts val="200"/>
              </a:spcBef>
            </a:pPr>
            <a:r>
              <a:rPr lang="en-US" sz="1000" dirty="0">
                <a:solidFill>
                  <a:srgbClr val="193233"/>
                </a:solidFill>
                <a:latin typeface="Roboto"/>
                <a:cs typeface="Roboto"/>
              </a:rPr>
              <a:t>SSO, Virtual Machine User Login role</a:t>
            </a:r>
          </a:p>
        </p:txBody>
      </p:sp>
      <p:sp>
        <p:nvSpPr>
          <p:cNvPr id="10" name="Path 10"/>
          <p:cNvSpPr/>
          <p:nvPr/>
        </p:nvSpPr>
        <p:spPr>
          <a:xfrm>
            <a:off x="822960" y="3553968"/>
            <a:ext cx="7498080" cy="890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Step 11"/>
          <p:cNvSpPr/>
          <p:nvPr/>
        </p:nvSpPr>
        <p:spPr>
          <a:xfrm>
            <a:off x="932688" y="379780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323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A1B1B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444752" y="3553968"/>
            <a:ext cx="6784848" cy="8900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/>
            <a:r>
              <a:rPr lang="en-US" sz="1200" b="1" dirty="0">
                <a:solidFill>
                  <a:srgbClr val="1A1B1B"/>
                </a:solidFill>
                <a:latin typeface="Roboto"/>
                <a:cs typeface="Roboto"/>
              </a:rPr>
              <a:t>Host, as the user, to the profile share</a:t>
            </a:r>
          </a:p>
          <a:p>
            <a:pPr>
              <a:spcBef>
                <a:spcPts val="200"/>
              </a:spcBef>
            </a:pPr>
            <a:r>
              <a:rPr lang="en-US" sz="1000" dirty="0">
                <a:solidFill>
                  <a:srgbClr val="193233"/>
                </a:solidFill>
                <a:latin typeface="Roboto"/>
                <a:cs typeface="Roboto"/>
              </a:rPr>
              <a:t>Azure: Entra Kerberos to Azure Files · Azure Local and Hybrid: AD Kerberos to the SOFS (hybrid user)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6" name="Node 16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8" name="Node 1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Bifrost's toll: the ticket, and the ACL has the final word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Entra Kerberos to Azure Files is GA for hybrid and cloud-only users; AD Kerberos is the only key to an on-site share.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Entra user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Kerberos ticket (cifs)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SMB share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ACL result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98F8FE"/>
                </a:solidFill>
                <a:latin typeface="Roboto"/>
                <a:cs typeface="Roboto"/>
              </a:rPr>
              <a:t>Entra Kerberos to Azure Files: GA, hybrid and cloud-only users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98F8FE"/>
                </a:solidFill>
                <a:latin typeface="Roboto"/>
                <a:cs typeface="Roboto"/>
              </a:rPr>
              <a:t>The storage app is excluded from MFA Conditional Access because the ticket request is silent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98F8FE"/>
                </a:solidFill>
                <a:latin typeface="Roboto"/>
                <a:cs typeface="Roboto"/>
              </a:rPr>
              <a:t>Current Windows 11 build; cloud security groups; admin consent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98F8FE"/>
                </a:solidFill>
                <a:latin typeface="Roboto"/>
                <a:cs typeface="Roboto"/>
              </a:rPr>
              <a:t>AD Kerberos to the SOFS: hybrid users, a domain controller in line of sight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6" name="Node 16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8" name="Node 1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Asgard: AVD on Azure, the reference realm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ASGARD  ·  SECTION 3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Pooled multi-session, Entra-joined hosts, SSO, Shortpath.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200" dirty="0"/>
              <a:t>Pooled, breadth-first, multi-session Windows 11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Entra-joined, SSO, RDP Shortpath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Scaling plan and Start VM on Connect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ASGARD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forge: one image definition, target-specific outputs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Image Builder to Compute Gallery to host pool.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Pinned source image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Shared customisation scripts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Gallery version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Replicate and roll back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Pinned source version (Image Builder also accepts latest)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Shared customisation scripts; no identity baked in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Gallery version, replication, rollback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6" name="Node 16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8" name="Node 1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Heimdall's bill: the DCR decides the cost, the workbook shows it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200" i="1" dirty="0">
                <a:solidFill>
                  <a:srgbClr val="C3FBFE"/>
                </a:solidFill>
                <a:latin typeface="Roboto"/>
                <a:cs typeface="Roboto"/>
              </a:rPr>
              <a:t>One causal chain: what the DCR selects, what is collected, what Insights shows, what it costs.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DCR selection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Collected signal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Insights evidence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Ingestion and cost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98F8FE"/>
                </a:solidFill>
                <a:latin typeface="Roboto"/>
                <a:cs typeface="Roboto"/>
              </a:rPr>
              <a:t>Insights default counters and events only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98F8FE"/>
                </a:solidFill>
                <a:latin typeface="Roboto"/>
                <a:cs typeface="Roboto"/>
              </a:rPr>
              <a:t>Measured in this lab: roughly 3 to 5 GB per host per month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98F8FE"/>
                </a:solidFill>
                <a:latin typeface="Roboto"/>
                <a:cs typeface="Roboto"/>
              </a:rPr>
              <a:t>It depends on DCR contents, sampling and collection hours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98F8FE"/>
                </a:solidFill>
                <a:latin typeface="Roboto"/>
                <a:cs typeface="Roboto"/>
              </a:rPr>
              <a:t>DCRs do not control every ingestion source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98F8FE"/>
                </a:solidFill>
                <a:latin typeface="Roboto"/>
                <a:cs typeface="Roboto"/>
              </a:rPr>
              <a:t>Preview: Azure Copilot Observability Agent investigates alerts on this workspace; billed per use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6" name="Node 16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8" name="Node 1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300" dirty="0"/>
              <a:t>Asgard's perks: autoscale and Start VM on Connect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The features only this realm gets in full.</a:t>
            </a:r>
          </a:p>
        </p:txBody>
      </p:sp>
      <p:sp>
        <p:nvSpPr>
          <p:cNvPr id="4" name="Card 4"/>
          <p:cNvSpPr/>
          <p:nvPr/>
        </p:nvSpPr>
        <p:spPr>
          <a:xfrm>
            <a:off x="457200" y="2249424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Rule 5"/>
          <p:cNvSpPr/>
          <p:nvPr/>
        </p:nvSpPr>
        <p:spPr>
          <a:xfrm>
            <a:off x="621792" y="243230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2569464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Ramp-up, peak, ramp-down, off-peak</a:t>
            </a:r>
          </a:p>
        </p:txBody>
      </p:sp>
      <p:sp>
        <p:nvSpPr>
          <p:cNvPr id="7" name="Card 7"/>
          <p:cNvSpPr/>
          <p:nvPr/>
        </p:nvSpPr>
        <p:spPr>
          <a:xfrm>
            <a:off x="4663440" y="2249424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8"/>
          <p:cNvSpPr/>
          <p:nvPr/>
        </p:nvSpPr>
        <p:spPr>
          <a:xfrm>
            <a:off x="4828032" y="243230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54880" y="2569464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Start VM on Connect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300" dirty="0"/>
              <a:t>Midgard: AVD on Azure Local, compute at your site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MIDGARD  ·  SECTION 4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Hosts are Azure Local VMs in a different landing zone.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Hosts in the Azure Local landing zone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Created from Azure through the Resource Bridge and custom location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On lnet-iic-nic26-avd-vlan2215-eus; its NSG admits RDP Shortpath from P2S only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Three hosts: al01, al02 and the GPU host al03; AD-joined by the domain-join extension, hybrid users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What breaks when the Resource Bridge is unhealthy</a:t>
            </a:r>
          </a:p>
        </p:txBody>
      </p:sp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MIDGARD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2638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50" dirty="0"/>
              <a:t>Images for Azure Local, and the host pool you can touch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There is no direct Image Builder target for Azure Local.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2218944"/>
            <a:ext cx="2621280" cy="14325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4018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538984"/>
            <a:ext cx="2438400" cy="1021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AIB to gallery or VHD</a:t>
            </a:r>
          </a:p>
        </p:txBody>
      </p:sp>
      <p:sp>
        <p:nvSpPr>
          <p:cNvPr id="8" name="Card 8"/>
          <p:cNvSpPr/>
          <p:nvPr/>
        </p:nvSpPr>
        <p:spPr>
          <a:xfrm>
            <a:off x="3261360" y="2218944"/>
            <a:ext cx="2621280" cy="14325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3425952" y="24018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52800" y="2538984"/>
            <a:ext cx="2438400" cy="1021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Import as an Azure Local image</a:t>
            </a:r>
          </a:p>
        </p:txBody>
      </p:sp>
      <p:sp>
        <p:nvSpPr>
          <p:cNvPr id="11" name="Card 11"/>
          <p:cNvSpPr/>
          <p:nvPr/>
        </p:nvSpPr>
        <p:spPr>
          <a:xfrm>
            <a:off x="6065520" y="2218944"/>
            <a:ext cx="2621280" cy="14325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6230112" y="24018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156960" y="2538984"/>
            <a:ext cx="2438400" cy="1021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Or marketplace images downloaded to the cluster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5" name="Node 1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7" name="Node 17"/>
          <p:cNvSpPr/>
          <p:nvPr/>
        </p:nvSpPr>
        <p:spPr>
          <a:xfrm>
            <a:off x="532638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9" name="Node 19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100" dirty="0"/>
              <a:t>SMB, not CSV, sized bottom-up: and one GPU host by DDA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A CSV is not an SMB share; draw the serving layer and its failure boundary.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00" dirty="0"/>
              <a:t>CSV is storage; FSLogix needs an SMB path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File server VM or SOFS on the cluster, or Azure Files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This realm: a two-VM SOFS guest cluster on the same cluster; Azure keeps Azure Files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Sizing, bottom-up: 20 users × 30 GB + 20 % = 720 GB → 2 SOFS VMs on 2 × 1.5 TiB CSVs → 6 TiB raw; restarts on one node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azurelocal.cloud/azurelocal-avd · azurelocal.cloud/azurelocal-sofs-fslogix/architecture/capacity-planning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One L4 per node by DDA to the GPU host al03: whole device, no vGPU licence, no live migration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9" name="Node 9"/>
          <p:cNvSpPr/>
          <p:nvPr/>
        </p:nvSpPr>
        <p:spPr>
          <a:xfrm>
            <a:off x="532638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1" name="Node 11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outer realms: AVD Hybrid in four steps, Arc is the bridge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THE OUTER REALMS  ·  SECTION 5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The service stays in Azure; hosts run on your hypervisor; Arc is the bridge.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00" dirty="0"/>
              <a:t>1. Create a Windows VM with your tools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2. Install the Arc agent in the guest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3. Add the AVD Hybrid extension with a registration token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4. Host Available (documented expectation: up to 15 minutes; set a timeout)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No hypervisor integration; everything happens inside the guest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AVD never powers, scales, replaces or patches this VM: you own the lifecycle</a:t>
            </a:r>
          </a:p>
        </p:txBody>
      </p:sp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THE OUTER REALMS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Terms of residence: requirements, limits, plain Hyper-V VMs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What Hybrid requires of the Arc machine and does not offer.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Win11 Enterprise single-session or Windows Server; no multi-session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Win11: Entra, AD or hybrid join; Server: AD or hybrid. This lab: AD join in the build, like Azure Local (one SOFS); hv01 and hv02, one per node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Standard pool; its managed identity has Reader on the Arc machines' resource group (here: inside the AVD landing zone)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Arc onboarding by service principal, secret in memory, rotated; outbound 443 to AVD and Arc endpoints; RDP Shortpath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No autoscale, power management, Start VM on Connect, Session Host Configuration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9" name="Node 9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1" name="Node 11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Same intent, different plumbing: the extension and the hypervisors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One extension, one token, one host.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Arc-enabled VM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CloudDeviceExtension + token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Host Available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You own power and recovery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Hyper-V: tested in the repo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vSphere and AHV: reference templates, labelled as such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Arc-enabled VMware is not required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6" name="Node 16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8" name="Node 18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forge without Image Builder: Packer, identity, network, GPU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Packer plus platform-native tools, running the same customisation scripts AIB runs; the domain join and the FSLogix profile...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hyperv-iso (tested), vsphere-iso and Nutanix plugin (reference): one build, the AIB customisation scripts reused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Domain join (AD) and the FSLogix settings profile in the build; SSO back to Entra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Outbound only through the firewall allow-list; RDP Shortpath; GPU per hypervisor, AVD neither adds nor blocks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Windows 11 patching: Intune or Windows Update for Business; Azure Update Manager does not cover Windows 11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Arc here: AMA + DCR, AVD Insights, inventory. Update Manager, Policy, Defender, Arc licensing: Room 5, 14:40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traveller's pack: where it can live, and who can open it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THE TRAVELLER'S PACK  ·  SECTION 6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The profile store and the session-host identity are one decision: FSLogix mounts the container as the signed-in user over SMB, so...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57200" y="1517904"/>
          <a:ext cx="5349240" cy="2686050"/>
        </p:xfrm>
        <a:graphic>
          <a:graphicData uri="http://schemas.openxmlformats.org/drawingml/2006/table">
            <a:tbl>
              <a:tblPr firstRow="1"/>
              <a:tblGrid>
                <a:gridCol w="1350294"/>
                <a:gridCol w="882884"/>
                <a:gridCol w="934819"/>
                <a:gridCol w="934819"/>
                <a:gridCol w="1246425"/>
              </a:tblGrid>
              <a:tr h="4812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Profile store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Auth on the share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Entra host, cloud-only user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Entra host, hybrid user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AD/hybrid host, hybrid user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Kerberos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 (GA)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9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Yes, DC in sight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3669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NetApp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Yes, DC in sight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9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SOFS on Azure Local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Yes, DC in sight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Yes, native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812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File server VM / NAS / vSAN FS / Nutanix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 (a single VM: no transparent failover)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903">
                <a:tc>
                  <a:txBody>
                    <a:bodyPr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Domain Services + Azure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DS-joined hosts only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</a:tbl>
          </a:graphicData>
        </a:graphic>
      </p:graphicFrame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THE TRAVELLER'S PACK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Three realms, three packing lists: the options and the lab's choice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Per realm: how hosts join, where the profile can live, how the host reaches it, and what this lab chose (D-050).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517904"/>
          <a:ext cx="8229600" cy="2199132"/>
        </p:xfrm>
        <a:graphic>
          <a:graphicData uri="http://schemas.openxmlformats.org/drawingml/2006/table">
            <a:tbl>
              <a:tblPr firstRow="1"/>
              <a:tblGrid>
                <a:gridCol w="1155032"/>
                <a:gridCol w="1443789"/>
                <a:gridCol w="2021305"/>
                <a:gridCol w="1876926"/>
                <a:gridCol w="1732547"/>
              </a:tblGrid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Realm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Host join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Profile options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Path to the profile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Lab choice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62979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AVD on 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 join; hybrid join; AD join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Azure Files (Entra Kerberos or AD DS), Azure NetApp Files, file server VM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In region; public or private endpoint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Entra-joined, Azure Files + Entra Kerberos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981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AVD on Azure Local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DS join (+ hybrid join for SSO)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SOFS on the cluster, Azure Files over the WAN, file server VM, NAS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SOFS: VLAN 2215 → 2216 on the same cluster, SMB 3 CA; Azure Files: outbound 445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join (hybrid join pending), SOFS (two VMs, one per node)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AVD Hybrid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Entra, AD or hybrid join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Same as Azure Local, or Azure Files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On-site SOFS, or Azure Files outbound 445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AD join, SOFS (same site, same users)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Splitting the pack: Profile, ODFC and the settings that matter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Two containers, different size, tier and retention.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200" dirty="0"/>
              <a:t>Profile: the profile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ODFC: Outlook OST, Teams, OneDrive cache, search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VHDLocations, ODFC VHDLocations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FlipFlopProfileDirectoryName, PreventLoginWithFailure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redirections.xml keeps caches out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9" name="Node 9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1" name="Node 11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250" dirty="0"/>
              <a:t>One pattern, three realms, no teleportation clause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Multiple providers, local reads: resilience, not conflict resolution.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A: one Azure Files share, Entra Kerberos, from all three realms: simplest; on-site realms pay WAN latency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B (the target, not built yet, D-053): Cloud Cache, CCDLocations = SOFS + Azure Files: LAN speed on site, the profile follows the user to Azure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C (the lab today): realm-local containers: the SOFS for Azure Local and Hybrid, Azure Files for Azure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Same hybrid user (UPN, SID) and one FSLogix configuration profile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Cloud Cache costs: a local cache disk and logoff flush time; the host must authenticate to every provider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forge, one repo: reuse the intent, declare the differences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THE FORGE  ·  SECTION 7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One commit, one image version, builder-specific steps.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200" dirty="0"/>
              <a:t>Shared intent, platform-specific implementation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No template works unchanged everywhere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THE FORGE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operating model: ownership is not an optional parameter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Monitoring is common; patching, power and recovery are not.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517904"/>
          <a:ext cx="8229600" cy="2498598"/>
        </p:xfrm>
        <a:graphic>
          <a:graphicData uri="http://schemas.openxmlformats.org/drawingml/2006/table">
            <a:tbl>
              <a:tblPr firstRow="1"/>
              <a:tblGrid>
                <a:gridCol w="1496291"/>
                <a:gridCol w="2244436"/>
                <a:gridCol w="2244436"/>
                <a:gridCol w="2244436"/>
              </a:tblGrid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Task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Azure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Azure Local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AVD Hybrid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Guest patching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Image replacement; Intune or WUfB for Windows 11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Same; Update Manager covers servers, not Windows 11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Same; Intune or WUfB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Host or hypervisor patching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Microsoft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Lifecycle Manager: you schedule, Azure orchestrates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You, with your hypervisor tooling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Power and scaling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Scaling plan, Start VM on Connect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Verify; otherwise you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You: none from AVD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Monitoring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Insights and Log Analytics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Same workspace, via Arc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Same workspace, via Arc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Failed VM recovery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Redeploy from the image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Cluster and operator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The hypervisor, not AVD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crossing: six steps, one claim each, Heimdall watching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HEIMDALL WATCHES  ·  SECTION 8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6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100" i="1" dirty="0">
                <a:solidFill>
                  <a:srgbClr val="C3FBFE"/>
                </a:solidFill>
                <a:latin typeface="Roboto"/>
                <a:cs typeface="Roboto"/>
              </a:rPr>
              <a:t>One continuous test: six checkpointed steps, each with a clip and a prepared recovery state behind it.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" y="1517904"/>
          <a:ext cx="5349240" cy="2810256"/>
        </p:xfrm>
        <a:graphic>
          <a:graphicData uri="http://schemas.openxmlformats.org/drawingml/2006/table">
            <a:tbl>
              <a:tblPr firstRow="1"/>
              <a:tblGrid>
                <a:gridCol w="618920"/>
                <a:gridCol w="1591509"/>
                <a:gridCol w="1635718"/>
                <a:gridCol w="1503092"/>
              </a:tblGrid>
              <a:tr h="26212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Step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Observable proof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Pass condition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1 State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Show the three pools and the user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Three desktops, hosts Available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Entitlement is not routing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2 Entitle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Change the user's group, refresh the feed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Different desktops appear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Feed matches the group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3 Portable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Sign in on each realm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Known file on Azure Local and Hybrid (same SOFS container); Azure has its own until pattern B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Same SID, container attached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4 Fail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Hard power-off a Hybrid host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Host Unavailable; new session on host 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Saved work present, unsaved lost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5 Watch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Query the one workspace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All three realms in one view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Persistence is not recovery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6 Explain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Investigate the host alert (agent, preview)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Findings, ruled-out causes, next steps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It reasons from Azure-side signals only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</a:tbl>
          </a:graphicData>
        </a:graphic>
      </p:graphicFrame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HEIMDALL WATCHES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3" name="Node 13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150" dirty="0"/>
              <a:t>What to decide, validate and run next: the take-home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TAKE-HOME, TOMORROW'S SESSION, OTHER SESSIONS, CLOSE  ·  SECTION 9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150" i="1" dirty="0">
                <a:solidFill>
                  <a:srgbClr val="193233"/>
                </a:solidFill>
                <a:latin typeface="Roboto"/>
                <a:cs typeface="Roboto"/>
              </a:rPr>
              <a:t>The five axes are the decision; the support table lists what to verify; the repo is what you run.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000" dirty="0"/>
              <a:t>Decide: which realm for which workload (the five axes)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Validate: every 'verify' cell in the support table, in your tenant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Run: the repo, one config file and the follow-along guide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Questions in the hallway; the repo is yours</a:t>
            </a:r>
          </a:p>
        </p:txBody>
      </p:sp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TAKE-HOME, TOMORROW'S SESSION, OTHER SESSIONS, CLOSE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12" name="Node 12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4" name="Node 1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crossing in one slide: every realm crossed, and what you take home</a:t>
            </a:r>
          </a:p>
        </p:txBody>
      </p:sp>
      <p:pic>
        <p:nvPicPr>
          <p:cNvPr id="3" name="Chart 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48384" y="1097280"/>
            <a:ext cx="6047232" cy="3401568"/>
          </a:xfrm>
          <a:prstGeom prst="rect">
            <a:avLst/>
          </a:prstGeom>
        </p:spPr>
      </p:pic>
      <p:cxnSp>
        <p:nvCxnSpPr>
          <p:cNvPr id="4" name="Line 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5" name="Node 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7" name="Node 7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9" name="Node 9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450" dirty="0"/>
              <a:t>Tomorrow: Azure Local, from discovery to Day 2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The cluster under all this, how it was planned, deployed and operated.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200" dirty="0"/>
              <a:t>We just saw AVD land on an Azure Local cluster. Tomorrow: how that cluster was planned for these desktops, built and run.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Thu 15 Oct, 09:50, Room 5: plan and discover; deploy and Day-2 ready; operate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Same cluster, same repo, live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Next door at 14:40, and you may also like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The first card is a hand-off, not a recommendation: the Arc side of AVD Hybrid continues in Room 5 twenty minutes from now.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600" dirty="0"/>
              <a:t>Hand-off: Breaking the Platform Barrier: AVD Hybrid on Any Hypervisor (Gregor Reimling &amp; Marcel Meurer, L300, Wed 2:40 pm, Room 5). We built the hosts, the identity and the profile; they take Arc design before onboarding, how the Arc and AVD agents work together, and day-2 with Update Manager, Policy, Defender and licensing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Combining identity and network controls in Azure (Kristoffer Hatland, L400, Thu 1:00 pm, Room 3)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10 security settings you must configure in Windows 11 (Nicklas Ahlberg, L300, Thu 11:10 am, Room 5)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Times are Oslo time. Rooms can change: check the NIC agenda.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</a:t>
            </a:r>
          </a:p>
        </p:txBody>
      </p:sp>
      <p:sp>
        <p:nvSpPr>
          <p:cNvPr id="8" name="Node 8"/>
          <p:cNvSpPr/>
          <p:nvPr/>
        </p:nvSpPr>
        <p:spPr>
          <a:xfrm>
            <a:off x="535381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3776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Azure Local</a:t>
            </a:r>
          </a:p>
        </p:txBody>
      </p:sp>
      <p:sp>
        <p:nvSpPr>
          <p:cNvPr id="10" name="Node 1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Hybrid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mal_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1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0606D0306B414485AB0ED919BE5093" ma:contentTypeVersion="9" ma:contentTypeDescription="Opprett et nytt dokument." ma:contentTypeScope="" ma:versionID="86e9e4850e235c65c8f7baa53c7b85b0">
  <xsd:schema xmlns:xsd="http://www.w3.org/2001/XMLSchema" xmlns:xs="http://www.w3.org/2001/XMLSchema" xmlns:p="http://schemas.microsoft.com/office/2006/metadata/properties" xmlns:ns2="aecd07d0-0a4a-468d-8d2c-4a3699fc1520" targetNamespace="http://schemas.microsoft.com/office/2006/metadata/properties" ma:root="true" ma:fieldsID="4fc96f60fa9e8a66d91aa9b5ee3560b2" ns2:_="">
    <xsd:import namespace="aecd07d0-0a4a-468d-8d2c-4a3699fc15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d07d0-0a4a-468d-8d2c-4a3699fc1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a82fb023-be25-41c8-82b3-54dea1880b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cd07d0-0a4a-468d-8d2c-4a3699fc15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5E7B90-D9B1-4401-9CFA-9F79C1459A12}"/>
</file>

<file path=customXml/itemProps2.xml><?xml version="1.0" encoding="utf-8"?>
<ds:datastoreItem xmlns:ds="http://schemas.openxmlformats.org/officeDocument/2006/customXml" ds:itemID="{0404F62A-926D-496C-8752-68B7680A57D6}"/>
</file>

<file path=customXml/itemProps3.xml><?xml version="1.0" encoding="utf-8"?>
<ds:datastoreItem xmlns:ds="http://schemas.openxmlformats.org/officeDocument/2006/customXml" ds:itemID="{C598BBD6-4872-427A-8421-76B5D6EEA5AB}"/>
</file>

<file path=docProps/app.xml><?xml version="1.0" encoding="utf-8"?>
<Properties xmlns="http://schemas.openxmlformats.org/officeDocument/2006/extended-properties" xmlns:vt="http://schemas.openxmlformats.org/officeDocument/2006/docPropsVTypes">
  <Template>PPT-mal_NIC.potx</Template>
  <Application>Microsoft Office PowerPoint</Application>
  <PresentationFormat>On-screen Show (16:9)</PresentationFormat>
  <Slides>34</Slides>
  <Notes>0</Notes>
  <HiddenSlides>0</Hidden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AVD Anywhere</dc:title>
  <dc:subject>Azure Virtual Desktop on Azure, Azure Local, and AVD Hybrid Platforms</dc:subject>
  <dc:creator>Kristopher Turner</dc:creator>
  <cp:lastModifiedBy>Kristopher Turner</cp:lastModifiedBy>
  <cp:revision>1</cp:revision>
  <dcterms:created xsi:type="dcterms:W3CDTF">2026-10-12T13:36:45Z</dcterms:created>
  <dcterms:modified xsi:type="dcterms:W3CDTF">2026-10-12T13:36:45Z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0x010100550606D0306B414485AB0ED919BE5093</vt:lpwstr>
  </property>
</Properties>
</file>