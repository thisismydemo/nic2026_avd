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saveSubsetFonts="1" autoCompressPictures="0">
  <p:sldMasterIdLst>
    <p:sldMasterId id="2147483648" r:id="rId1"/>
  </p:sldMasterIdLst>
  <p:notesMasterIdLst>
    <p:notesMasterId r:id="rId13"/>
  </p:notesMasterIdLst>
  <p:handoutMasterIdLst>
    <p:handoutMasterId r:id="rId14"/>
  </p:handoutMasterIdLst>
  <p:sldIdLst>
    <p:sldId id="256" r:id="rId1001"/>
    <p:sldId id="257" r:id="rId1002"/>
    <p:sldId id="258" r:id="rId1003"/>
    <p:sldId id="259" r:id="rId1004"/>
    <p:sldId id="260" r:id="rId1005"/>
    <p:sldId id="261" r:id="rId1006"/>
    <p:sldId id="262" r:id="rId1007"/>
    <p:sldId id="263" r:id="rId1008"/>
    <p:sldId id="264" r:id="rId1009"/>
    <p:sldId id="265" r:id="rId1010"/>
    <p:sldId id="266" r:id="rId1011"/>
    <p:sldId id="267" r:id="rId1012"/>
    <p:sldId id="268" r:id="rId1013"/>
    <p:sldId id="269" r:id="rId1014"/>
    <p:sldId id="270" r:id="rId1015"/>
    <p:sldId id="271" r:id="rId1016"/>
    <p:sldId id="272" r:id="rId1017"/>
    <p:sldId id="273" r:id="rId1018"/>
    <p:sldId id="274" r:id="rId1019"/>
    <p:sldId id="275" r:id="rId1020"/>
    <p:sldId id="276" r:id="rId1021"/>
    <p:sldId id="277" r:id="rId1022"/>
    <p:sldId id="278" r:id="rId1023"/>
    <p:sldId id="279" r:id="rId1024"/>
    <p:sldId id="280" r:id="rId1025"/>
    <p:sldId id="281" r:id="rId1026"/>
    <p:sldId id="282" r:id="rId1027"/>
    <p:sldId id="283" r:id="rId1028"/>
    <p:sldId id="284" r:id="rId1029"/>
    <p:sldId id="285" r:id="rId1030"/>
    <p:sldId id="286" r:id="rId1031"/>
    <p:sldId id="287" r:id="rId1032"/>
    <p:sldId id="288" r:id="rId1033"/>
    <p:sldId id="289" r:id="rId1034"/>
    <p:sldId id="290" r:id="rId1035"/>
    <p:sldId id="291" r:id="rId1036"/>
    <p:sldId id="292" r:id="rId1037"/>
    <p:sldId id="293" r:id="rId1038"/>
    <p:sldId id="294" r:id="rId1039"/>
    <p:sldId id="295" r:id="rId1040"/>
    <p:sldId id="296" r:id="rId1041"/>
    <p:sldId id="297" r:id="rId1042"/>
    <p:sldId id="298" r:id="rId1043"/>
    <p:sldId id="299" r:id="rId1044"/>
    <p:sldId id="300" r:id="rId1045"/>
    <p:sldId id="301" r:id="rId1046"/>
    <p:sldId id="302" r:id="rId1047"/>
    <p:sldId id="303" r:id="rId1048"/>
    <p:sldId id="304" r:id="rId1049"/>
    <p:sldId id="305" r:id="rId1050"/>
    <p:sldId id="306" r:id="rId1051"/>
  </p:sldIdLst>
  <p:sldSz cx="9144000" cy="5143500" type="screen16x9"/>
  <p:notesSz cx="6858000" cy="9144000"/>
  <p:embeddedFontLst>
    <p:embeddedFont>
      <p:font typeface="IBM Plex Sans" panose="020B0503050203000203" pitchFamily="34" charset="0"/>
      <p:regular r:id="rId15"/>
      <p:bold r:id="rId16"/>
      <p:italic r:id="rId17"/>
      <p:boldItalic r:id="rId18"/>
    </p:embeddedFont>
    <p:embeddedFont>
      <p:font typeface="Roboto" panose="02000000000000000000" pitchFamily="2" charset="0"/>
      <p:regular r:id="rId19"/>
      <p:bold r:id="rId20"/>
      <p:italic r:id="rId21"/>
      <p:boldItalic r:id="rId22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A1B1B"/>
    <a:srgbClr val="193233"/>
    <a:srgbClr val="98F8FE"/>
    <a:srgbClr val="B0FFFF"/>
    <a:srgbClr val="0A1523"/>
    <a:srgbClr val="ED2A24"/>
    <a:srgbClr val="D9FFFF"/>
    <a:srgbClr val="630991"/>
    <a:srgbClr val="0D000D"/>
    <a:srgbClr val="44444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582" autoAdjust="0"/>
    <p:restoredTop sz="94618" autoAdjust="0"/>
  </p:normalViewPr>
  <p:slideViewPr>
    <p:cSldViewPr snapToObjects="1">
      <p:cViewPr varScale="1">
        <p:scale>
          <a:sx n="130" d="100"/>
          <a:sy n="130" d="100"/>
        </p:scale>
        <p:origin x="150" y="1074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notesMaster" Target="notesMasters/notesMaster1.xml"/><Relationship Id="rId18" Type="http://schemas.openxmlformats.org/officeDocument/2006/relationships/font" Target="fonts/font4.fntdata"/><Relationship Id="rId26" Type="http://schemas.openxmlformats.org/officeDocument/2006/relationships/tableStyles" Target="tableStyles.xml"/><Relationship Id="rId21" Type="http://schemas.openxmlformats.org/officeDocument/2006/relationships/font" Target="fonts/font7.fntdata"/><Relationship Id="rId17" Type="http://schemas.openxmlformats.org/officeDocument/2006/relationships/font" Target="fonts/font3.fntdata"/><Relationship Id="rId25" Type="http://schemas.openxmlformats.org/officeDocument/2006/relationships/theme" Target="theme/theme1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29" Type="http://schemas.openxmlformats.org/officeDocument/2006/relationships/customXml" Target="../customXml/item3.xml"/><Relationship Id="rId1" Type="http://schemas.openxmlformats.org/officeDocument/2006/relationships/slideMaster" Target="slideMasters/slideMaster1.xml"/><Relationship Id="rId24" Type="http://schemas.openxmlformats.org/officeDocument/2006/relationships/viewProps" Target="viewProps.xml"/><Relationship Id="rId15" Type="http://schemas.openxmlformats.org/officeDocument/2006/relationships/font" Target="fonts/font1.fntdata"/><Relationship Id="rId23" Type="http://schemas.openxmlformats.org/officeDocument/2006/relationships/presProps" Target="presProps.xml"/><Relationship Id="rId28" Type="http://schemas.openxmlformats.org/officeDocument/2006/relationships/customXml" Target="../customXml/item2.xml"/><Relationship Id="rId19" Type="http://schemas.openxmlformats.org/officeDocument/2006/relationships/font" Target="fonts/font5.fntdata"/><Relationship Id="rId14" Type="http://schemas.openxmlformats.org/officeDocument/2006/relationships/handoutMaster" Target="handoutMasters/handoutMaster1.xml"/><Relationship Id="rId22" Type="http://schemas.openxmlformats.org/officeDocument/2006/relationships/font" Target="fonts/font8.fntdata"/><Relationship Id="rId27" Type="http://schemas.openxmlformats.org/officeDocument/2006/relationships/customXml" Target="../customXml/item1.xml"/><Relationship Id="rId1001" Type="http://schemas.openxmlformats.org/officeDocument/2006/relationships/slide" Target="slides/slide1.xml"/><Relationship Id="rId1002" Type="http://schemas.openxmlformats.org/officeDocument/2006/relationships/slide" Target="slides/slide2.xml"/><Relationship Id="rId1003" Type="http://schemas.openxmlformats.org/officeDocument/2006/relationships/slide" Target="slides/slide3.xml"/><Relationship Id="rId1004" Type="http://schemas.openxmlformats.org/officeDocument/2006/relationships/slide" Target="slides/slide4.xml"/><Relationship Id="rId1005" Type="http://schemas.openxmlformats.org/officeDocument/2006/relationships/slide" Target="slides/slide5.xml"/><Relationship Id="rId1006" Type="http://schemas.openxmlformats.org/officeDocument/2006/relationships/slide" Target="slides/slide6.xml"/><Relationship Id="rId1007" Type="http://schemas.openxmlformats.org/officeDocument/2006/relationships/slide" Target="slides/slide7.xml"/><Relationship Id="rId1008" Type="http://schemas.openxmlformats.org/officeDocument/2006/relationships/slide" Target="slides/slide8.xml"/><Relationship Id="rId1009" Type="http://schemas.openxmlformats.org/officeDocument/2006/relationships/slide" Target="slides/slide9.xml"/><Relationship Id="rId1010" Type="http://schemas.openxmlformats.org/officeDocument/2006/relationships/slide" Target="slides/slide10.xml"/><Relationship Id="rId1011" Type="http://schemas.openxmlformats.org/officeDocument/2006/relationships/slide" Target="slides/slide11.xml"/><Relationship Id="rId1012" Type="http://schemas.openxmlformats.org/officeDocument/2006/relationships/slide" Target="slides/slide12.xml"/><Relationship Id="rId1013" Type="http://schemas.openxmlformats.org/officeDocument/2006/relationships/slide" Target="slides/slide13.xml"/><Relationship Id="rId1014" Type="http://schemas.openxmlformats.org/officeDocument/2006/relationships/slide" Target="slides/slide14.xml"/><Relationship Id="rId1015" Type="http://schemas.openxmlformats.org/officeDocument/2006/relationships/slide" Target="slides/slide15.xml"/><Relationship Id="rId1016" Type="http://schemas.openxmlformats.org/officeDocument/2006/relationships/slide" Target="slides/slide16.xml"/><Relationship Id="rId1017" Type="http://schemas.openxmlformats.org/officeDocument/2006/relationships/slide" Target="slides/slide17.xml"/><Relationship Id="rId1018" Type="http://schemas.openxmlformats.org/officeDocument/2006/relationships/slide" Target="slides/slide18.xml"/><Relationship Id="rId1019" Type="http://schemas.openxmlformats.org/officeDocument/2006/relationships/slide" Target="slides/slide19.xml"/><Relationship Id="rId1020" Type="http://schemas.openxmlformats.org/officeDocument/2006/relationships/slide" Target="slides/slide20.xml"/><Relationship Id="rId1021" Type="http://schemas.openxmlformats.org/officeDocument/2006/relationships/slide" Target="slides/slide21.xml"/><Relationship Id="rId1022" Type="http://schemas.openxmlformats.org/officeDocument/2006/relationships/slide" Target="slides/slide22.xml"/><Relationship Id="rId1023" Type="http://schemas.openxmlformats.org/officeDocument/2006/relationships/slide" Target="slides/slide23.xml"/><Relationship Id="rId1024" Type="http://schemas.openxmlformats.org/officeDocument/2006/relationships/slide" Target="slides/slide24.xml"/><Relationship Id="rId1025" Type="http://schemas.openxmlformats.org/officeDocument/2006/relationships/slide" Target="slides/slide25.xml"/><Relationship Id="rId1026" Type="http://schemas.openxmlformats.org/officeDocument/2006/relationships/slide" Target="slides/slide26.xml"/><Relationship Id="rId1027" Type="http://schemas.openxmlformats.org/officeDocument/2006/relationships/slide" Target="slides/slide27.xml"/><Relationship Id="rId1028" Type="http://schemas.openxmlformats.org/officeDocument/2006/relationships/slide" Target="slides/slide28.xml"/><Relationship Id="rId1029" Type="http://schemas.openxmlformats.org/officeDocument/2006/relationships/slide" Target="slides/slide29.xml"/><Relationship Id="rId1030" Type="http://schemas.openxmlformats.org/officeDocument/2006/relationships/slide" Target="slides/slide30.xml"/><Relationship Id="rId1031" Type="http://schemas.openxmlformats.org/officeDocument/2006/relationships/slide" Target="slides/slide31.xml"/><Relationship Id="rId1032" Type="http://schemas.openxmlformats.org/officeDocument/2006/relationships/slide" Target="slides/slide32.xml"/><Relationship Id="rId1033" Type="http://schemas.openxmlformats.org/officeDocument/2006/relationships/slide" Target="slides/slide33.xml"/><Relationship Id="rId1034" Type="http://schemas.openxmlformats.org/officeDocument/2006/relationships/slide" Target="slides/slide34.xml"/><Relationship Id="rId1035" Type="http://schemas.openxmlformats.org/officeDocument/2006/relationships/slide" Target="slides/slide35.xml"/><Relationship Id="rId1036" Type="http://schemas.openxmlformats.org/officeDocument/2006/relationships/slide" Target="slides/slide36.xml"/><Relationship Id="rId1037" Type="http://schemas.openxmlformats.org/officeDocument/2006/relationships/slide" Target="slides/slide37.xml"/><Relationship Id="rId1038" Type="http://schemas.openxmlformats.org/officeDocument/2006/relationships/slide" Target="slides/slide38.xml"/><Relationship Id="rId1039" Type="http://schemas.openxmlformats.org/officeDocument/2006/relationships/slide" Target="slides/slide39.xml"/><Relationship Id="rId1040" Type="http://schemas.openxmlformats.org/officeDocument/2006/relationships/slide" Target="slides/slide40.xml"/><Relationship Id="rId1041" Type="http://schemas.openxmlformats.org/officeDocument/2006/relationships/slide" Target="slides/slide41.xml"/><Relationship Id="rId1042" Type="http://schemas.openxmlformats.org/officeDocument/2006/relationships/slide" Target="slides/slide42.xml"/><Relationship Id="rId1043" Type="http://schemas.openxmlformats.org/officeDocument/2006/relationships/slide" Target="slides/slide43.xml"/><Relationship Id="rId1044" Type="http://schemas.openxmlformats.org/officeDocument/2006/relationships/slide" Target="slides/slide44.xml"/><Relationship Id="rId1045" Type="http://schemas.openxmlformats.org/officeDocument/2006/relationships/slide" Target="slides/slide45.xml"/><Relationship Id="rId1046" Type="http://schemas.openxmlformats.org/officeDocument/2006/relationships/slide" Target="slides/slide46.xml"/><Relationship Id="rId1047" Type="http://schemas.openxmlformats.org/officeDocument/2006/relationships/slide" Target="slides/slide47.xml"/><Relationship Id="rId1048" Type="http://schemas.openxmlformats.org/officeDocument/2006/relationships/slide" Target="slides/slide48.xml"/><Relationship Id="rId1049" Type="http://schemas.openxmlformats.org/officeDocument/2006/relationships/slide" Target="slides/slide49.xml"/><Relationship Id="rId1050" Type="http://schemas.openxmlformats.org/officeDocument/2006/relationships/slide" Target="slides/slide50.xml"/><Relationship Id="rId1051" Type="http://schemas.openxmlformats.org/officeDocument/2006/relationships/slide" Target="slides/slide5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84E9E7-0A46-C642-B1CD-9F43F63A761F}" type="datetime1">
              <a:rPr lang="en-US" smtClean="0"/>
              <a:t>4/13/2026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C0FFE6-5FBB-9B41-A19C-338E023F0B0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567709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3F37FED-970C-2049-96AE-96BD1BA5E2DA}" type="datetime1">
              <a:rPr lang="en-US" smtClean="0"/>
              <a:t>4/13/2026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b-NO"/>
              <a:t>Click to edit Master text styles</a:t>
            </a:r>
          </a:p>
          <a:p>
            <a:pPr lvl="1"/>
            <a:r>
              <a:rPr lang="nb-NO"/>
              <a:t>Second level</a:t>
            </a:r>
          </a:p>
          <a:p>
            <a:pPr lvl="2"/>
            <a:r>
              <a:rPr lang="nb-NO"/>
              <a:t>Third level</a:t>
            </a:r>
          </a:p>
          <a:p>
            <a:pPr lvl="3"/>
            <a:r>
              <a:rPr lang="nb-NO"/>
              <a:t>Fourth level</a:t>
            </a:r>
          </a:p>
          <a:p>
            <a:pPr lvl="4"/>
            <a:r>
              <a:rPr lang="nb-NO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C048085-8ED8-F544-9D86-69C4C46BE9E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9960253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pening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107894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D8F95C4E-1091-4AFC-A458-56779C01DEE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39552" y="1995686"/>
            <a:ext cx="8064896" cy="720080"/>
          </a:xfrm>
        </p:spPr>
        <p:txBody>
          <a:bodyPr>
            <a:normAutofit/>
          </a:bodyPr>
          <a:lstStyle>
            <a:lvl1pPr algn="ctr">
              <a:defRPr sz="280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539552" y="1995686"/>
            <a:ext cx="8064896" cy="720080"/>
          </a:xfrm>
        </p:spPr>
        <p:txBody>
          <a:bodyPr>
            <a:normAutofit/>
          </a:bodyPr>
          <a:lstStyle>
            <a:lvl1pPr algn="ctr">
              <a:defRPr sz="280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5" name="Plassholder for tekst 3">
            <a:extLst>
              <a:ext uri="{FF2B5EF4-FFF2-40B4-BE49-F238E27FC236}">
                <a16:creationId xmlns:a16="http://schemas.microsoft.com/office/drawing/2014/main" id="{1CD8EA4B-13CD-40B4-BDDD-B2F23644D47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39552" y="2931791"/>
            <a:ext cx="8064896" cy="432048"/>
          </a:xfrm>
        </p:spPr>
        <p:txBody>
          <a:bodyPr/>
          <a:lstStyle>
            <a:lvl1pPr marL="0" indent="0" algn="ctr">
              <a:buClr>
                <a:srgbClr val="FDBA12"/>
              </a:buClr>
              <a:buFontTx/>
              <a:buNone/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 marL="4572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2pPr>
            <a:lvl3pPr marL="9144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3pPr>
            <a:lvl4pPr marL="13716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4pPr>
            <a:lvl5pPr marL="18288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</p:txBody>
      </p:sp>
    </p:spTree>
    <p:extLst>
      <p:ext uri="{BB962C8B-B14F-4D97-AF65-F5344CB8AC3E}">
        <p14:creationId xmlns:p14="http://schemas.microsoft.com/office/powerpoint/2010/main" val="2111475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L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8229600" cy="2663825"/>
          </a:xfrm>
        </p:spPr>
        <p:txBody>
          <a:bodyPr/>
          <a:lstStyle>
            <a:lvl1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</p:spTree>
    <p:extLst>
      <p:ext uri="{BB962C8B-B14F-4D97-AF65-F5344CB8AC3E}">
        <p14:creationId xmlns:p14="http://schemas.microsoft.com/office/powerpoint/2010/main" val="39430873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LIGHT media r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4114800" cy="2663825"/>
          </a:xfrm>
        </p:spPr>
        <p:txBody>
          <a:bodyPr/>
          <a:lstStyle>
            <a:lvl1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  <p:sp>
        <p:nvSpPr>
          <p:cNvPr id="6" name="Picture Placeholder 6">
            <a:extLst>
              <a:ext uri="{FF2B5EF4-FFF2-40B4-BE49-F238E27FC236}">
                <a16:creationId xmlns:a16="http://schemas.microsoft.com/office/drawing/2014/main" id="{C01918F4-FC6F-654D-B51C-427897755767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716463" y="1563688"/>
            <a:ext cx="3970337" cy="2663825"/>
          </a:xfrm>
        </p:spPr>
        <p:txBody>
          <a:bodyPr/>
          <a:lstStyle>
            <a:lvl1pPr>
              <a:buClr>
                <a:srgbClr val="444444"/>
              </a:buClr>
              <a:defRPr>
                <a:solidFill>
                  <a:srgbClr val="630991"/>
                </a:solidFill>
                <a:latin typeface="+mj-lt"/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17857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dia insert L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60A42B-155C-4E38-B2A4-05F9B3773F2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68313" y="411510"/>
            <a:ext cx="8208143" cy="4176464"/>
          </a:xfrm>
        </p:spPr>
        <p:txBody>
          <a:bodyPr/>
          <a:lstStyle>
            <a:lvl1pPr marL="342900" indent="-34290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1pPr>
            <a:lvl2pPr marL="7429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2pPr>
            <a:lvl3pPr marL="12001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3pPr>
            <a:lvl4pPr marL="16573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4pPr>
            <a:lvl5pPr marL="21145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022194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ght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86876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DAR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98F8FE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8229600" cy="2663825"/>
          </a:xfrm>
        </p:spPr>
        <p:txBody>
          <a:bodyPr/>
          <a:lstStyle>
            <a:lvl1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DARK media r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98F8FE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4042792" cy="2663825"/>
          </a:xfrm>
        </p:spPr>
        <p:txBody>
          <a:bodyPr/>
          <a:lstStyle>
            <a:lvl1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  <p:sp>
        <p:nvSpPr>
          <p:cNvPr id="8" name="Picture Placeholder 6">
            <a:extLst>
              <a:ext uri="{FF2B5EF4-FFF2-40B4-BE49-F238E27FC236}">
                <a16:creationId xmlns:a16="http://schemas.microsoft.com/office/drawing/2014/main" id="{C619DA90-5716-16E7-D0C6-E0AD562F6B2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716463" y="1563688"/>
            <a:ext cx="3970337" cy="2663825"/>
          </a:xfrm>
        </p:spPr>
        <p:txBody>
          <a:bodyPr/>
          <a:lstStyle>
            <a:lvl1pPr>
              <a:buClr>
                <a:srgbClr val="FFF9A9"/>
              </a:buClr>
              <a:defRPr>
                <a:solidFill>
                  <a:schemeClr val="bg1">
                    <a:lumMod val="95000"/>
                  </a:schemeClr>
                </a:solidFill>
                <a:latin typeface="+mj-lt"/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16046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Media insert DAR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60A42B-155C-4E38-B2A4-05F9B3773F2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68313" y="411510"/>
            <a:ext cx="8208143" cy="4176464"/>
          </a:xfrm>
        </p:spPr>
        <p:txBody>
          <a:bodyPr/>
          <a:lstStyle>
            <a:lvl1pPr marL="342900" indent="-34290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1pPr>
            <a:lvl2pPr marL="7429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2pPr>
            <a:lvl3pPr marL="12001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3pPr>
            <a:lvl4pPr marL="16573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4pPr>
            <a:lvl5pPr marL="21145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4626547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286161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555526"/>
            <a:ext cx="8229600" cy="914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469927"/>
            <a:ext cx="8229600" cy="28229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0" r:id="rId1"/>
    <p:sldLayoutId id="2147483649" r:id="rId2"/>
    <p:sldLayoutId id="2147483693" r:id="rId3"/>
    <p:sldLayoutId id="2147483692" r:id="rId4"/>
    <p:sldLayoutId id="2147483696" r:id="rId5"/>
    <p:sldLayoutId id="2147483694" r:id="rId6"/>
    <p:sldLayoutId id="2147483691" r:id="rId7"/>
    <p:sldLayoutId id="2147483655" r:id="rId8"/>
    <p:sldLayoutId id="2147483695" r:id="rId9"/>
    <p:sldLayoutId id="2147483697" r:id="rId10"/>
    <p:sldLayoutId id="2147483698" r:id="rId11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3200" kern="1200" baseline="0">
          <a:solidFill>
            <a:srgbClr val="1A1B1B"/>
          </a:solidFill>
          <a:latin typeface="Roboto" panose="02000000000000000000" pitchFamily="2" charset="0"/>
          <a:ea typeface="+mj-ea"/>
          <a:cs typeface="Roboto" panose="02000000000000000000" pitchFamily="2" charset="0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2000" b="0" i="0" strike="noStrike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1pPr>
      <a:lvl2pPr marL="742950" indent="-28575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8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2pPr>
      <a:lvl3pPr marL="1257300" indent="-3429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8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3pPr>
      <a:lvl4pPr marL="1600200" indent="-2286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4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4pPr>
      <a:lvl5pPr marL="2057400" indent="-2286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4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Relationship Id="rId100" Type="http://schemas.openxmlformats.org/officeDocument/2006/relationships/image" Target="../media/gen-s1-1.png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Relationship Id="rId100" Type="http://schemas.openxmlformats.org/officeDocument/2006/relationships/image" Target="../media/gen-s2-1.png"/><Relationship Id="rId101" Type="http://schemas.openxmlformats.org/officeDocument/2006/relationships/image" Target="../media/gen-s2-2.png"/><Relationship Id="rId102" Type="http://schemas.openxmlformats.org/officeDocument/2006/relationships/image" Target="../media/gen-s2-3.png"/><Relationship Id="rId103" Type="http://schemas.openxmlformats.org/officeDocument/2006/relationships/image" Target="../media/gen-s2-4.png"/><Relationship Id="rId104" Type="http://schemas.openxmlformats.org/officeDocument/2006/relationships/image" Target="../media/gen-s2-5.png"/><Relationship Id="rId105" Type="http://schemas.openxmlformats.org/officeDocument/2006/relationships/image" Target="../media/gen-s2-6.png"/><Relationship Id="rId106" Type="http://schemas.openxmlformats.org/officeDocument/2006/relationships/image" Target="../media/gen-s2-7.png"/><Relationship Id="rId107" Type="http://schemas.openxmlformats.org/officeDocument/2006/relationships/image" Target="../media/gen-s2-8.png"/><Relationship Id="rId108" Type="http://schemas.openxmlformats.org/officeDocument/2006/relationships/image" Target="../media/gen-s2-9.png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4-1.png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5-1.png"/><Relationship Id="rId101" Type="http://schemas.openxmlformats.org/officeDocument/2006/relationships/image" Target="../media/gen-s5-2.png"/><Relationship Id="rId102" Type="http://schemas.openxmlformats.org/officeDocument/2006/relationships/image" Target="../media/gen-s5-3.png"/><Relationship Id="rId103" Type="http://schemas.openxmlformats.org/officeDocument/2006/relationships/image" Target="../media/gen-s5-4.png"/><Relationship Id="rId104" Type="http://schemas.openxmlformats.org/officeDocument/2006/relationships/image" Target="../media/gen-s5-5.png"/><Relationship Id="rId105" Type="http://schemas.openxmlformats.org/officeDocument/2006/relationships/image" Target="../media/gen-s5-6.png"/><Relationship Id="rId106" Type="http://schemas.openxmlformats.org/officeDocument/2006/relationships/image" Target="../media/gen-s5-7.png"/><Relationship Id="rId107" Type="http://schemas.openxmlformats.org/officeDocument/2006/relationships/image" Target="../media/gen-s5-8.png"/><Relationship Id="rId108" Type="http://schemas.openxmlformats.org/officeDocument/2006/relationships/image" Target="../media/gen-s5-9.png"/><Relationship Id="rId109" Type="http://schemas.openxmlformats.org/officeDocument/2006/relationships/image" Target="../media/gen-s5-10.png"/><Relationship Id="rId110" Type="http://schemas.openxmlformats.org/officeDocument/2006/relationships/image" Target="../media/gen-s5-11.png"/><Relationship Id="rId111" Type="http://schemas.openxmlformats.org/officeDocument/2006/relationships/image" Target="../media/gen-s5-12.png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11-1.png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13-1.png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14-1.png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18-1.png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19-1.png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25-1.png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27-1.png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28-1.png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33-1.png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37-1.png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41-1.png"/></Relationships>
</file>

<file path=ppt/slides/_rels/slide4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42-1.png"/></Relationships>
</file>

<file path=ppt/slides/_rels/slide4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Relationship Id="rId100" Type="http://schemas.openxmlformats.org/officeDocument/2006/relationships/image" Target="../media/gen-s44-1.png"/></Relationships>
</file>

<file path=ppt/slides/_rels/slide4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45-1.png"/></Relationships>
</file>

<file path=ppt/slides/_rels/slide4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48-1.png"/></Relationships>
</file>

<file path=ppt/slides/_rels/slide4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51-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ctrTitle"/>
          </p:nvPr>
        </p:nvSpPr>
        <p:spPr>
          <a:xfrm>
            <a:off x="640080" y="1325880"/>
            <a:ext cx="7863840" cy="1280160"/>
          </a:xfrm>
        </p:spPr>
        <p:txBody>
          <a:bodyPr anchor="ctr">
            <a:normAutofit/>
          </a:bodyPr>
          <a:lstStyle/>
          <a:p>
            <a:pPr/>
            <a:r>
              <a:rPr lang="en-US" sz="2600" dirty="0"/>
              <a:t>AVD Anywhere: Azure Virtual Desktop on Azure, Azure Local, and AVD Hybrid Platforms</a:t>
            </a:r>
          </a:p>
        </p:txBody>
      </p:sp>
      <p:sp>
        <p:nvSpPr>
          <p:cNvPr id="3" name="Speaker 3"/>
          <p:cNvSpPr>
            <a:spLocks noGrp="1"/>
          </p:cNvSpPr>
          <p:nvPr>
            <p:ph type="body" sz="quarter" idx="10"/>
          </p:nvPr>
        </p:nvSpPr>
        <p:spPr>
          <a:xfrm>
            <a:off x="640080" y="2743200"/>
            <a:ext cx="7863840" cy="457200"/>
          </a:xfrm>
        </p:spPr>
        <p:txBody>
          <a:bodyPr>
            <a:normAutofit/>
          </a:bodyPr>
          <a:lstStyle/>
          <a:p>
            <a:pPr algn="ctr"/>
            <a:r>
              <a:rPr lang="en-US" sz="1600" dirty="0"/>
              <a:t>Kristopher Turner · NIC 2026 · Wed 14 Oct, 13:20</a:t>
            </a:r>
          </a:p>
        </p:txBody>
      </p:sp>
      <p:pic>
        <p:nvPicPr>
          <p:cNvPr id="4" name="Title design 4" descr="Title slide designed as a boarding pass: AVD Anywhere, Azure Virtual Desktop on Azure, Azure Local, and AVD Hybrid Platforms. Passenger: you; destination: any. Captain Kristopher Turner, Wed 14 Oct, boarding 13:20, gate Room 5. Three terminals: A Azure, B Azure Local, C AVD Hybrid.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ing 2"/>
          <p:cNvSpPr/>
          <p:nvPr/>
        </p:nvSpPr>
        <p:spPr>
          <a:xfrm>
            <a:off x="502920" y="411480"/>
            <a:ext cx="2286000" cy="2286000"/>
          </a:xfrm>
          <a:prstGeom prst="ellipse">
            <a:avLst/>
          </a:prstGeom>
          <a:noFill/>
          <a:ln w="50800">
            <a:solidFill>
              <a:srgbClr val="1A1B1B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3" name="Headshot 3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4360" y="502920"/>
            <a:ext cx="2103120" cy="2103120"/>
          </a:xfrm>
          <a:prstGeom prst="ellipse">
            <a:avLst/>
          </a:prstGeom>
        </p:spPr>
      </p:pic>
      <p:sp>
        <p:nvSpPr>
          <p:cNvPr id="4" name="Title 4"/>
          <p:cNvSpPr>
            <a:spLocks noGrp="1"/>
          </p:cNvSpPr>
          <p:nvPr>
            <p:ph type="ctrTitle"/>
          </p:nvPr>
        </p:nvSpPr>
        <p:spPr>
          <a:xfrm>
            <a:off x="457200" y="2788920"/>
            <a:ext cx="3383280" cy="548640"/>
          </a:xfrm>
        </p:spPr>
        <p:txBody>
          <a:bodyPr anchor="ctr">
            <a:normAutofit/>
          </a:bodyPr>
          <a:lstStyle/>
          <a:p>
            <a:pPr algn="l"/>
            <a:r>
              <a:rPr lang="en-US" sz="2600" dirty="0"/>
              <a:t>Kristopher Turner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3364992"/>
            <a:ext cx="3383280" cy="822960"/>
          </a:xfrm>
          <a:prstGeom prst="rect">
            <a:avLst/>
          </a:prstGeom>
          <a:noFill/>
          <a:ln>
            <a:noFill/>
          </a:ln>
        </p:spPr>
        <p:txBody>
          <a:bodyPr wrap="square" lIns="91440" tIns="0" rIns="91440" bIns="0" rtlCol="0" anchor="t">
            <a:noAutofit/>
          </a:bodyPr>
          <a:lstStyle/>
          <a:p>
            <a:pPr/>
            <a:r>
              <a:rPr lang="en-US" sz="1300" i="1" dirty="0">
                <a:solidFill>
                  <a:srgbClr val="1A1B1B"/>
                </a:solidFill>
                <a:latin typeface="Roboto"/>
                <a:cs typeface="Roboto"/>
              </a:rPr>
              <a:t>Product Technology Architect</a:t>
            </a:r>
          </a:p>
          <a:p>
            <a:pPr>
              <a:spcBef>
                <a:spcPts val="200"/>
              </a:spcBef>
            </a:pPr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TierPoint</a:t>
            </a:r>
          </a:p>
          <a:p>
            <a:pPr>
              <a:spcBef>
                <a:spcPts val="200"/>
              </a:spcBef>
            </a:pPr>
            <a:r>
              <a:rPr lang="en-US" sz="1100" dirty="0">
                <a:solidFill>
                  <a:srgbClr val="193233"/>
                </a:solidFill>
                <a:latin typeface="Roboto"/>
                <a:cs typeface="Roboto"/>
              </a:rPr>
              <a:t>kris@hybridsolutions.cloud</a:t>
            </a:r>
          </a:p>
        </p:txBody>
      </p:sp>
      <p:sp>
        <p:nvSpPr>
          <p:cNvPr id="6" name="Credentials 6"/>
          <p:cNvSpPr/>
          <p:nvPr/>
        </p:nvSpPr>
        <p:spPr>
          <a:xfrm>
            <a:off x="3931920" y="365760"/>
            <a:ext cx="4754880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MVP 7"/>
          <p:cNvPicPr>
            <a:picLocks noChangeAspect="1"/>
          </p:cNvPicPr>
          <p:nvPr/>
        </p:nvPicPr>
        <p:blipFill>
          <a:blip r:embed="rId101"/>
          <a:stretch>
            <a:fillRect/>
          </a:stretch>
        </p:blipFill>
        <p:spPr>
          <a:xfrm>
            <a:off x="4160520" y="502920"/>
            <a:ext cx="566928" cy="822960"/>
          </a:xfrm>
          <a:prstGeom prst="rect">
            <a:avLst/>
          </a:prstGeom>
        </p:spPr>
      </p:pic>
      <p:pic>
        <p:nvPicPr>
          <p:cNvPr id="8" name="MCT 8"/>
          <p:cNvPicPr>
            <a:picLocks noChangeAspect="1"/>
          </p:cNvPicPr>
          <p:nvPr/>
        </p:nvPicPr>
        <p:blipFill>
          <a:blip r:embed="rId102"/>
          <a:stretch>
            <a:fillRect/>
          </a:stretch>
        </p:blipFill>
        <p:spPr>
          <a:xfrm>
            <a:off x="4892040" y="521208"/>
            <a:ext cx="822960" cy="795528"/>
          </a:xfrm>
          <a:prstGeom prst="rect">
            <a:avLst/>
          </a:prstGeom>
        </p:spPr>
      </p:pic>
      <p:sp>
        <p:nvSpPr>
          <p:cNvPr id="9" name="Text 9"/>
          <p:cNvSpPr txBox="1"/>
          <p:nvPr/>
        </p:nvSpPr>
        <p:spPr>
          <a:xfrm>
            <a:off x="5852160" y="548640"/>
            <a:ext cx="2743200" cy="731520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/>
            <a:r>
              <a:rPr lang="en-US" sz="1200" b="1" dirty="0">
                <a:solidFill>
                  <a:srgbClr val="1A1B1B"/>
                </a:solidFill>
                <a:latin typeface="Roboto"/>
                <a:cs typeface="Roboto"/>
              </a:rPr>
              <a:t>Microsoft MVP</a:t>
            </a:r>
          </a:p>
          <a:p>
            <a:pPr>
              <a:spcBef>
                <a:spcPts val="200"/>
              </a:spcBef>
            </a:pPr>
            <a:r>
              <a:rPr lang="en-US" sz="1100" dirty="0">
                <a:solidFill>
                  <a:srgbClr val="193233"/>
                </a:solidFill>
                <a:latin typeface="Roboto"/>
                <a:cs typeface="Roboto"/>
              </a:rPr>
              <a:t>Microsoft Certified Trainer</a:t>
            </a:r>
          </a:p>
        </p:txBody>
      </p:sp>
      <p:pic>
        <p:nvPicPr>
          <p:cNvPr id="10" name="Badge 10"/>
          <p:cNvPicPr>
            <a:picLocks noChangeAspect="1"/>
          </p:cNvPicPr>
          <p:nvPr/>
        </p:nvPicPr>
        <p:blipFill>
          <a:blip r:embed="rId103"/>
          <a:stretch>
            <a:fillRect/>
          </a:stretch>
        </p:blipFill>
        <p:spPr>
          <a:xfrm>
            <a:off x="4114800" y="1463040"/>
            <a:ext cx="640080" cy="640080"/>
          </a:xfrm>
          <a:prstGeom prst="rect">
            <a:avLst/>
          </a:prstGeom>
        </p:spPr>
      </p:pic>
      <p:pic>
        <p:nvPicPr>
          <p:cNvPr id="11" name="Badge 11"/>
          <p:cNvPicPr>
            <a:picLocks noChangeAspect="1"/>
          </p:cNvPicPr>
          <p:nvPr/>
        </p:nvPicPr>
        <p:blipFill>
          <a:blip r:embed="rId104"/>
          <a:stretch>
            <a:fillRect/>
          </a:stretch>
        </p:blipFill>
        <p:spPr>
          <a:xfrm>
            <a:off x="4864608" y="1463040"/>
            <a:ext cx="640080" cy="640080"/>
          </a:xfrm>
          <a:prstGeom prst="rect">
            <a:avLst/>
          </a:prstGeom>
        </p:spPr>
      </p:pic>
      <p:pic>
        <p:nvPicPr>
          <p:cNvPr id="12" name="Badge 12"/>
          <p:cNvPicPr>
            <a:picLocks noChangeAspect="1"/>
          </p:cNvPicPr>
          <p:nvPr/>
        </p:nvPicPr>
        <p:blipFill>
          <a:blip r:embed="rId105"/>
          <a:stretch>
            <a:fillRect/>
          </a:stretch>
        </p:blipFill>
        <p:spPr>
          <a:xfrm>
            <a:off x="5614416" y="1463040"/>
            <a:ext cx="640080" cy="640080"/>
          </a:xfrm>
          <a:prstGeom prst="rect">
            <a:avLst/>
          </a:prstGeom>
        </p:spPr>
      </p:pic>
      <p:pic>
        <p:nvPicPr>
          <p:cNvPr id="13" name="Badge 13"/>
          <p:cNvPicPr>
            <a:picLocks noChangeAspect="1"/>
          </p:cNvPicPr>
          <p:nvPr/>
        </p:nvPicPr>
        <p:blipFill>
          <a:blip r:embed="rId106"/>
          <a:stretch>
            <a:fillRect/>
          </a:stretch>
        </p:blipFill>
        <p:spPr>
          <a:xfrm>
            <a:off x="6364224" y="1463040"/>
            <a:ext cx="640080" cy="640080"/>
          </a:xfrm>
          <a:prstGeom prst="rect">
            <a:avLst/>
          </a:prstGeom>
        </p:spPr>
      </p:pic>
      <p:pic>
        <p:nvPicPr>
          <p:cNvPr id="14" name="Badge 14"/>
          <p:cNvPicPr>
            <a:picLocks noChangeAspect="1"/>
          </p:cNvPicPr>
          <p:nvPr/>
        </p:nvPicPr>
        <p:blipFill>
          <a:blip r:embed="rId107"/>
          <a:stretch>
            <a:fillRect/>
          </a:stretch>
        </p:blipFill>
        <p:spPr>
          <a:xfrm>
            <a:off x="7114032" y="1463040"/>
            <a:ext cx="640080" cy="640080"/>
          </a:xfrm>
          <a:prstGeom prst="rect">
            <a:avLst/>
          </a:prstGeom>
        </p:spPr>
      </p:pic>
      <p:pic>
        <p:nvPicPr>
          <p:cNvPr id="15" name="Badge 15"/>
          <p:cNvPicPr>
            <a:picLocks noChangeAspect="1"/>
          </p:cNvPicPr>
          <p:nvPr/>
        </p:nvPicPr>
        <p:blipFill>
          <a:blip r:embed="rId108"/>
          <a:stretch>
            <a:fillRect/>
          </a:stretch>
        </p:blipFill>
        <p:spPr>
          <a:xfrm>
            <a:off x="7863840" y="1463040"/>
            <a:ext cx="640080" cy="640080"/>
          </a:xfrm>
          <a:prstGeom prst="rect">
            <a:avLst/>
          </a:prstGeom>
        </p:spPr>
      </p:pic>
      <p:sp>
        <p:nvSpPr>
          <p:cNvPr id="16" name="Text 16"/>
          <p:cNvSpPr txBox="1"/>
          <p:nvPr/>
        </p:nvSpPr>
        <p:spPr>
          <a:xfrm>
            <a:off x="4114800" y="2103120"/>
            <a:ext cx="448056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650" dirty="0">
                <a:solidFill>
                  <a:srgbClr val="2E4546"/>
                </a:solidFill>
                <a:latin typeface="Roboto"/>
                <a:cs typeface="Roboto"/>
              </a:rPr>
              <a:t>Solutions Architect Expert · Security Engineer · Administrator · Hybrid Administrator · AVD Specialty · Stack Hub Operator</a:t>
            </a:r>
          </a:p>
        </p:txBody>
      </p:sp>
      <p:sp>
        <p:nvSpPr>
          <p:cNvPr id="17" name="Icon 17"/>
          <p:cNvSpPr/>
          <p:nvPr/>
        </p:nvSpPr>
        <p:spPr>
          <a:xfrm>
            <a:off x="3931920" y="2560320"/>
            <a:ext cx="347472" cy="347472"/>
          </a:xfrm>
          <a:prstGeom prst="roundRect">
            <a:avLst>
              <a:gd name="adj" fmla="val 14000"/>
            </a:avLst>
          </a:prstGeom>
          <a:solidFill>
            <a:srgbClr val="1A1B1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98F8FE"/>
                </a:solidFill>
                <a:latin typeface="Roboto"/>
                <a:cs typeface="Roboto"/>
              </a:rPr>
              <a:t>X</a:t>
            </a:r>
          </a:p>
        </p:txBody>
      </p:sp>
      <p:sp>
        <p:nvSpPr>
          <p:cNvPr id="18" name="Handle 18"/>
          <p:cNvSpPr/>
          <p:nvPr/>
        </p:nvSpPr>
        <p:spPr>
          <a:xfrm>
            <a:off x="4352544" y="2560320"/>
            <a:ext cx="19202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109728" tIns="0" rIns="73152" bIns="0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@CountryCloudBoy</a:t>
            </a:r>
          </a:p>
        </p:txBody>
      </p:sp>
      <p:sp>
        <p:nvSpPr>
          <p:cNvPr id="19" name="Icon 19"/>
          <p:cNvSpPr/>
          <p:nvPr/>
        </p:nvSpPr>
        <p:spPr>
          <a:xfrm>
            <a:off x="3931920" y="3017520"/>
            <a:ext cx="347472" cy="347472"/>
          </a:xfrm>
          <a:prstGeom prst="roundRect">
            <a:avLst>
              <a:gd name="adj" fmla="val 14000"/>
            </a:avLst>
          </a:prstGeom>
          <a:solidFill>
            <a:srgbClr val="1A1B1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98F8FE"/>
                </a:solidFill>
                <a:latin typeface="Roboto"/>
                <a:cs typeface="Roboto"/>
              </a:rPr>
              <a:t>in</a:t>
            </a:r>
          </a:p>
        </p:txBody>
      </p:sp>
      <p:sp>
        <p:nvSpPr>
          <p:cNvPr id="20" name="Handle 20"/>
          <p:cNvSpPr/>
          <p:nvPr/>
        </p:nvSpPr>
        <p:spPr>
          <a:xfrm>
            <a:off x="4352544" y="3017520"/>
            <a:ext cx="19202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109728" tIns="0" rIns="73152" bIns="0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kristopherjturner</a:t>
            </a:r>
          </a:p>
        </p:txBody>
      </p:sp>
      <p:sp>
        <p:nvSpPr>
          <p:cNvPr id="21" name="Icon 21"/>
          <p:cNvSpPr/>
          <p:nvPr/>
        </p:nvSpPr>
        <p:spPr>
          <a:xfrm>
            <a:off x="3931920" y="3474720"/>
            <a:ext cx="347472" cy="347472"/>
          </a:xfrm>
          <a:prstGeom prst="roundRect">
            <a:avLst>
              <a:gd name="adj" fmla="val 14000"/>
            </a:avLst>
          </a:prstGeom>
          <a:solidFill>
            <a:srgbClr val="1A1B1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98F8FE"/>
                </a:solidFill>
                <a:latin typeface="Roboto"/>
                <a:cs typeface="Roboto"/>
              </a:rPr>
              <a:t>▶</a:t>
            </a:r>
          </a:p>
        </p:txBody>
      </p:sp>
      <p:sp>
        <p:nvSpPr>
          <p:cNvPr id="22" name="Handle 22"/>
          <p:cNvSpPr/>
          <p:nvPr/>
        </p:nvSpPr>
        <p:spPr>
          <a:xfrm>
            <a:off x="4352544" y="3474720"/>
            <a:ext cx="19202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109728" tIns="0" rIns="73152" bIns="0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@CountryCloudBoy</a:t>
            </a:r>
          </a:p>
        </p:txBody>
      </p:sp>
      <p:sp>
        <p:nvSpPr>
          <p:cNvPr id="23" name="Icon 23"/>
          <p:cNvSpPr/>
          <p:nvPr/>
        </p:nvSpPr>
        <p:spPr>
          <a:xfrm>
            <a:off x="6355080" y="2560320"/>
            <a:ext cx="347472" cy="347472"/>
          </a:xfrm>
          <a:prstGeom prst="roundRect">
            <a:avLst>
              <a:gd name="adj" fmla="val 14000"/>
            </a:avLst>
          </a:prstGeom>
          <a:solidFill>
            <a:srgbClr val="1A1B1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98F8FE"/>
                </a:solidFill>
                <a:latin typeface="Roboto"/>
                <a:cs typeface="Roboto"/>
              </a:rPr>
              <a:t>www</a:t>
            </a:r>
          </a:p>
        </p:txBody>
      </p:sp>
      <p:sp>
        <p:nvSpPr>
          <p:cNvPr id="24" name="Handle 24"/>
          <p:cNvSpPr/>
          <p:nvPr/>
        </p:nvSpPr>
        <p:spPr>
          <a:xfrm>
            <a:off x="6775704" y="2560320"/>
            <a:ext cx="19202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109728" tIns="0" rIns="73152" bIns="0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kristopherjturner.me</a:t>
            </a:r>
          </a:p>
        </p:txBody>
      </p:sp>
      <p:sp>
        <p:nvSpPr>
          <p:cNvPr id="25" name="Icon 25"/>
          <p:cNvSpPr/>
          <p:nvPr/>
        </p:nvSpPr>
        <p:spPr>
          <a:xfrm>
            <a:off x="6355080" y="3017520"/>
            <a:ext cx="347472" cy="347472"/>
          </a:xfrm>
          <a:prstGeom prst="roundRect">
            <a:avLst>
              <a:gd name="adj" fmla="val 14000"/>
            </a:avLst>
          </a:prstGeom>
          <a:solidFill>
            <a:srgbClr val="1A1B1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98F8FE"/>
                </a:solidFill>
                <a:latin typeface="Roboto"/>
                <a:cs typeface="Roboto"/>
              </a:rPr>
              <a:t>GH</a:t>
            </a:r>
          </a:p>
        </p:txBody>
      </p:sp>
      <p:sp>
        <p:nvSpPr>
          <p:cNvPr id="26" name="Handle 26"/>
          <p:cNvSpPr/>
          <p:nvPr/>
        </p:nvSpPr>
        <p:spPr>
          <a:xfrm>
            <a:off x="6775704" y="3017520"/>
            <a:ext cx="19202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109728" tIns="0" rIns="73152" bIns="0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kristopherjturner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ctrTitle"/>
          </p:nvPr>
        </p:nvSpPr>
        <p:spPr>
          <a:xfrm>
            <a:off x="457200" y="182880"/>
            <a:ext cx="8229600" cy="603504"/>
          </a:xfrm>
        </p:spPr>
        <p:txBody>
          <a:bodyPr anchor="ctr">
            <a:normAutofit/>
          </a:bodyPr>
          <a:lstStyle/>
          <a:p>
            <a:pPr algn="l"/>
            <a:r>
              <a:rPr lang="en-US" sz="2450" dirty="0"/>
              <a:t>Home base: Virginia, USA</a:t>
            </a:r>
          </a:p>
        </p:txBody>
      </p:sp>
      <p:sp>
        <p:nvSpPr>
          <p:cNvPr id="3" name="Montage placeholder 3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A1B1B"/>
          </a:solidFill>
          <a:ln w="31750">
            <a:solidFill>
              <a:srgbClr val="1A1B1B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800" b="1" dirty="0">
                <a:solidFill>
                  <a:srgbClr val="98F8FE"/>
                </a:solidFill>
                <a:latin typeface="Roboto"/>
                <a:cs typeface="Roboto"/>
              </a:rPr>
              <a:t>Photo montage shown live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350" dirty="0"/>
              <a:t>Ask questions any time, and tell me to slow down</a:t>
            </a:r>
          </a:p>
        </p:txBody>
      </p:sp>
      <p:pic>
        <p:nvPicPr>
          <p:cNvPr id="3" name="Chart 3" descr="Ask questions any time, and tell me to slow down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ext 4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What we will do today: the Route Map</a:t>
            </a:r>
          </a:p>
        </p:txBody>
      </p:sp>
      <p:pic>
        <p:nvPicPr>
          <p:cNvPr id="3" name="Chart 3" descr="What we will do today: the Route Map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4" name="Build 1 4"/>
          <p:cNvPicPr>
            <a:picLocks noChangeAspect="1"/>
          </p:cNvPicPr>
          <p:nvPr/>
        </p:nvPicPr>
        <p:blipFill>
          <a:blip r:embed="rId10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5" name="Build 2 5"/>
          <p:cNvPicPr>
            <a:picLocks noChangeAspect="1"/>
          </p:cNvPicPr>
          <p:nvPr/>
        </p:nvPicPr>
        <p:blipFill>
          <a:blip r:embed="rId10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6" name="Build 3 6"/>
          <p:cNvPicPr>
            <a:picLocks noChangeAspect="1"/>
          </p:cNvPicPr>
          <p:nvPr/>
        </p:nvPicPr>
        <p:blipFill>
          <a:blip r:embed="rId10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7" name="Build 4 7"/>
          <p:cNvPicPr>
            <a:picLocks noChangeAspect="1"/>
          </p:cNvPicPr>
          <p:nvPr/>
        </p:nvPicPr>
        <p:blipFill>
          <a:blip r:embed="rId104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8" name="Build 5 8"/>
          <p:cNvPicPr>
            <a:picLocks noChangeAspect="1"/>
          </p:cNvPicPr>
          <p:nvPr/>
        </p:nvPicPr>
        <p:blipFill>
          <a:blip r:embed="rId105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9" name="Build 6 9"/>
          <p:cNvPicPr>
            <a:picLocks noChangeAspect="1"/>
          </p:cNvPicPr>
          <p:nvPr/>
        </p:nvPicPr>
        <p:blipFill>
          <a:blip r:embed="rId106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10" name="Build 7 10"/>
          <p:cNvPicPr>
            <a:picLocks noChangeAspect="1"/>
          </p:cNvPicPr>
          <p:nvPr/>
        </p:nvPicPr>
        <p:blipFill>
          <a:blip r:embed="rId107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11" name="Build 8 11"/>
          <p:cNvPicPr>
            <a:picLocks noChangeAspect="1"/>
          </p:cNvPicPr>
          <p:nvPr/>
        </p:nvPicPr>
        <p:blipFill>
          <a:blip r:embed="rId108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12" name="Build 9 12"/>
          <p:cNvPicPr>
            <a:picLocks noChangeAspect="1"/>
          </p:cNvPicPr>
          <p:nvPr/>
        </p:nvPicPr>
        <p:blipFill>
          <a:blip r:embed="rId109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13" name="Build 10 13"/>
          <p:cNvPicPr>
            <a:picLocks noChangeAspect="1"/>
          </p:cNvPicPr>
          <p:nvPr/>
        </p:nvPicPr>
        <p:blipFill>
          <a:blip r:embed="rId110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14" name="Build 11 14"/>
          <p:cNvPicPr>
            <a:picLocks noChangeAspect="1"/>
          </p:cNvPicPr>
          <p:nvPr/>
        </p:nvPicPr>
        <p:blipFill>
          <a:blip r:embed="rId11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5" name="Text 15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What is Azure Virtual Desktop?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Windows runs on virtual machines in a data centre; your users reach it from any device</a:t>
            </a:r>
          </a:p>
        </p:txBody>
      </p:sp>
      <p:sp>
        <p:nvSpPr>
          <p:cNvPr id="4" name="User 4"/>
          <p:cNvSpPr/>
          <p:nvPr/>
        </p:nvSpPr>
        <p:spPr>
          <a:xfrm>
            <a:off x="457200" y="2432304"/>
            <a:ext cx="1188720" cy="10515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400" b="1" dirty="0">
                <a:solidFill>
                  <a:srgbClr val="1A1B1B"/>
                </a:solidFill>
                <a:latin typeface="Roboto"/>
                <a:cs typeface="Roboto"/>
              </a:rPr>
              <a:t>Users</a:t>
            </a:r>
          </a:p>
          <a:p>
            <a:pPr algn="ctr">
              <a:spcBef>
                <a:spcPts val="300"/>
              </a:spcBef>
            </a:pPr>
            <a:r>
              <a:rPr lang="en-US" sz="950" dirty="0">
                <a:solidFill>
                  <a:srgbClr val="193233"/>
                </a:solidFill>
                <a:latin typeface="Roboto"/>
                <a:cs typeface="Roboto"/>
              </a:rPr>
              <a:t>any device: Windows App or a browser</a:t>
            </a:r>
          </a:p>
        </p:txBody>
      </p:sp>
      <p:cxnSp>
        <p:nvCxnSpPr>
          <p:cNvPr id="5" name="Arrow 5"/>
          <p:cNvCxnSpPr/>
          <p:nvPr/>
        </p:nvCxnSpPr>
        <p:spPr>
          <a:xfrm>
            <a:off x="1673352" y="2958084"/>
            <a:ext cx="219456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6" name="Microsoft runs 6"/>
          <p:cNvSpPr/>
          <p:nvPr/>
        </p:nvSpPr>
        <p:spPr>
          <a:xfrm>
            <a:off x="1920240" y="1472184"/>
            <a:ext cx="2148840" cy="2971800"/>
          </a:xfrm>
          <a:prstGeom prst="roundRect">
            <a:avLst>
              <a:gd name="adj" fmla="val 6000"/>
            </a:avLst>
          </a:prstGeom>
          <a:solidFill>
            <a:srgbClr val="193233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1920240" y="1527048"/>
            <a:ext cx="214884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000" b="1" spc="100" dirty="0">
                <a:solidFill>
                  <a:srgbClr val="FDBA12"/>
                </a:solidFill>
                <a:latin typeface="Roboto"/>
                <a:cs typeface="Roboto"/>
              </a:rPr>
              <a:t>MICROSOFT RUNS IT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2057400" y="1837944"/>
            <a:ext cx="1874520" cy="6400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200" b="1" dirty="0">
                <a:solidFill>
                  <a:srgbClr val="98F8FE"/>
                </a:solidFill>
                <a:latin typeface="Roboto"/>
                <a:cs typeface="Roboto"/>
              </a:rPr>
              <a:t>Entra ID</a:t>
            </a:r>
          </a:p>
          <a:p>
            <a:pPr/>
            <a:r>
              <a:rPr lang="en-US" sz="950" dirty="0">
                <a:solidFill>
                  <a:srgbClr val="98F8FE"/>
                </a:solidFill>
                <a:latin typeface="Roboto"/>
                <a:cs typeface="Roboto"/>
              </a:rPr>
              <a:t>sign-in and MFA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2057400" y="2478024"/>
            <a:ext cx="1874520" cy="6400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200" b="1" dirty="0">
                <a:solidFill>
                  <a:srgbClr val="98F8FE"/>
                </a:solidFill>
                <a:latin typeface="Roboto"/>
                <a:cs typeface="Roboto"/>
              </a:rPr>
              <a:t>Feed</a:t>
            </a:r>
          </a:p>
          <a:p>
            <a:pPr/>
            <a:r>
              <a:rPr lang="en-US" sz="950" dirty="0">
                <a:solidFill>
                  <a:srgbClr val="98F8FE"/>
                </a:solidFill>
                <a:latin typeface="Roboto"/>
                <a:cs typeface="Roboto"/>
              </a:rPr>
              <a:t>shows what the user may open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2057400" y="3118104"/>
            <a:ext cx="1874520" cy="6400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200" b="1" dirty="0">
                <a:solidFill>
                  <a:srgbClr val="98F8FE"/>
                </a:solidFill>
                <a:latin typeface="Roboto"/>
                <a:cs typeface="Roboto"/>
              </a:rPr>
              <a:t>Broker</a:t>
            </a:r>
          </a:p>
          <a:p>
            <a:pPr/>
            <a:r>
              <a:rPr lang="en-US" sz="950" dirty="0">
                <a:solidFill>
                  <a:srgbClr val="98F8FE"/>
                </a:solidFill>
                <a:latin typeface="Roboto"/>
                <a:cs typeface="Roboto"/>
              </a:rPr>
              <a:t>picks a session host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2057400" y="3758184"/>
            <a:ext cx="1874520" cy="6400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200" b="1" dirty="0">
                <a:solidFill>
                  <a:srgbClr val="98F8FE"/>
                </a:solidFill>
                <a:latin typeface="Roboto"/>
                <a:cs typeface="Roboto"/>
              </a:rPr>
              <a:t>Gateway</a:t>
            </a:r>
          </a:p>
          <a:p>
            <a:pPr/>
            <a:r>
              <a:rPr lang="en-US" sz="950" dirty="0">
                <a:solidFill>
                  <a:srgbClr val="98F8FE"/>
                </a:solidFill>
                <a:latin typeface="Roboto"/>
                <a:cs typeface="Roboto"/>
              </a:rPr>
              <a:t>carries the connection; no inbound ports</a:t>
            </a:r>
          </a:p>
        </p:txBody>
      </p:sp>
      <p:cxnSp>
        <p:nvCxnSpPr>
          <p:cNvPr id="12" name="Arrow 12"/>
          <p:cNvCxnSpPr/>
          <p:nvPr/>
        </p:nvCxnSpPr>
        <p:spPr>
          <a:xfrm>
            <a:off x="4096512" y="2958084"/>
            <a:ext cx="219456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3" name="You manage 13"/>
          <p:cNvSpPr/>
          <p:nvPr/>
        </p:nvSpPr>
        <p:spPr>
          <a:xfrm>
            <a:off x="4343400" y="1472184"/>
            <a:ext cx="4343400" cy="2971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4343400" y="1527048"/>
            <a:ext cx="434340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000" b="1" spc="100" dirty="0">
                <a:solidFill>
                  <a:srgbClr val="1A1B1B"/>
                </a:solidFill>
                <a:latin typeface="Roboto"/>
                <a:cs typeface="Roboto"/>
              </a:rPr>
              <a:t>YOU MANAGE IT</a:t>
            </a:r>
          </a:p>
        </p:txBody>
      </p:sp>
      <p:sp>
        <p:nvSpPr>
          <p:cNvPr id="15" name="Component 15"/>
          <p:cNvSpPr/>
          <p:nvPr/>
        </p:nvSpPr>
        <p:spPr>
          <a:xfrm>
            <a:off x="4480560" y="1892808"/>
            <a:ext cx="1325880" cy="429768"/>
          </a:xfrm>
          <a:prstGeom prst="roundRect">
            <a:avLst>
              <a:gd name="adj" fmla="val 16000"/>
            </a:avLst>
          </a:prstGeom>
          <a:solidFill>
            <a:srgbClr val="FDBA12"/>
          </a:solidFill>
          <a:ln w="12700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Workspace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5897880" y="1856232"/>
            <a:ext cx="269748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050" dirty="0">
                <a:solidFill>
                  <a:srgbClr val="1A1B1B"/>
                </a:solidFill>
                <a:latin typeface="Roboto"/>
                <a:cs typeface="Roboto"/>
              </a:rPr>
              <a:t>what users see in Windows App; it groups the application groups</a:t>
            </a:r>
          </a:p>
        </p:txBody>
      </p:sp>
      <p:sp>
        <p:nvSpPr>
          <p:cNvPr id="17" name="Component 17"/>
          <p:cNvSpPr/>
          <p:nvPr/>
        </p:nvSpPr>
        <p:spPr>
          <a:xfrm>
            <a:off x="4480560" y="2395728"/>
            <a:ext cx="1325880" cy="429768"/>
          </a:xfrm>
          <a:prstGeom prst="roundRect">
            <a:avLst>
              <a:gd name="adj" fmla="val 16000"/>
            </a:avLst>
          </a:prstGeom>
          <a:solidFill>
            <a:srgbClr val="FDBA12"/>
          </a:solidFill>
          <a:ln w="12700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Application group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5897880" y="2359152"/>
            <a:ext cx="269748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050" dirty="0">
                <a:solidFill>
                  <a:srgbClr val="1A1B1B"/>
                </a:solidFill>
                <a:latin typeface="Roboto"/>
                <a:cs typeface="Roboto"/>
              </a:rPr>
              <a:t>a full desktop or single apps (RemoteApp), assigned to users</a:t>
            </a:r>
          </a:p>
        </p:txBody>
      </p:sp>
      <p:sp>
        <p:nvSpPr>
          <p:cNvPr id="19" name="Component 19"/>
          <p:cNvSpPr/>
          <p:nvPr/>
        </p:nvSpPr>
        <p:spPr>
          <a:xfrm>
            <a:off x="4480560" y="2898648"/>
            <a:ext cx="1325880" cy="429768"/>
          </a:xfrm>
          <a:prstGeom prst="roundRect">
            <a:avLst>
              <a:gd name="adj" fmla="val 16000"/>
            </a:avLst>
          </a:prstGeom>
          <a:solidFill>
            <a:srgbClr val="FDBA12"/>
          </a:solidFill>
          <a:ln w="12700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Host pool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5897880" y="2862072"/>
            <a:ext cx="269748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050" dirty="0">
                <a:solidFill>
                  <a:srgbClr val="1A1B1B"/>
                </a:solidFill>
                <a:latin typeface="Roboto"/>
                <a:cs typeface="Roboto"/>
              </a:rPr>
              <a:t>a group of identical session hosts from one image; pooled (shared) or personal</a:t>
            </a:r>
          </a:p>
        </p:txBody>
      </p:sp>
      <p:sp>
        <p:nvSpPr>
          <p:cNvPr id="21" name="Component 21"/>
          <p:cNvSpPr/>
          <p:nvPr/>
        </p:nvSpPr>
        <p:spPr>
          <a:xfrm>
            <a:off x="4480560" y="3401568"/>
            <a:ext cx="1325880" cy="429768"/>
          </a:xfrm>
          <a:prstGeom prst="roundRect">
            <a:avLst>
              <a:gd name="adj" fmla="val 16000"/>
            </a:avLst>
          </a:prstGeom>
          <a:solidFill>
            <a:srgbClr val="193233"/>
          </a:solidFill>
          <a:ln w="12700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100" b="1" dirty="0">
                <a:solidFill>
                  <a:srgbClr val="98F8FE"/>
                </a:solidFill>
                <a:latin typeface="Roboto"/>
                <a:cs typeface="Roboto"/>
              </a:rPr>
              <a:t>Session host</a:t>
            </a:r>
          </a:p>
        </p:txBody>
      </p:sp>
      <p:sp>
        <p:nvSpPr>
          <p:cNvPr id="22" name="Text 22"/>
          <p:cNvSpPr txBox="1"/>
          <p:nvPr/>
        </p:nvSpPr>
        <p:spPr>
          <a:xfrm>
            <a:off x="5897880" y="3364992"/>
            <a:ext cx="269748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050" dirty="0">
                <a:solidFill>
                  <a:srgbClr val="1A1B1B"/>
                </a:solidFill>
                <a:latin typeface="Roboto"/>
                <a:cs typeface="Roboto"/>
              </a:rPr>
              <a:t>a Windows VM users work on; multi-session lets many share one (not on Hybrid)</a:t>
            </a:r>
          </a:p>
        </p:txBody>
      </p:sp>
      <p:sp>
        <p:nvSpPr>
          <p:cNvPr id="23" name="Component 23"/>
          <p:cNvSpPr/>
          <p:nvPr/>
        </p:nvSpPr>
        <p:spPr>
          <a:xfrm>
            <a:off x="4480560" y="3904488"/>
            <a:ext cx="1325880" cy="429768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Profile</a:t>
            </a:r>
          </a:p>
        </p:txBody>
      </p:sp>
      <p:sp>
        <p:nvSpPr>
          <p:cNvPr id="24" name="Text 24"/>
          <p:cNvSpPr txBox="1"/>
          <p:nvPr/>
        </p:nvSpPr>
        <p:spPr>
          <a:xfrm>
            <a:off x="5897880" y="3867912"/>
            <a:ext cx="269748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050" dirty="0">
                <a:solidFill>
                  <a:srgbClr val="1A1B1B"/>
                </a:solidFill>
                <a:latin typeface="Roboto"/>
                <a:cs typeface="Roboto"/>
              </a:rPr>
              <a:t>FSLogix: the user profile on a file share; follows them to any host using that share</a:t>
            </a:r>
          </a:p>
        </p:txBody>
      </p:sp>
      <p:cxnSp>
        <p:nvCxnSpPr>
          <p:cNvPr id="25" name="Line 2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26" name="Node 2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28" name="Node 28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9" name="Text 2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30" name="Node 3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31" name="Text 3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32" name="Text 3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Today: one AVD service, three terminals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193233"/>
                </a:solidFill>
                <a:latin typeface="Roboto"/>
                <a:cs typeface="Roboto"/>
              </a:rPr>
              <a:t>The AVD service stays in Azure; only the session hosts move: Azure, your Azure Local site, or your own hypervisor.</a:t>
            </a:r>
          </a:p>
        </p:txBody>
      </p:sp>
      <p:sp>
        <p:nvSpPr>
          <p:cNvPr id="4" name="Control plane 4"/>
          <p:cNvSpPr/>
          <p:nvPr/>
        </p:nvSpPr>
        <p:spPr>
          <a:xfrm>
            <a:off x="457200" y="1408176"/>
            <a:ext cx="8229600" cy="457200"/>
          </a:xfrm>
          <a:prstGeom prst="roundRect">
            <a:avLst>
              <a:gd name="adj" fmla="val 14000"/>
            </a:avLst>
          </a:prstGeom>
          <a:solidFill>
            <a:srgbClr val="193233"/>
          </a:solidFill>
          <a:ln w="19050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900" b="1" spc="80" dirty="0">
                <a:solidFill>
                  <a:srgbClr val="FDBA12"/>
                </a:solidFill>
                <a:latin typeface="Roboto"/>
                <a:cs typeface="Roboto"/>
              </a:rPr>
              <a:t>AZURE  ·  MICROSOFT RUNS IT   </a:t>
            </a:r>
            <a:r>
              <a:rPr lang="en-US" sz="1200" b="1" dirty="0">
                <a:solidFill>
                  <a:srgbClr val="98F8FE"/>
                </a:solidFill>
                <a:latin typeface="Roboto"/>
                <a:cs typeface="Roboto"/>
              </a:rPr>
              <a:t>web feed · broker · gateway · resource directory · diagnostics   |   Entra ID signs users in</a:t>
            </a:r>
          </a:p>
        </p:txBody>
      </p:sp>
      <p:sp>
        <p:nvSpPr>
          <p:cNvPr id="5" name="Your Azure resources 5"/>
          <p:cNvSpPr/>
          <p:nvPr/>
        </p:nvSpPr>
        <p:spPr>
          <a:xfrm>
            <a:off x="457200" y="1911096"/>
            <a:ext cx="8229600" cy="256032"/>
          </a:xfrm>
          <a:prstGeom prst="roundRect">
            <a:avLst>
              <a:gd name="adj" fmla="val 30000"/>
            </a:avLst>
          </a:prstGeom>
          <a:solidFill>
            <a:srgbClr val="FDBA12"/>
          </a:solidFill>
          <a:ln w="12700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000" b="1" dirty="0">
                <a:solidFill>
                  <a:srgbClr val="1A1B1B"/>
                </a:solidFill>
                <a:latin typeface="Roboto"/>
                <a:cs typeface="Roboto"/>
              </a:rPr>
              <a:t>Yours, in Azure, for all three: workspace · application groups · one host pool per terminal · AVD Insights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457200" y="2176272"/>
            <a:ext cx="8229600" cy="20116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900" i="1" dirty="0">
                <a:solidFill>
                  <a:srgbClr val="193233"/>
                </a:solidFill>
                <a:latin typeface="Roboto"/>
                <a:cs typeface="Roboto"/>
              </a:rPr>
              <a:t>▲  every session host connects out to Azure on TCP 443: you open no inbound ports  ▲</a:t>
            </a:r>
          </a:p>
        </p:txBody>
      </p:sp>
      <p:sp>
        <p:nvSpPr>
          <p:cNvPr id="7" name="Terminal 7"/>
          <p:cNvSpPr/>
          <p:nvPr/>
        </p:nvSpPr>
        <p:spPr>
          <a:xfrm>
            <a:off x="457200" y="2395728"/>
            <a:ext cx="2633472" cy="20482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Gate board 8"/>
          <p:cNvSpPr/>
          <p:nvPr/>
        </p:nvSpPr>
        <p:spPr>
          <a:xfrm>
            <a:off x="457200" y="2395728"/>
            <a:ext cx="2633472" cy="457200"/>
          </a:xfrm>
          <a:prstGeom prst="round2SameRect">
            <a:avLst/>
          </a:prstGeom>
          <a:solidFill>
            <a:srgbClr val="193233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050" b="1" dirty="0">
                <a:solidFill>
                  <a:srgbClr val="98F8FE"/>
                </a:solidFill>
                <a:latin typeface="Roboto"/>
                <a:cs typeface="Roboto"/>
              </a:rPr>
              <a:t>✈  TERMINAL A · AVD on Azure</a:t>
            </a:r>
          </a:p>
          <a:p>
            <a:pPr algn="ctr"/>
            <a:r>
              <a:rPr lang="en-US" sz="850" dirty="0">
                <a:solidFill>
                  <a:srgbClr val="98F8FE"/>
                </a:solidFill>
                <a:latin typeface="Roboto"/>
                <a:cs typeface="Roboto"/>
              </a:rPr>
              <a:t>Microsoft's cloud, multi-session hosts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530352" y="2880360"/>
            <a:ext cx="2487168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00" b="1" dirty="0">
                <a:solidFill>
                  <a:srgbClr val="2E4546"/>
                </a:solidFill>
                <a:latin typeface="Roboto"/>
                <a:cs typeface="Roboto"/>
              </a:rPr>
              <a:t>Hosts  </a:t>
            </a:r>
            <a:r>
              <a:rPr lang="en-US" sz="950" dirty="0">
                <a:solidFill>
                  <a:srgbClr val="1A1B1B"/>
                </a:solidFill>
                <a:latin typeface="Roboto"/>
                <a:cs typeface="Roboto"/>
              </a:rPr>
              <a:t>Azure VMs in your VNet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530352" y="3136392"/>
            <a:ext cx="2487168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00" b="1" dirty="0">
                <a:solidFill>
                  <a:srgbClr val="2E4546"/>
                </a:solidFill>
                <a:latin typeface="Roboto"/>
                <a:cs typeface="Roboto"/>
              </a:rPr>
              <a:t>AVD agent  </a:t>
            </a:r>
            <a:r>
              <a:rPr lang="en-US" sz="950" dirty="0">
                <a:solidFill>
                  <a:srgbClr val="1A1B1B"/>
                </a:solidFill>
                <a:latin typeface="Roboto"/>
                <a:cs typeface="Roboto"/>
              </a:rPr>
              <a:t>Portal: DSC extension + reg. key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530352" y="3392424"/>
            <a:ext cx="2487168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00" b="1" dirty="0">
                <a:solidFill>
                  <a:srgbClr val="2E4546"/>
                </a:solidFill>
                <a:latin typeface="Roboto"/>
                <a:cs typeface="Roboto"/>
              </a:rPr>
              <a:t>Reach Azure  </a:t>
            </a:r>
            <a:r>
              <a:rPr lang="en-US" sz="950" dirty="0">
                <a:solidFill>
                  <a:srgbClr val="1A1B1B"/>
                </a:solidFill>
                <a:latin typeface="Roboto"/>
                <a:cs typeface="Roboto"/>
              </a:rPr>
              <a:t>Direct outbound to AVD URLs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530352" y="3648456"/>
            <a:ext cx="2487168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00" b="1" dirty="0">
                <a:solidFill>
                  <a:srgbClr val="2E4546"/>
                </a:solidFill>
                <a:latin typeface="Roboto"/>
                <a:cs typeface="Roboto"/>
              </a:rPr>
              <a:t>Join  </a:t>
            </a:r>
            <a:r>
              <a:rPr lang="en-US" sz="950" dirty="0">
                <a:solidFill>
                  <a:srgbClr val="1A1B1B"/>
                </a:solidFill>
                <a:latin typeface="Roboto"/>
                <a:cs typeface="Roboto"/>
              </a:rPr>
              <a:t>Entra ID or AD DS (hybrid join)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530352" y="3904488"/>
            <a:ext cx="2487168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00" b="1" dirty="0">
                <a:solidFill>
                  <a:srgbClr val="2E4546"/>
                </a:solidFill>
                <a:latin typeface="Roboto"/>
                <a:cs typeface="Roboto"/>
              </a:rPr>
              <a:t>Profiles  </a:t>
            </a:r>
            <a:r>
              <a:rPr lang="en-US" sz="950" dirty="0">
                <a:solidFill>
                  <a:srgbClr val="1A1B1B"/>
                </a:solidFill>
                <a:latin typeface="Roboto"/>
                <a:cs typeface="Roboto"/>
              </a:rPr>
              <a:t>FSLogix on Azure Files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530352" y="4160520"/>
            <a:ext cx="2487168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00" b="1" dirty="0">
                <a:solidFill>
                  <a:srgbClr val="2E4546"/>
                </a:solidFill>
                <a:latin typeface="Roboto"/>
                <a:cs typeface="Roboto"/>
              </a:rPr>
              <a:t>Extras  </a:t>
            </a:r>
            <a:r>
              <a:rPr lang="en-US" sz="950" dirty="0">
                <a:solidFill>
                  <a:srgbClr val="1A1B1B"/>
                </a:solidFill>
                <a:latin typeface="Roboto"/>
                <a:cs typeface="Roboto"/>
              </a:rPr>
              <a:t>Autoscale, Start VM on Connect</a:t>
            </a:r>
          </a:p>
        </p:txBody>
      </p:sp>
      <p:sp>
        <p:nvSpPr>
          <p:cNvPr id="15" name="Terminal 15"/>
          <p:cNvSpPr/>
          <p:nvPr/>
        </p:nvSpPr>
        <p:spPr>
          <a:xfrm>
            <a:off x="3255264" y="2395728"/>
            <a:ext cx="2633472" cy="20482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Gate board 16"/>
          <p:cNvSpPr/>
          <p:nvPr/>
        </p:nvSpPr>
        <p:spPr>
          <a:xfrm>
            <a:off x="3255264" y="2395728"/>
            <a:ext cx="2633472" cy="457200"/>
          </a:xfrm>
          <a:prstGeom prst="round2SameRect">
            <a:avLst/>
          </a:prstGeom>
          <a:solidFill>
            <a:srgbClr val="FDBA12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050" b="1" dirty="0">
                <a:solidFill>
                  <a:srgbClr val="1A1B1B"/>
                </a:solidFill>
                <a:latin typeface="Roboto"/>
                <a:cs typeface="Roboto"/>
              </a:rPr>
              <a:t>✈  TERMINAL B · AVD on Azure Local</a:t>
            </a:r>
          </a:p>
          <a:p>
            <a:pPr algn="ctr"/>
            <a:r>
              <a:rPr lang="en-US" sz="850" dirty="0">
                <a:solidFill>
                  <a:srgbClr val="1A1B1B"/>
                </a:solidFill>
                <a:latin typeface="Roboto"/>
                <a:cs typeface="Roboto"/>
              </a:rPr>
              <a:t>Your site, Arc VMs, multi-session too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3328416" y="2880360"/>
            <a:ext cx="2487168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00" b="1" dirty="0">
                <a:solidFill>
                  <a:srgbClr val="2E4546"/>
                </a:solidFill>
                <a:latin typeface="Roboto"/>
                <a:cs typeface="Roboto"/>
              </a:rPr>
              <a:t>Hosts  </a:t>
            </a:r>
            <a:r>
              <a:rPr lang="en-US" sz="950" dirty="0">
                <a:solidFill>
                  <a:srgbClr val="1A1B1B"/>
                </a:solidFill>
                <a:latin typeface="Roboto"/>
                <a:cs typeface="Roboto"/>
              </a:rPr>
              <a:t>Azure Local VMs (Arc VMs) on site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3328416" y="3136392"/>
            <a:ext cx="2487168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00" b="1" dirty="0">
                <a:solidFill>
                  <a:srgbClr val="2E4546"/>
                </a:solidFill>
                <a:latin typeface="Roboto"/>
                <a:cs typeface="Roboto"/>
              </a:rPr>
              <a:t>AVD agent  </a:t>
            </a:r>
            <a:r>
              <a:rPr lang="en-US" sz="950" dirty="0">
                <a:solidFill>
                  <a:srgbClr val="1A1B1B"/>
                </a:solidFill>
                <a:latin typeface="Roboto"/>
                <a:cs typeface="Roboto"/>
              </a:rPr>
              <a:t>Portal: Custom Script ext. + key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3328416" y="3392424"/>
            <a:ext cx="2487168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00" b="1" dirty="0">
                <a:solidFill>
                  <a:srgbClr val="2E4546"/>
                </a:solidFill>
                <a:latin typeface="Roboto"/>
                <a:cs typeface="Roboto"/>
              </a:rPr>
              <a:t>Reach Azure  </a:t>
            </a:r>
            <a:r>
              <a:rPr lang="en-US" sz="950" dirty="0">
                <a:solidFill>
                  <a:srgbClr val="1A1B1B"/>
                </a:solidFill>
                <a:latin typeface="Roboto"/>
                <a:cs typeface="Roboto"/>
              </a:rPr>
              <a:t>Arc + outbound to AVD URLs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3328416" y="3648456"/>
            <a:ext cx="2487168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00" b="1" dirty="0">
                <a:solidFill>
                  <a:srgbClr val="2E4546"/>
                </a:solidFill>
                <a:latin typeface="Roboto"/>
                <a:cs typeface="Roboto"/>
              </a:rPr>
              <a:t>Join  </a:t>
            </a:r>
            <a:r>
              <a:rPr lang="en-US" sz="950" dirty="0">
                <a:solidFill>
                  <a:srgbClr val="1A1B1B"/>
                </a:solidFill>
                <a:latin typeface="Roboto"/>
                <a:cs typeface="Roboto"/>
              </a:rPr>
              <a:t>Portal: AD DS; Entra by PowerShell</a:t>
            </a:r>
          </a:p>
        </p:txBody>
      </p:sp>
      <p:sp>
        <p:nvSpPr>
          <p:cNvPr id="21" name="Text 21"/>
          <p:cNvSpPr txBox="1"/>
          <p:nvPr/>
        </p:nvSpPr>
        <p:spPr>
          <a:xfrm>
            <a:off x="3328416" y="3904488"/>
            <a:ext cx="2487168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00" b="1" dirty="0">
                <a:solidFill>
                  <a:srgbClr val="2E4546"/>
                </a:solidFill>
                <a:latin typeface="Roboto"/>
                <a:cs typeface="Roboto"/>
              </a:rPr>
              <a:t>Profiles  </a:t>
            </a:r>
            <a:r>
              <a:rPr lang="en-US" sz="950" dirty="0">
                <a:solidFill>
                  <a:srgbClr val="1A1B1B"/>
                </a:solidFill>
                <a:latin typeface="Roboto"/>
                <a:cs typeface="Roboto"/>
              </a:rPr>
              <a:t>FSLogix on an SMB share on site</a:t>
            </a:r>
          </a:p>
        </p:txBody>
      </p:sp>
      <p:sp>
        <p:nvSpPr>
          <p:cNvPr id="22" name="Text 22"/>
          <p:cNvSpPr txBox="1"/>
          <p:nvPr/>
        </p:nvSpPr>
        <p:spPr>
          <a:xfrm>
            <a:off x="3328416" y="4160520"/>
            <a:ext cx="2487168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00" b="1" dirty="0">
                <a:solidFill>
                  <a:srgbClr val="2E4546"/>
                </a:solidFill>
                <a:latin typeface="Roboto"/>
                <a:cs typeface="Roboto"/>
              </a:rPr>
              <a:t>Extras  </a:t>
            </a:r>
            <a:r>
              <a:rPr lang="en-US" sz="950" dirty="0">
                <a:solidFill>
                  <a:srgbClr val="1A1B1B"/>
                </a:solidFill>
                <a:latin typeface="Roboto"/>
                <a:cs typeface="Roboto"/>
              </a:rPr>
              <a:t>Start VM on Connect; Arc lifecycle</a:t>
            </a:r>
          </a:p>
        </p:txBody>
      </p:sp>
      <p:sp>
        <p:nvSpPr>
          <p:cNvPr id="23" name="Terminal 23"/>
          <p:cNvSpPr/>
          <p:nvPr/>
        </p:nvSpPr>
        <p:spPr>
          <a:xfrm>
            <a:off x="6053328" y="2395728"/>
            <a:ext cx="2633472" cy="20482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4" name="Gate board 24"/>
          <p:cNvSpPr/>
          <p:nvPr/>
        </p:nvSpPr>
        <p:spPr>
          <a:xfrm>
            <a:off x="6053328" y="2395728"/>
            <a:ext cx="2633472" cy="457200"/>
          </a:xfrm>
          <a:prstGeom prst="round2SameRect">
            <a:avLst/>
          </a:prstGeom>
          <a:solidFill>
            <a:srgbClr val="1A1B1B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050" b="1" dirty="0">
                <a:solidFill>
                  <a:srgbClr val="FDBA12"/>
                </a:solidFill>
                <a:latin typeface="Roboto"/>
                <a:cs typeface="Roboto"/>
              </a:rPr>
              <a:t>✈  TERMINAL C · AVD Hybrid</a:t>
            </a:r>
          </a:p>
          <a:p>
            <a:pPr algn="ctr"/>
            <a:r>
              <a:rPr lang="en-US" sz="850" dirty="0">
                <a:solidFill>
                  <a:srgbClr val="FDBA12"/>
                </a:solidFill>
                <a:latin typeface="Roboto"/>
                <a:cs typeface="Roboto"/>
              </a:rPr>
              <a:t>Your hypervisor or server, one user each</a:t>
            </a:r>
          </a:p>
        </p:txBody>
      </p:sp>
      <p:sp>
        <p:nvSpPr>
          <p:cNvPr id="25" name="Text 25"/>
          <p:cNvSpPr txBox="1"/>
          <p:nvPr/>
        </p:nvSpPr>
        <p:spPr>
          <a:xfrm>
            <a:off x="6126480" y="2880360"/>
            <a:ext cx="2487168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00" b="1" dirty="0">
                <a:solidFill>
                  <a:srgbClr val="2E4546"/>
                </a:solidFill>
                <a:latin typeface="Roboto"/>
                <a:cs typeface="Roboto"/>
              </a:rPr>
              <a:t>Hosts  </a:t>
            </a:r>
            <a:r>
              <a:rPr lang="en-US" sz="950" dirty="0">
                <a:solidFill>
                  <a:srgbClr val="1A1B1B"/>
                </a:solidFill>
                <a:latin typeface="Roboto"/>
                <a:cs typeface="Roboto"/>
              </a:rPr>
              <a:t>Any hypervisor VM, headless server</a:t>
            </a:r>
          </a:p>
        </p:txBody>
      </p:sp>
      <p:sp>
        <p:nvSpPr>
          <p:cNvPr id="26" name="Text 26"/>
          <p:cNvSpPr txBox="1"/>
          <p:nvPr/>
        </p:nvSpPr>
        <p:spPr>
          <a:xfrm>
            <a:off x="6126480" y="3136392"/>
            <a:ext cx="2487168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00" b="1" dirty="0">
                <a:solidFill>
                  <a:srgbClr val="2E4546"/>
                </a:solidFill>
                <a:latin typeface="Roboto"/>
                <a:cs typeface="Roboto"/>
              </a:rPr>
              <a:t>AVD agent  </a:t>
            </a:r>
            <a:r>
              <a:rPr lang="en-US" sz="950" dirty="0">
                <a:solidFill>
                  <a:srgbClr val="1A1B1B"/>
                </a:solidFill>
                <a:latin typeface="Roboto"/>
                <a:cs typeface="Roboto"/>
              </a:rPr>
              <a:t>Arc extension: AVD Hybrid</a:t>
            </a:r>
          </a:p>
        </p:txBody>
      </p:sp>
      <p:sp>
        <p:nvSpPr>
          <p:cNvPr id="27" name="Text 27"/>
          <p:cNvSpPr txBox="1"/>
          <p:nvPr/>
        </p:nvSpPr>
        <p:spPr>
          <a:xfrm>
            <a:off x="6126480" y="3392424"/>
            <a:ext cx="2487168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00" b="1" dirty="0">
                <a:solidFill>
                  <a:srgbClr val="2E4546"/>
                </a:solidFill>
                <a:latin typeface="Roboto"/>
                <a:cs typeface="Roboto"/>
              </a:rPr>
              <a:t>Reach Azure  </a:t>
            </a:r>
            <a:r>
              <a:rPr lang="en-US" sz="950" dirty="0">
                <a:solidFill>
                  <a:srgbClr val="1A1B1B"/>
                </a:solidFill>
                <a:latin typeface="Roboto"/>
                <a:cs typeface="Roboto"/>
              </a:rPr>
              <a:t>Arc agent + outbound 443</a:t>
            </a:r>
          </a:p>
        </p:txBody>
      </p:sp>
      <p:sp>
        <p:nvSpPr>
          <p:cNvPr id="28" name="Text 28"/>
          <p:cNvSpPr txBox="1"/>
          <p:nvPr/>
        </p:nvSpPr>
        <p:spPr>
          <a:xfrm>
            <a:off x="6126480" y="3648456"/>
            <a:ext cx="2487168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00" b="1" dirty="0">
                <a:solidFill>
                  <a:srgbClr val="2E4546"/>
                </a:solidFill>
                <a:latin typeface="Roboto"/>
                <a:cs typeface="Roboto"/>
              </a:rPr>
              <a:t>Join  </a:t>
            </a:r>
            <a:r>
              <a:rPr lang="en-US" sz="950" dirty="0">
                <a:solidFill>
                  <a:srgbClr val="1A1B1B"/>
                </a:solidFill>
                <a:latin typeface="Roboto"/>
                <a:cs typeface="Roboto"/>
              </a:rPr>
              <a:t>Win 11: Entra or AD; Server: AD</a:t>
            </a:r>
          </a:p>
        </p:txBody>
      </p:sp>
      <p:sp>
        <p:nvSpPr>
          <p:cNvPr id="29" name="Text 29"/>
          <p:cNvSpPr txBox="1"/>
          <p:nvPr/>
        </p:nvSpPr>
        <p:spPr>
          <a:xfrm>
            <a:off x="6126480" y="3904488"/>
            <a:ext cx="2487168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00" b="1" dirty="0">
                <a:solidFill>
                  <a:srgbClr val="2E4546"/>
                </a:solidFill>
                <a:latin typeface="Roboto"/>
                <a:cs typeface="Roboto"/>
              </a:rPr>
              <a:t>Profiles  </a:t>
            </a:r>
            <a:r>
              <a:rPr lang="en-US" sz="950" dirty="0">
                <a:solidFill>
                  <a:srgbClr val="1A1B1B"/>
                </a:solidFill>
                <a:latin typeface="Roboto"/>
                <a:cs typeface="Roboto"/>
              </a:rPr>
              <a:t>FSLogix on your own SMB share</a:t>
            </a:r>
          </a:p>
        </p:txBody>
      </p:sp>
      <p:sp>
        <p:nvSpPr>
          <p:cNvPr id="30" name="Text 30"/>
          <p:cNvSpPr txBox="1"/>
          <p:nvPr/>
        </p:nvSpPr>
        <p:spPr>
          <a:xfrm>
            <a:off x="6126480" y="4160520"/>
            <a:ext cx="2487168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00" b="1" dirty="0">
                <a:solidFill>
                  <a:srgbClr val="2E4546"/>
                </a:solidFill>
                <a:latin typeface="Roboto"/>
                <a:cs typeface="Roboto"/>
              </a:rPr>
              <a:t>Extras  </a:t>
            </a:r>
            <a:r>
              <a:rPr lang="en-US" sz="950" dirty="0">
                <a:solidFill>
                  <a:srgbClr val="1A1B1B"/>
                </a:solidFill>
                <a:latin typeface="Roboto"/>
                <a:cs typeface="Roboto"/>
              </a:rPr>
              <a:t>You power it: no autoscale</a:t>
            </a:r>
          </a:p>
        </p:txBody>
      </p:sp>
      <p:cxnSp>
        <p:nvCxnSpPr>
          <p:cNvPr id="31" name="Line 31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32" name="Node 32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33" name="Text 33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34" name="Node 34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35" name="Text 35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36" name="Node 3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37" name="Text 3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38" name="Text 3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How a user connects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Every connection starts in Azure; then RDP Shortpath takes the shortest path it can.</a:t>
            </a:r>
          </a:p>
        </p:txBody>
      </p:sp>
      <p:sp>
        <p:nvSpPr>
          <p:cNvPr id="4" name="Step 4"/>
          <p:cNvSpPr/>
          <p:nvPr/>
        </p:nvSpPr>
        <p:spPr>
          <a:xfrm>
            <a:off x="457200" y="1570939"/>
            <a:ext cx="347472" cy="347472"/>
          </a:xfrm>
          <a:prstGeom prst="ellipse">
            <a:avLst/>
          </a:prstGeom>
          <a:solidFill>
            <a:srgbClr val="193233"/>
          </a:solidFill>
          <a:ln w="12700">
            <a:solidFill>
              <a:srgbClr val="19323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1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896112" y="1444752"/>
            <a:ext cx="3703320" cy="599846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150" dirty="0">
                <a:solidFill>
                  <a:srgbClr val="1A1B1B"/>
                </a:solidFill>
                <a:latin typeface="Roboto"/>
                <a:cs typeface="Roboto"/>
              </a:rPr>
              <a:t>Windows App: sign in with Entra ID, get the feed of desktops and apps</a:t>
            </a:r>
          </a:p>
        </p:txBody>
      </p:sp>
      <p:sp>
        <p:nvSpPr>
          <p:cNvPr id="6" name="Step 6"/>
          <p:cNvSpPr/>
          <p:nvPr/>
        </p:nvSpPr>
        <p:spPr>
          <a:xfrm>
            <a:off x="457200" y="2170786"/>
            <a:ext cx="347472" cy="347472"/>
          </a:xfrm>
          <a:prstGeom prst="ellipse">
            <a:avLst/>
          </a:prstGeom>
          <a:solidFill>
            <a:srgbClr val="193233"/>
          </a:solidFill>
          <a:ln w="12700">
            <a:solidFill>
              <a:srgbClr val="19323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2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896112" y="2044598"/>
            <a:ext cx="3703320" cy="599846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150" dirty="0">
                <a:solidFill>
                  <a:srgbClr val="1A1B1B"/>
                </a:solidFill>
                <a:latin typeface="Roboto"/>
                <a:cs typeface="Roboto"/>
              </a:rPr>
              <a:t>Pick a desktop: the client opens TLS 443 to the nearest gateway</a:t>
            </a:r>
          </a:p>
        </p:txBody>
      </p:sp>
      <p:sp>
        <p:nvSpPr>
          <p:cNvPr id="8" name="Step 8"/>
          <p:cNvSpPr/>
          <p:nvPr/>
        </p:nvSpPr>
        <p:spPr>
          <a:xfrm>
            <a:off x="457200" y="2770632"/>
            <a:ext cx="347472" cy="347472"/>
          </a:xfrm>
          <a:prstGeom prst="ellipse">
            <a:avLst/>
          </a:prstGeom>
          <a:solidFill>
            <a:srgbClr val="193233"/>
          </a:solidFill>
          <a:ln w="12700">
            <a:solidFill>
              <a:srgbClr val="19323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3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896112" y="2644445"/>
            <a:ext cx="3703320" cy="599846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150" dirty="0">
                <a:solidFill>
                  <a:srgbClr val="1A1B1B"/>
                </a:solidFill>
                <a:latin typeface="Roboto"/>
                <a:cs typeface="Roboto"/>
              </a:rPr>
              <a:t>The broker tells the session host to dial out to the same gateway</a:t>
            </a:r>
          </a:p>
        </p:txBody>
      </p:sp>
      <p:sp>
        <p:nvSpPr>
          <p:cNvPr id="10" name="Step 10"/>
          <p:cNvSpPr/>
          <p:nvPr/>
        </p:nvSpPr>
        <p:spPr>
          <a:xfrm>
            <a:off x="457200" y="3370478"/>
            <a:ext cx="347472" cy="347472"/>
          </a:xfrm>
          <a:prstGeom prst="ellipse">
            <a:avLst/>
          </a:prstGeom>
          <a:solidFill>
            <a:srgbClr val="193233"/>
          </a:solidFill>
          <a:ln w="12700">
            <a:solidFill>
              <a:srgbClr val="19323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4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896112" y="3244291"/>
            <a:ext cx="3703320" cy="599846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150" dirty="0">
                <a:solidFill>
                  <a:srgbClr val="1A1B1B"/>
                </a:solidFill>
                <a:latin typeface="Roboto"/>
                <a:cs typeface="Roboto"/>
              </a:rPr>
              <a:t>The gateway joins both legs: reverse connect, no inbound ports</a:t>
            </a:r>
          </a:p>
        </p:txBody>
      </p:sp>
      <p:sp>
        <p:nvSpPr>
          <p:cNvPr id="12" name="Step 12"/>
          <p:cNvSpPr/>
          <p:nvPr/>
        </p:nvSpPr>
        <p:spPr>
          <a:xfrm>
            <a:off x="457200" y="3970325"/>
            <a:ext cx="347472" cy="347472"/>
          </a:xfrm>
          <a:prstGeom prst="ellipse">
            <a:avLst/>
          </a:prstGeom>
          <a:solidFill>
            <a:srgbClr val="FDBA12"/>
          </a:solidFill>
          <a:ln w="12700">
            <a:solidFill>
              <a:srgbClr val="19323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5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896112" y="3844138"/>
            <a:ext cx="3703320" cy="599846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150" dirty="0">
                <a:solidFill>
                  <a:srgbClr val="1A1B1B"/>
                </a:solidFill>
                <a:latin typeface="Roboto"/>
                <a:cs typeface="Roboto"/>
              </a:rPr>
              <a:t>RDP Shortpath tries UDP; if it works, the session moves to UDP</a:t>
            </a:r>
          </a:p>
        </p:txBody>
      </p:sp>
      <p:sp>
        <p:nvSpPr>
          <p:cNvPr id="14" name="Shortpath 14"/>
          <p:cNvSpPr/>
          <p:nvPr/>
        </p:nvSpPr>
        <p:spPr>
          <a:xfrm>
            <a:off x="4800600" y="1444752"/>
            <a:ext cx="3886200" cy="2999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Shortpath head 15"/>
          <p:cNvSpPr/>
          <p:nvPr/>
        </p:nvSpPr>
        <p:spPr>
          <a:xfrm>
            <a:off x="4800600" y="1444752"/>
            <a:ext cx="3886200" cy="329184"/>
          </a:xfrm>
          <a:prstGeom prst="round2SameRect">
            <a:avLst/>
          </a:prstGeom>
          <a:solidFill>
            <a:srgbClr val="193233"/>
          </a:solidFill>
          <a:ln w="19050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000" b="1" spc="60" dirty="0">
                <a:solidFill>
                  <a:srgbClr val="FDBA12"/>
                </a:solidFill>
                <a:latin typeface="Roboto"/>
                <a:cs typeface="Roboto"/>
              </a:rPr>
              <a:t>RDP SHORTPATH: UDP WHEN IT CAN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4928616" y="1810512"/>
            <a:ext cx="3630168" cy="5257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Managed network</a:t>
            </a:r>
          </a:p>
          <a:p>
            <a:pPr/>
            <a:r>
              <a:rPr lang="en-US" sz="950" dirty="0">
                <a:solidFill>
                  <a:srgbClr val="193233"/>
                </a:solidFill>
                <a:latin typeface="Roboto"/>
                <a:cs typeface="Roboto"/>
              </a:rPr>
              <a:t>on site, VPN or ExpressRoute: straight to the host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4928616" y="2336292"/>
            <a:ext cx="3630168" cy="5257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Public, STUN</a:t>
            </a:r>
          </a:p>
          <a:p>
            <a:pPr/>
            <a:r>
              <a:rPr lang="en-US" sz="950" dirty="0">
                <a:solidFill>
                  <a:srgbClr val="193233"/>
                </a:solidFill>
                <a:latin typeface="Roboto"/>
                <a:cs typeface="Roboto"/>
              </a:rPr>
              <a:t>direct UDP through NAT; first choice on the internet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4928616" y="2862072"/>
            <a:ext cx="3630168" cy="5257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Public, TURN</a:t>
            </a:r>
          </a:p>
          <a:p>
            <a:pPr/>
            <a:r>
              <a:rPr lang="en-US" sz="950" dirty="0">
                <a:solidFill>
                  <a:srgbClr val="193233"/>
                </a:solidFill>
                <a:latin typeface="Roboto"/>
                <a:cs typeface="Roboto"/>
              </a:rPr>
              <a:t>UDP through a Microsoft relay when direct is blocked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4928616" y="3387852"/>
            <a:ext cx="3630168" cy="5257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Fallback</a:t>
            </a:r>
          </a:p>
          <a:p>
            <a:pPr/>
            <a:r>
              <a:rPr lang="en-US" sz="950" dirty="0">
                <a:solidFill>
                  <a:srgbClr val="193233"/>
                </a:solidFill>
                <a:latin typeface="Roboto"/>
                <a:cs typeface="Roboto"/>
              </a:rPr>
              <a:t>no UDP: stays on TCP 443 through the gateway</a:t>
            </a:r>
          </a:p>
        </p:txBody>
      </p:sp>
      <p:sp>
        <p:nvSpPr>
          <p:cNvPr id="20" name="Terminal B note 20"/>
          <p:cNvSpPr/>
          <p:nvPr/>
        </p:nvSpPr>
        <p:spPr>
          <a:xfrm>
            <a:off x="4910328" y="3913632"/>
            <a:ext cx="3666744" cy="438912"/>
          </a:xfrm>
          <a:prstGeom prst="roundRect">
            <a:avLst>
              <a:gd name="adj" fmla="val 20000"/>
            </a:avLst>
          </a:prstGeom>
          <a:solidFill>
            <a:srgbClr val="FDBA12"/>
          </a:solidFill>
          <a:ln w="12700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950" b="1" dirty="0">
                <a:solidFill>
                  <a:srgbClr val="1A1B1B"/>
                </a:solidFill>
                <a:latin typeface="Roboto"/>
                <a:cs typeface="Roboto"/>
              </a:rPr>
              <a:t>Terminal B: users on site go straight to the Azure Local host. Browser: always TCP.</a:t>
            </a:r>
          </a:p>
        </p:txBody>
      </p:sp>
      <p:cxnSp>
        <p:nvCxnSpPr>
          <p:cNvPr id="21" name="Line 21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22" name="Node 22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24" name="Node 24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26" name="Node 2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8" name="Text 2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Everything you see today is in the repo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150" i="1" dirty="0">
                <a:solidFill>
                  <a:srgbClr val="193233"/>
                </a:solidFill>
                <a:latin typeface="Roboto"/>
                <a:cs typeface="Roboto"/>
              </a:rPr>
              <a:t>Every demo has a follow-along page you can run in your own tenant; no need to photograph slides.</a:t>
            </a:r>
          </a:p>
        </p:txBody>
      </p:sp>
      <p:sp>
        <p:nvSpPr>
          <p:cNvPr id="4" name="Card 4"/>
          <p:cNvSpPr/>
          <p:nvPr/>
        </p:nvSpPr>
        <p:spPr>
          <a:xfrm>
            <a:off x="457200" y="2073212"/>
            <a:ext cx="4023360" cy="172402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Rule 5"/>
          <p:cNvSpPr/>
          <p:nvPr/>
        </p:nvSpPr>
        <p:spPr>
          <a:xfrm>
            <a:off x="621792" y="2256092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548640" y="2393252"/>
            <a:ext cx="3840480" cy="1312545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Repo</a:t>
            </a:r>
          </a:p>
          <a:p>
            <a:pPr>
              <a:spcBef>
                <a:spcPts val="600"/>
              </a:spcBef>
            </a:pPr>
            <a:r>
              <a:rPr lang="en-US" sz="1350" dirty="0">
                <a:solidFill>
                  <a:srgbClr val="193233"/>
                </a:solidFill>
                <a:latin typeface="Roboto"/>
                <a:cs typeface="Roboto"/>
              </a:rPr>
              <a:t>github.com/thisismydemo/nic2026_avd</a:t>
            </a:r>
          </a:p>
        </p:txBody>
      </p:sp>
      <p:sp>
        <p:nvSpPr>
          <p:cNvPr id="7" name="Card 7"/>
          <p:cNvSpPr/>
          <p:nvPr/>
        </p:nvSpPr>
        <p:spPr>
          <a:xfrm>
            <a:off x="4663440" y="2073212"/>
            <a:ext cx="4023360" cy="172402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Rule 8"/>
          <p:cNvSpPr/>
          <p:nvPr/>
        </p:nvSpPr>
        <p:spPr>
          <a:xfrm>
            <a:off x="4828032" y="2256092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754880" y="2393252"/>
            <a:ext cx="3840480" cy="1312545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Follow-along</a:t>
            </a:r>
          </a:p>
          <a:p>
            <a:pPr>
              <a:spcBef>
                <a:spcPts val="600"/>
              </a:spcBef>
            </a:pPr>
            <a:r>
              <a:rPr lang="en-US" sz="1550" dirty="0">
                <a:solidFill>
                  <a:srgbClr val="193233"/>
                </a:solidFill>
                <a:latin typeface="Roboto"/>
                <a:cs typeface="Roboto"/>
              </a:rPr>
              <a:t>thisismydemo.cloud/nic2026_avd, in your own tenant</a:t>
            </a:r>
          </a:p>
        </p:txBody>
      </p:sp>
      <p:cxnSp>
        <p:nvCxnSpPr>
          <p:cNvPr id="10" name="Line 10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1" name="Node 11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3" name="Node 13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5" name="Node 15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Demo Time: where we finish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150" i="1" dirty="0">
                <a:solidFill>
                  <a:srgbClr val="C3FBFE"/>
                </a:solidFill>
                <a:latin typeface="Roboto"/>
                <a:cs typeface="Roboto"/>
              </a:rPr>
              <a:t>The finish line first: one sign-in, one feed, three desktops from three places, all working now.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2200" dirty="0"/>
              <a:t>The feed: one sign-in to Windows App shows three desktops, Terminal A, B and C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Three host pools behind them: Azure, Azure Local, Hybrid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Host status: every running host shows Available; an idle Azure host may show Shutdown, that is autoscale saving money</a:t>
            </a:r>
          </a:p>
        </p:txBody>
      </p:sp>
      <p:cxnSp>
        <p:nvCxnSpPr>
          <p:cNvPr id="6" name="Line 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7" name="Node 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9" name="Node 9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1" name="Node 11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The shared foundation: built once, used by all three terminals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THE AIRPORT  ·  SECTION 1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200" i="1" dirty="0">
                <a:solidFill>
                  <a:srgbClr val="193233"/>
                </a:solidFill>
                <a:latin typeface="Roboto"/>
                <a:cs typeface="Roboto"/>
              </a:rPr>
              <a:t>Build the shared parts once; adding a terminal later means adding hosts, not a new environment.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850" dirty="0"/>
              <a:t>Shared by all three: one tenant and its users, one AVD workspace, one monitoring workspace, one Key Vault</a:t>
            </a:r>
          </a:p>
          <a:p>
            <a:pPr>
              <a:spcBef>
                <a:spcPts val="700"/>
              </a:spcBef>
            </a:pPr>
            <a:r>
              <a:rPr lang="en-US" sz="1850" dirty="0"/>
              <a:t>Each terminal adds only its session hosts and a profile share: Azure Files in Azure, one share on site</a:t>
            </a:r>
          </a:p>
          <a:p>
            <a:pPr>
              <a:spcBef>
                <a:spcPts val="700"/>
              </a:spcBef>
            </a:pPr>
            <a:r>
              <a:rPr lang="en-US" sz="1850" dirty="0"/>
              <a:t>Built from code and one config file in the repo; nothing clicked by hand</a:t>
            </a:r>
          </a:p>
        </p:txBody>
      </p:sp>
      <p:sp>
        <p:nvSpPr>
          <p:cNvPr id="6" name="Opener frame 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Leg chart 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THE AIRPORT</a:t>
            </a:r>
          </a:p>
        </p:txBody>
      </p:sp>
      <p:cxnSp>
        <p:nvCxnSpPr>
          <p:cNvPr id="9" name="Line 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0" name="Node 1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2" name="Node 12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4" name="Node 14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Demo Time: the foundation as code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One repo and one config file build the foundation for all three terminals.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2064639"/>
            <a:ext cx="2621280" cy="174117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224751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384679"/>
            <a:ext cx="2438400" cy="132969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The repo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one folder per layer</a:t>
            </a:r>
          </a:p>
        </p:txBody>
      </p:sp>
      <p:sp>
        <p:nvSpPr>
          <p:cNvPr id="8" name="Card 8"/>
          <p:cNvSpPr/>
          <p:nvPr/>
        </p:nvSpPr>
        <p:spPr>
          <a:xfrm>
            <a:off x="3261360" y="2064639"/>
            <a:ext cx="2621280" cy="174117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3425952" y="224751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352800" y="2384679"/>
            <a:ext cx="2438400" cy="132969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The config file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names, networks, the three host pools</a:t>
            </a:r>
          </a:p>
        </p:txBody>
      </p:sp>
      <p:sp>
        <p:nvSpPr>
          <p:cNvPr id="11" name="Card 11"/>
          <p:cNvSpPr/>
          <p:nvPr/>
        </p:nvSpPr>
        <p:spPr>
          <a:xfrm>
            <a:off x="6065520" y="2064639"/>
            <a:ext cx="2621280" cy="174117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6230112" y="224751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6156960" y="2384679"/>
            <a:ext cx="2438400" cy="132969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Secrets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Key Vault references, never values</a:t>
            </a:r>
          </a:p>
        </p:txBody>
      </p:sp>
      <p:cxnSp>
        <p:nvCxnSpPr>
          <p:cNvPr id="14" name="Line 1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5" name="Node 15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7" name="Node 17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9" name="Node 19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1" name="Text 21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Terminal A: AVD on Azure, the reference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TERMINAL A  ·  SECTION 2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150" i="1" dirty="0">
                <a:solidFill>
                  <a:srgbClr val="193233"/>
                </a:solidFill>
                <a:latin typeface="Roboto"/>
                <a:cs typeface="Roboto"/>
              </a:rPr>
              <a:t>AVD on Azure is the baseline: everything later is compared with it, and two parts of it are reused.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450" dirty="0"/>
              <a:t>Pooled: users share Windows 11 multi-session VMs; breadth-first spreads new users across hosts</a:t>
            </a:r>
          </a:p>
          <a:p>
            <a:pPr>
              <a:spcBef>
                <a:spcPts val="700"/>
              </a:spcBef>
            </a:pPr>
            <a:r>
              <a:rPr lang="en-US" sz="1450" dirty="0"/>
              <a:t>Entra-joined hosts: one sign-in (SSO); profiles on Azure Files; RDP Shortpath (slide 7)</a:t>
            </a:r>
          </a:p>
          <a:p>
            <a:pPr>
              <a:spcBef>
                <a:spcPts val="700"/>
              </a:spcBef>
            </a:pPr>
            <a:r>
              <a:rPr lang="en-US" sz="1450" dirty="0"/>
              <a:t>Save money: autoscale powers idle hosts off; Start VM on Connect wakes one when a user arrives</a:t>
            </a:r>
          </a:p>
          <a:p>
            <a:pPr>
              <a:spcBef>
                <a:spcPts val="700"/>
              </a:spcBef>
            </a:pPr>
            <a:r>
              <a:rPr lang="en-US" sz="1450" dirty="0"/>
              <a:t>Autoscale: Azure only. Start VM on Connect: Azure and Azure Local. Hybrid: neither</a:t>
            </a:r>
          </a:p>
          <a:p>
            <a:pPr>
              <a:spcBef>
                <a:spcPts val="700"/>
              </a:spcBef>
            </a:pPr>
            <a:r>
              <a:rPr lang="en-US" sz="1450" dirty="0"/>
              <a:t>Reused next: the image (by Azure Local) and the monitoring (by all three)</a:t>
            </a:r>
          </a:p>
        </p:txBody>
      </p:sp>
      <p:sp>
        <p:nvSpPr>
          <p:cNvPr id="6" name="Opener frame 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Leg chart 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TERMINAL A</a:t>
            </a:r>
          </a:p>
        </p:txBody>
      </p:sp>
      <p:cxnSp>
        <p:nvCxnSpPr>
          <p:cNvPr id="9" name="Line 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0" name="Node 10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2" name="Node 12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4" name="Node 14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450" dirty="0"/>
              <a:t>Terminal A: the infrastructure of AVD on Azure</a:t>
            </a:r>
          </a:p>
        </p:txBody>
      </p:sp>
      <p:pic>
        <p:nvPicPr>
          <p:cNvPr id="3" name="Chart 3" descr="Terminal A: the infrastructure of AVD on Azure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ext 4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150" dirty="0"/>
              <a:t>Build the image once: Azure and Azure Local share it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200" i="1" dirty="0">
                <a:solidFill>
                  <a:srgbClr val="193233"/>
                </a:solidFill>
                <a:latin typeface="Roboto"/>
                <a:cs typeface="Roboto"/>
              </a:rPr>
              <a:t>Image Builder makes one Windows 11 multi-session image; Azure uses it, Azure Local imports it.</a:t>
            </a:r>
          </a:p>
        </p:txBody>
      </p:sp>
      <p:sp>
        <p:nvSpPr>
          <p:cNvPr id="4" name="Box 4"/>
          <p:cNvSpPr/>
          <p:nvPr/>
        </p:nvSpPr>
        <p:spPr>
          <a:xfrm>
            <a:off x="45720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Pinned source image</a:t>
            </a:r>
          </a:p>
        </p:txBody>
      </p:sp>
      <p:cxnSp>
        <p:nvCxnSpPr>
          <p:cNvPr id="5" name="Arrow 5"/>
          <p:cNvCxnSpPr/>
          <p:nvPr/>
        </p:nvCxnSpPr>
        <p:spPr>
          <a:xfrm>
            <a:off x="232714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6" name="Box 6"/>
          <p:cNvSpPr/>
          <p:nvPr/>
        </p:nvSpPr>
        <p:spPr>
          <a:xfrm>
            <a:off x="258318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Shared customisation scripts</a:t>
            </a:r>
          </a:p>
        </p:txBody>
      </p:sp>
      <p:cxnSp>
        <p:nvCxnSpPr>
          <p:cNvPr id="7" name="Arrow 7"/>
          <p:cNvCxnSpPr/>
          <p:nvPr/>
        </p:nvCxnSpPr>
        <p:spPr>
          <a:xfrm>
            <a:off x="445312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8" name="Box 8"/>
          <p:cNvSpPr/>
          <p:nvPr/>
        </p:nvSpPr>
        <p:spPr>
          <a:xfrm>
            <a:off x="470916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Gallery version</a:t>
            </a:r>
          </a:p>
        </p:txBody>
      </p:sp>
      <p:cxnSp>
        <p:nvCxnSpPr>
          <p:cNvPr id="9" name="Arrow 9"/>
          <p:cNvCxnSpPr/>
          <p:nvPr/>
        </p:nvCxnSpPr>
        <p:spPr>
          <a:xfrm>
            <a:off x="657910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0" name="Box 10"/>
          <p:cNvSpPr/>
          <p:nvPr/>
        </p:nvSpPr>
        <p:spPr>
          <a:xfrm>
            <a:off x="683514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193233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Azure VMs + Azure Local import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1A1B1B"/>
                </a:solidFill>
                <a:latin typeface="Roboto"/>
                <a:cs typeface="Roboto"/>
              </a:rPr>
              <a:t>Image Builder: a pinned Windows 11 multi-session + Microsoft 365 version, plus shared scripts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1A1B1B"/>
                </a:solidFill>
                <a:latin typeface="Roboto"/>
                <a:cs typeface="Roboto"/>
              </a:rPr>
              <a:t>Stored in the Compute Gallery as numbered versions: roll back by picking the previous one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1A1B1B"/>
                </a:solidFill>
                <a:latin typeface="Roboto"/>
                <a:cs typeface="Roboto"/>
              </a:rPr>
              <a:t>Terminal B imports the same version to the cluster as an Azure Local image</a:t>
            </a:r>
          </a:p>
        </p:txBody>
      </p:sp>
      <p:cxnSp>
        <p:nvCxnSpPr>
          <p:cNvPr id="12" name="Line 12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3" name="Node 13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5" name="Node 15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7" name="Node 1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Monitoring: one workspace for all three terminals, and what it costs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100" i="1" dirty="0">
                <a:solidFill>
                  <a:srgbClr val="193233"/>
                </a:solidFill>
                <a:latin typeface="Roboto"/>
                <a:cs typeface="Roboto"/>
              </a:rPr>
              <a:t>Every host in all three terminals reports to one workspace; the data collection rule decides the bill.</a:t>
            </a:r>
          </a:p>
        </p:txBody>
      </p:sp>
      <p:sp>
        <p:nvSpPr>
          <p:cNvPr id="4" name="Box 4"/>
          <p:cNvSpPr/>
          <p:nvPr/>
        </p:nvSpPr>
        <p:spPr>
          <a:xfrm>
            <a:off x="45720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Data collection rule</a:t>
            </a:r>
          </a:p>
        </p:txBody>
      </p:sp>
      <p:cxnSp>
        <p:nvCxnSpPr>
          <p:cNvPr id="5" name="Arrow 5"/>
          <p:cNvCxnSpPr/>
          <p:nvPr/>
        </p:nvCxnSpPr>
        <p:spPr>
          <a:xfrm>
            <a:off x="232714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6" name="Box 6"/>
          <p:cNvSpPr/>
          <p:nvPr/>
        </p:nvSpPr>
        <p:spPr>
          <a:xfrm>
            <a:off x="258318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What each host sends</a:t>
            </a:r>
          </a:p>
        </p:txBody>
      </p:sp>
      <p:cxnSp>
        <p:nvCxnSpPr>
          <p:cNvPr id="7" name="Arrow 7"/>
          <p:cNvCxnSpPr/>
          <p:nvPr/>
        </p:nvCxnSpPr>
        <p:spPr>
          <a:xfrm>
            <a:off x="445312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8" name="Box 8"/>
          <p:cNvSpPr/>
          <p:nvPr/>
        </p:nvSpPr>
        <p:spPr>
          <a:xfrm>
            <a:off x="470916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AVD Insights</a:t>
            </a:r>
          </a:p>
        </p:txBody>
      </p:sp>
      <p:cxnSp>
        <p:nvCxnSpPr>
          <p:cNvPr id="9" name="Arrow 9"/>
          <p:cNvCxnSpPr/>
          <p:nvPr/>
        </p:nvCxnSpPr>
        <p:spPr>
          <a:xfrm>
            <a:off x="657910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0" name="Box 10"/>
          <p:cNvSpPr/>
          <p:nvPr/>
        </p:nvSpPr>
        <p:spPr>
          <a:xfrm>
            <a:off x="683514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193233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GB ingested = the bill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1A1B1B"/>
                </a:solidFill>
                <a:latin typeface="Roboto"/>
                <a:cs typeface="Roboto"/>
              </a:rPr>
              <a:t>AVD Insights: the built-in AVD dashboard for host health and user connections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1A1B1B"/>
                </a:solidFill>
                <a:latin typeface="Roboto"/>
                <a:cs typeface="Roboto"/>
              </a:rPr>
              <a:t>Every host reports to one Log Analytics workspace: Azure VMs directly, on-site hosts through Arc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1A1B1B"/>
                </a:solidFill>
                <a:latin typeface="Roboto"/>
                <a:cs typeface="Roboto"/>
              </a:rPr>
              <a:t>The data collection rule (DCR) lists what each host sends; keep the Insights defaults only</a:t>
            </a:r>
          </a:p>
        </p:txBody>
      </p:sp>
      <p:cxnSp>
        <p:nvCxnSpPr>
          <p:cNvPr id="12" name="Line 12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3" name="Node 13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5" name="Node 15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7" name="Node 1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Demo Time: Terminal A, AVD on Azure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6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Built live: a host pool, a new session host and published apps.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Live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the host pool wizard, then the same from a script</a:t>
            </a:r>
          </a:p>
        </p:txBody>
      </p:sp>
      <p:sp>
        <p:nvSpPr>
          <p:cNvPr id="8" name="Card 8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Live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a new session host, deployed by script while we talk</a:t>
            </a:r>
          </a:p>
        </p:txBody>
      </p:sp>
      <p:sp>
        <p:nvSpPr>
          <p:cNvPr id="11" name="Card 11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Live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publish single apps (RemoteApp): the user gets app windows, not a desktop</a:t>
            </a:r>
          </a:p>
        </p:txBody>
      </p:sp>
      <p:sp>
        <p:nvSpPr>
          <p:cNvPr id="14" name="Card 14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Rule 15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Pre-deployed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the pool, pooled and Entra-joined, its image and Insights</a:t>
            </a:r>
          </a:p>
        </p:txBody>
      </p:sp>
      <p:cxnSp>
        <p:nvCxnSpPr>
          <p:cNvPr id="17" name="Line 17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8" name="Node 18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20" name="Node 20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22" name="Node 22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4" name="Text 24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Terminal B: AVD on Azure Local, and why you would choose it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TERMINAL B  ·  SECTION 3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193233"/>
                </a:solidFill>
                <a:latin typeface="Roboto"/>
                <a:cs typeface="Roboto"/>
              </a:rPr>
              <a:t>Choose Azure Local when the desktops must run at your site; the AVD service and the user experience stay the same.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500" dirty="0"/>
              <a:t>Same AVD service, workspace and Windows App; only the session hosts move to your cluster</a:t>
            </a:r>
          </a:p>
          <a:p>
            <a:pPr>
              <a:spcBef>
                <a:spcPts val="700"/>
              </a:spcBef>
            </a:pPr>
            <a:r>
              <a:rPr lang="en-US" sz="1500" dirty="0"/>
              <a:t>Why: data must stay on site, users near the site need low latency, or the link to Azure is poor</a:t>
            </a:r>
          </a:p>
          <a:p>
            <a:pPr>
              <a:spcBef>
                <a:spcPts val="700"/>
              </a:spcBef>
            </a:pPr>
            <a:r>
              <a:rPr lang="en-US" sz="1500" dirty="0"/>
              <a:t>Also: on-site apps and data sit next to the desktops; Windows 11 multi-session works here</a:t>
            </a:r>
          </a:p>
          <a:p>
            <a:pPr>
              <a:spcBef>
                <a:spcPts val="700"/>
              </a:spcBef>
            </a:pPr>
            <a:r>
              <a:rPr lang="en-US" sz="1500" dirty="0"/>
              <a:t>In the demo: three Azure Local VMs (one with a GPU), AD-joined; profiles on a file share on the cluster</a:t>
            </a:r>
          </a:p>
        </p:txBody>
      </p:sp>
      <p:sp>
        <p:nvSpPr>
          <p:cNvPr id="6" name="Opener frame 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Leg chart 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TERMINAL B</a:t>
            </a:r>
          </a:p>
        </p:txBody>
      </p:sp>
      <p:cxnSp>
        <p:nvCxnSpPr>
          <p:cNvPr id="9" name="Line 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0" name="Node 1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2" name="Node 12"/>
          <p:cNvSpPr/>
          <p:nvPr/>
        </p:nvSpPr>
        <p:spPr>
          <a:xfrm>
            <a:off x="532638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4" name="Node 14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150" dirty="0"/>
              <a:t>Terminal B: the infrastructure of AVD on Azure Local</a:t>
            </a:r>
          </a:p>
        </p:txBody>
      </p:sp>
      <p:pic>
        <p:nvPicPr>
          <p:cNvPr id="3" name="Chart 3" descr="Terminal B: the infrastructure of AVD on Azure Local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ext 4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150" dirty="0"/>
              <a:t>Getting hosts there: image first, then the host pool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50" i="1" dirty="0">
                <a:solidFill>
                  <a:srgbClr val="193233"/>
                </a:solidFill>
                <a:latin typeface="Roboto"/>
                <a:cs typeface="Roboto"/>
              </a:rPr>
              <a:t>Get a Windows image onto the cluster, then add session hosts from the same host pool blade you use in Azure.</a:t>
            </a:r>
          </a:p>
        </p:txBody>
      </p:sp>
      <p:sp>
        <p:nvSpPr>
          <p:cNvPr id="4" name="Card 4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Rule 5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Option A</a:t>
            </a:r>
          </a:p>
          <a:p>
            <a:pPr>
              <a:spcBef>
                <a:spcPts val="600"/>
              </a:spcBef>
            </a:pPr>
            <a:r>
              <a:rPr lang="en-US" sz="1550" dirty="0">
                <a:solidFill>
                  <a:srgbClr val="193233"/>
                </a:solidFill>
                <a:latin typeface="Roboto"/>
                <a:cs typeface="Roboto"/>
              </a:rPr>
              <a:t>build in Azure with Image Builder, then import it as an Azure Local VM image (this demo)</a:t>
            </a:r>
          </a:p>
        </p:txBody>
      </p:sp>
      <p:sp>
        <p:nvSpPr>
          <p:cNvPr id="7" name="Card 7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Rule 8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Option B</a:t>
            </a:r>
          </a:p>
          <a:p>
            <a:pPr>
              <a:spcBef>
                <a:spcPts val="600"/>
              </a:spcBef>
            </a:pPr>
            <a:r>
              <a:rPr lang="en-US" sz="1450" dirty="0">
                <a:solidFill>
                  <a:srgbClr val="193233"/>
                </a:solidFill>
                <a:latin typeface="Roboto"/>
                <a:cs typeface="Roboto"/>
              </a:rPr>
              <a:t>download a Marketplace image, e.g. Windows 11 multi-session + Microsoft 365, straight to the cluster</a:t>
            </a:r>
          </a:p>
        </p:txBody>
      </p:sp>
      <p:sp>
        <p:nvSpPr>
          <p:cNvPr id="10" name="Card 10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Rule 11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Option C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193233"/>
                </a:solidFill>
                <a:latin typeface="Roboto"/>
                <a:cs typeface="Roboto"/>
              </a:rPr>
              <a:t>bring your own sysprepped VHDX from a storage account or a local share</a:t>
            </a:r>
          </a:p>
        </p:txBody>
      </p:sp>
      <p:sp>
        <p:nvSpPr>
          <p:cNvPr id="13" name="Card 13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Rule 14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Then add session hosts</a:t>
            </a:r>
          </a:p>
          <a:p>
            <a:pPr>
              <a:spcBef>
                <a:spcPts val="600"/>
              </a:spcBef>
            </a:pPr>
            <a:r>
              <a:rPr lang="en-US" sz="1550" dirty="0">
                <a:solidFill>
                  <a:srgbClr val="193233"/>
                </a:solidFill>
                <a:latin typeface="Roboto"/>
                <a:cs typeface="Roboto"/>
              </a:rPr>
              <a:t>pick Azure Local, the custom location, the image and the logical network</a:t>
            </a:r>
          </a:p>
        </p:txBody>
      </p:sp>
      <p:cxnSp>
        <p:nvCxnSpPr>
          <p:cNvPr id="16" name="Line 1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7" name="Node 1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9" name="Node 19"/>
          <p:cNvSpPr/>
          <p:nvPr/>
        </p:nvSpPr>
        <p:spPr>
          <a:xfrm>
            <a:off x="532638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21" name="Node 21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100" dirty="0"/>
              <a:t>Profiles on Azure Local: they live on your cluster too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193233"/>
                </a:solidFill>
                <a:latin typeface="Roboto"/>
                <a:cs typeface="Roboto"/>
              </a:rPr>
              <a:t>Profiles need an SMB file share, so on Azure Local you run a small file-server cluster on the cluster and size the cluster for it.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950" dirty="0"/>
              <a:t>The need: FSLogix needs an SMB file share; a cluster volume (CSV) is disk space, not a share users can reach</a:t>
            </a:r>
          </a:p>
          <a:p>
            <a:pPr>
              <a:spcBef>
                <a:spcPts val="700"/>
              </a:spcBef>
            </a:pPr>
            <a:r>
              <a:rPr lang="en-US" sz="1950" dirty="0"/>
              <a:t>The answer: Microsoft recommends a file-server cluster of VMs on Azure Local; here a two-VM Scale-Out File Server</a:t>
            </a:r>
          </a:p>
          <a:p>
            <a:pPr>
              <a:spcBef>
                <a:spcPts val="700"/>
              </a:spcBef>
            </a:pPr>
            <a:r>
              <a:rPr lang="en-US" sz="1950" dirty="0"/>
              <a:t>Size the cluster for profiles: 20 users × 30 GB + 20 % = 720 GB; two mirrors + reserve = 6 TiB raw</a:t>
            </a:r>
          </a:p>
          <a:p>
            <a:pPr>
              <a:spcBef>
                <a:spcPts val="700"/>
              </a:spcBef>
            </a:pPr>
            <a:r>
              <a:rPr lang="en-US" sz="1950" dirty="0"/>
              <a:t>Sizing method: see the azurelocal-avd and azurelocal-sofs-fslogix guides on azurelocal.cloud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8" name="Node 8"/>
          <p:cNvSpPr/>
          <p:nvPr/>
        </p:nvSpPr>
        <p:spPr>
          <a:xfrm>
            <a:off x="532638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0" name="Node 1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GPU desktops on Azure Local: a whole GPU or a shared one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193233"/>
                </a:solidFill>
                <a:latin typeface="Roboto"/>
                <a:cs typeface="Roboto"/>
              </a:rPr>
              <a:t>Pass a whole GPU to one session host (DDA) with no vGPU licence, or share it (GPU-P) with NVIDIA licensing and live migration.</a:t>
            </a:r>
          </a:p>
        </p:txBody>
      </p:sp>
      <p:sp>
        <p:nvSpPr>
          <p:cNvPr id="4" name="Card 4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Rule 5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450" b="1" dirty="0">
                <a:solidFill>
                  <a:srgbClr val="1A1B1B"/>
                </a:solidFill>
                <a:latin typeface="Roboto"/>
                <a:cs typeface="Roboto"/>
              </a:rPr>
              <a:t>DDA (Discrete Device Assignment)</a:t>
            </a:r>
          </a:p>
          <a:p>
            <a:pPr>
              <a:spcBef>
                <a:spcPts val="600"/>
              </a:spcBef>
            </a:pPr>
            <a:r>
              <a:rPr lang="en-US" sz="1550" dirty="0">
                <a:solidFill>
                  <a:srgbClr val="193233"/>
                </a:solidFill>
                <a:latin typeface="Roboto"/>
                <a:cs typeface="Roboto"/>
              </a:rPr>
              <a:t>one whole GPU to one session host; no NVIDIA vGPU licence</a:t>
            </a:r>
          </a:p>
        </p:txBody>
      </p:sp>
      <p:sp>
        <p:nvSpPr>
          <p:cNvPr id="7" name="Card 7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Rule 8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450" b="1" dirty="0">
                <a:solidFill>
                  <a:srgbClr val="1A1B1B"/>
                </a:solidFill>
                <a:latin typeface="Roboto"/>
                <a:cs typeface="Roboto"/>
              </a:rPr>
              <a:t>Free NVIDIA data center driver</a:t>
            </a:r>
          </a:p>
          <a:p>
            <a:pPr>
              <a:spcBef>
                <a:spcPts val="600"/>
              </a:spcBef>
            </a:pPr>
            <a:r>
              <a:rPr lang="en-US" sz="1550" dirty="0">
                <a:solidFill>
                  <a:srgbClr val="193233"/>
                </a:solidFill>
                <a:latin typeface="Roboto"/>
                <a:cs typeface="Roboto"/>
              </a:rPr>
              <a:t>compute and AI; desktop graphics acceleration needs an NVIDIA vWS licence</a:t>
            </a:r>
          </a:p>
        </p:txBody>
      </p:sp>
      <p:sp>
        <p:nvSpPr>
          <p:cNvPr id="10" name="Card 10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Rule 11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500" b="1" dirty="0">
                <a:solidFill>
                  <a:srgbClr val="1A1B1B"/>
                </a:solidFill>
                <a:latin typeface="Roboto"/>
                <a:cs typeface="Roboto"/>
              </a:rPr>
              <a:t>A DDA VM cannot live-migrate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193233"/>
                </a:solidFill>
                <a:latin typeface="Roboto"/>
                <a:cs typeface="Roboto"/>
              </a:rPr>
              <a:t>keep GPU users on a dedicated session host; a node drain restarts it</a:t>
            </a:r>
          </a:p>
        </p:txBody>
      </p:sp>
      <p:sp>
        <p:nvSpPr>
          <p:cNvPr id="13" name="Card 13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Rule 14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600" b="1" dirty="0">
                <a:solidFill>
                  <a:srgbClr val="1A1B1B"/>
                </a:solidFill>
                <a:latin typeface="Roboto"/>
                <a:cs typeface="Roboto"/>
              </a:rPr>
              <a:t>GPU partitioning (GPU-P)</a:t>
            </a:r>
          </a:p>
          <a:p>
            <a:pPr>
              <a:spcBef>
                <a:spcPts val="600"/>
              </a:spcBef>
            </a:pPr>
            <a:r>
              <a:rPr lang="en-US" sz="1450" dirty="0">
                <a:solidFill>
                  <a:srgbClr val="193233"/>
                </a:solidFill>
                <a:latin typeface="Roboto"/>
                <a:cs typeface="Roboto"/>
              </a:rPr>
              <a:t>shares one GPU between VMs and can live-migrate, but needs NVIDIA vGPU licences</a:t>
            </a:r>
          </a:p>
        </p:txBody>
      </p:sp>
      <p:cxnSp>
        <p:nvCxnSpPr>
          <p:cNvPr id="16" name="Line 1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7" name="Node 1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9" name="Node 19"/>
          <p:cNvSpPr/>
          <p:nvPr/>
        </p:nvSpPr>
        <p:spPr>
          <a:xfrm>
            <a:off x="532638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21" name="Node 21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Running AVD on your site: networks, cluster updates and the bill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193233"/>
                </a:solidFill>
                <a:latin typeface="Roboto"/>
                <a:cs typeface="Roboto"/>
              </a:rPr>
              <a:t>What changes when the desktops run on your cluster: you own the network, the updates move the VMs, and the bill has three parts.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950" dirty="0"/>
              <a:t>Network: hosts on a logical network (VLAN) with an NSG; no inbound ports; RDP Shortpath keeps traffic on the LAN</a:t>
            </a:r>
          </a:p>
          <a:p>
            <a:pPr>
              <a:spcBef>
                <a:spcPts val="700"/>
              </a:spcBef>
            </a:pPr>
            <a:r>
              <a:rPr lang="en-US" sz="1950" dirty="0"/>
              <a:t>Cluster updates: one node at a time; session hosts live-migrate and keep running; the DDA GPU host restarts</a:t>
            </a:r>
          </a:p>
          <a:p>
            <a:pPr>
              <a:spcBef>
                <a:spcPts val="700"/>
              </a:spcBef>
            </a:pPr>
            <a:r>
              <a:rPr lang="en-US" sz="1950" dirty="0"/>
              <a:t>The bill: Azure Local host fee + AVD for Azure Local fee per active vCPU + the same user licences as Azure</a:t>
            </a:r>
          </a:p>
          <a:p>
            <a:pPr>
              <a:spcBef>
                <a:spcPts val="700"/>
              </a:spcBef>
            </a:pPr>
            <a:r>
              <a:rPr lang="en-US" sz="1950" dirty="0"/>
              <a:t>The connection: brokering stays in Azure; if the site loses Azure, no new sessions can start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8" name="Node 8"/>
          <p:cNvSpPr/>
          <p:nvPr/>
        </p:nvSpPr>
        <p:spPr>
          <a:xfrm>
            <a:off x="532638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0" name="Node 1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Demo Time: Terminal B, AVD on Azure Local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4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50" i="1" dirty="0">
                <a:solidFill>
                  <a:srgbClr val="C3FBFE"/>
                </a:solidFill>
                <a:latin typeface="Roboto"/>
                <a:cs typeface="Roboto"/>
              </a:rPr>
              <a:t>Deploy a session host live on your cluster, then the pre-deployed terminal: its VM, the sizing, the GPU.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Live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the Add session hosts wizard, then the script deploys a new Azure Local host</a:t>
            </a:r>
          </a:p>
        </p:txBody>
      </p:sp>
      <p:sp>
        <p:nvSpPr>
          <p:cNvPr id="8" name="Card 8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Pre-deployed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a session host as an Azure Local VM, its network and NSG</a:t>
            </a:r>
          </a:p>
        </p:txBody>
      </p:sp>
      <p:sp>
        <p:nvSpPr>
          <p:cNvPr id="11" name="Card 11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Sizing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the two public guides and the demo's numbers</a:t>
            </a:r>
          </a:p>
        </p:txBody>
      </p:sp>
      <p:sp>
        <p:nvSpPr>
          <p:cNvPr id="14" name="Card 14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Rule 15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GPU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one L4 by DDA, nvidia-smi and a compute job</a:t>
            </a:r>
          </a:p>
        </p:txBody>
      </p:sp>
      <p:cxnSp>
        <p:nvCxnSpPr>
          <p:cNvPr id="17" name="Line 17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8" name="Node 18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20" name="Node 20"/>
          <p:cNvSpPr/>
          <p:nvPr/>
        </p:nvSpPr>
        <p:spPr>
          <a:xfrm>
            <a:off x="532638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22" name="Node 22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4" name="Text 24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300" dirty="0"/>
              <a:t>Terminal C: what AVD Hybrid is, and why it exists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TERMINAL C  ·  SECTION 4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250" i="1" dirty="0">
                <a:solidFill>
                  <a:srgbClr val="193233"/>
                </a:solidFill>
                <a:latin typeface="Roboto"/>
                <a:cs typeface="Roboto"/>
              </a:rPr>
              <a:t>The same AVD service in Azure, with desktops on the hypervisor or servers you already own.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450" dirty="0"/>
              <a:t>What: the AVD broker and feed stay in Azure; your own Windows machines join as session hosts through Azure Arc</a:t>
            </a:r>
          </a:p>
          <a:p>
            <a:pPr>
              <a:spcBef>
                <a:spcPts val="700"/>
              </a:spcBef>
            </a:pPr>
            <a:r>
              <a:rPr lang="en-US" sz="1450" dirty="0"/>
              <a:t>For: existing Hyper-V, vSphere or Nutanix estates, headless servers, and RDS or other VDI you want to move</a:t>
            </a:r>
          </a:p>
          <a:p>
            <a:pPr>
              <a:spcBef>
                <a:spcPts val="700"/>
              </a:spcBef>
            </a:pPr>
            <a:r>
              <a:rPr lang="en-US" sz="1450" dirty="0"/>
              <a:t>Runs: Windows 11/10 Enterprise single-session or Windows Server 2016-2025; no multi-session</a:t>
            </a:r>
          </a:p>
          <a:p>
            <a:pPr>
              <a:spcBef>
                <a:spcPts val="700"/>
              </a:spcBef>
            </a:pPr>
            <a:r>
              <a:rPr lang="en-US" sz="1450" dirty="0"/>
              <a:t>Billed: an AVD Hybrid service fee per user per month, plus the Windows or RDS user licences you need</a:t>
            </a:r>
          </a:p>
        </p:txBody>
      </p:sp>
      <p:sp>
        <p:nvSpPr>
          <p:cNvPr id="6" name="Opener frame 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Leg chart 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TERMINAL C</a:t>
            </a:r>
          </a:p>
        </p:txBody>
      </p:sp>
      <p:cxnSp>
        <p:nvCxnSpPr>
          <p:cNvPr id="9" name="Line 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0" name="Node 1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2" name="Node 12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4" name="Node 14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400" dirty="0"/>
              <a:t>AVD Hybrid or AVD on Azure Local: how to choose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Both keep desktops on site with the AVD service in Azure.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550" dirty="0"/>
              <a:t>Platform: Azure Local = validated hardware and Microsoft's stack; Hybrid = any hypervisor or headless server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Density: Azure Local runs Windows 11 multi-session; Hybrid is one user per Windows 11 VM, or Windows Server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Hosts: Azure Local adds hosts from the portal, Start VM on Connect; Hybrid: you build, power and scale them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Bill: Azure Local = host fee per core + AVD fee per active vCPU; Hybrid = AVD Hybrid fee per user per month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Choose Azure Local for new on-site VDI at density; Hybrid to reuse what you run today or to move off RDS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8" name="Node 8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0" name="Node 10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200" dirty="0"/>
              <a:t>AVD Hybrid in four steps: how your own VM joins AVD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193233"/>
                </a:solidFill>
                <a:latin typeface="Roboto"/>
                <a:cs typeface="Roboto"/>
              </a:rPr>
              <a:t>Nothing in Azure creates the VM: you build it, Arc introduces it to Azure, and an extension registers it with the host pool.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500" dirty="0"/>
              <a:t>1. Build a Windows VM with your own tools on any hypervisor (or use a headless physical server)</a:t>
            </a:r>
          </a:p>
          <a:p>
            <a:pPr>
              <a:spcBef>
                <a:spcPts val="700"/>
              </a:spcBef>
            </a:pPr>
            <a:r>
              <a:rPr lang="en-US" sz="1500" dirty="0"/>
              <a:t>2. Install the Azure Arc agent in it: the machine appears in Azure as an Arc-enabled server</a:t>
            </a:r>
          </a:p>
          <a:p>
            <a:pPr>
              <a:spcBef>
                <a:spcPts val="700"/>
              </a:spcBef>
            </a:pPr>
            <a:r>
              <a:rPr lang="en-US" sz="1500" dirty="0"/>
              <a:t>3. Add the AVD Hybrid extension: it installs the AVD agent and registers the host in your host pool</a:t>
            </a:r>
          </a:p>
          <a:p>
            <a:pPr>
              <a:spcBef>
                <a:spcPts val="700"/>
              </a:spcBef>
            </a:pPr>
            <a:r>
              <a:rPr lang="en-US" sz="1500" dirty="0"/>
              <a:t>4. The host shows Available (allow up to 15 minutes); users connect with Windows App</a:t>
            </a:r>
          </a:p>
        </p:txBody>
      </p:sp>
      <p:sp>
        <p:nvSpPr>
          <p:cNvPr id="5" name="Opener frame 5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6" name="Leg chart 6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7" name="Text 7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TERMINAL C</a:t>
            </a:r>
          </a:p>
        </p:txBody>
      </p:sp>
      <p:cxnSp>
        <p:nvCxnSpPr>
          <p:cNvPr id="8" name="Line 8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9" name="Node 9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1" name="Node 11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3" name="Node 13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5" name="Text 15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550" dirty="0"/>
              <a:t>Terminal C: the infrastructure of AVD Hybrid</a:t>
            </a:r>
          </a:p>
        </p:txBody>
      </p:sp>
      <p:pic>
        <p:nvPicPr>
          <p:cNvPr id="3" name="Chart 3" descr="Terminal C: the infrastructure of AVD Hybrid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ext 4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300" dirty="0"/>
              <a:t>AVD Hybrid: what it runs on, and what it does not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Any Windows machine you already run can be a session host, if it meets these rules.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457200" y="1517904"/>
          <a:ext cx="8229600" cy="2686050"/>
        </p:xfrm>
        <a:graphic>
          <a:graphicData uri="http://schemas.openxmlformats.org/drawingml/2006/table">
            <a:tbl>
              <a:tblPr firstRow="1"/>
              <a:tblGrid>
                <a:gridCol w="2743200"/>
                <a:gridCol w="2743200"/>
                <a:gridCol w="2743200"/>
              </a:tblGrid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/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Yes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No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</a:tr>
              <a:tr h="366903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Machine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 Windows VM on any hypervisor (Hyper-V, vSphere, Nutanix AHV), or a headless physical server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 laptop or desktop someone works on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6903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Windows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Windows 11/10 Enterprise, single-session; Windows Server 2016 to 2025 (several users, like RDS)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Windows 11/10 multi-session; editions other than Enterprise (Learn lists Enterprise only)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366903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Join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Windows 11/10: Entra ID, AD DS or hybrid join; Windows Server: AD DS or hybrid join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Windows Server joined to Entra ID only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1203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Joining AVD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 Arc agent, then the AVD Hybrid extension with the host pool token; host pool identity with Reader on the Arc machines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Any inbound port: hosts connect out to the AVD and Arc URLs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481203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 does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The AVD service (feed, broker, gateway), monitoring and inventory through Arc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Create, power, scale or patch the VM: no autoscale, power management, Start VM on Connect or session host configuration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6903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Billing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AVD Hybrid service fee per user per month, plus the Windows or RDS user licences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 fee per vCPU or per core (that is Azure Local)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</a:tbl>
          </a:graphicData>
        </a:graphic>
      </p:graphicFrame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8" name="Node 8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0" name="Node 10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Can it be an AVD Hybrid host? Yes or no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193233"/>
                </a:solidFill>
                <a:latin typeface="Roboto"/>
                <a:cs typeface="Roboto"/>
              </a:rPr>
              <a:t>Common platforms, one answer each: Windows Enterprise or Server, as a VM on your hypervisor or a headless server, through Arc.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457200" y="1517904"/>
          <a:ext cx="8229600" cy="2927223"/>
        </p:xfrm>
        <a:graphic>
          <a:graphicData uri="http://schemas.openxmlformats.org/drawingml/2006/table">
            <a:tbl>
              <a:tblPr firstRow="1"/>
              <a:tblGrid>
                <a:gridCol w="3200400"/>
                <a:gridCol w="1005840"/>
                <a:gridCol w="4023360"/>
              </a:tblGrid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70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Scenario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Hybrid host?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Why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7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Windows 11 Enterprise VM on VMware vSphere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Any hypervisor that runs Windows VMs; one user per VM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7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Windows Server 2025 VM on Nutanix AHV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Windows Server 2016 to 2025; several users per host, RDS CALs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366903">
                <a:tc>
                  <a:txBody>
                    <a:bodyPr/>
                    <a:lstStyle/>
                    <a:p>
                      <a:pPr algn="l"/>
                      <a:r>
                        <a:rPr lang="en-US" sz="7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Windows Server 2022 or Windows 11 Enterprise VM on Hyper-V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This lab: Windows 11 Enterprise on Hyper-V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7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Windows Server 2025 on a physical rack server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Physical only as a dedicated, headless session host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7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Linux VM on VMware (any distribution)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AVD session hosts are Windows only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7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Windows 11 Enterprise multi-session VM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Multi-session is not supported on Hybrid (use Azure or Azure Local)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7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Windows 11 Pro VM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Learn lists Windows 11/10 Enterprise only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7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 user’s laptop or personal PC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Laptops and personal PCs are not supported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7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Windows Server 2012 R2 VM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Supported: Windows Server 2016 to 2025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7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Any host without the Azure Arc agent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Hybrid hosts must be Arc-enabled; the AVD extension runs through Arc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</a:tbl>
          </a:graphicData>
        </a:graphic>
      </p:graphicFrame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8" name="Node 8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0" name="Node 10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500" dirty="0"/>
              <a:t>AVD Hybrid: what Azure no longer does for you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250" i="1" dirty="0">
                <a:solidFill>
                  <a:srgbClr val="193233"/>
                </a:solidFill>
                <a:latin typeface="Roboto"/>
                <a:cs typeface="Roboto"/>
              </a:rPr>
              <a:t>Azure runs the AVD service; you build, join, patch and power the VM with your own tools.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950" dirty="0"/>
              <a:t>You build and run the VM: your hypervisor, your image, your HA; AVD never powers it on, scales or restarts it</a:t>
            </a:r>
          </a:p>
          <a:p>
            <a:pPr>
              <a:spcBef>
                <a:spcPts val="700"/>
              </a:spcBef>
            </a:pPr>
            <a:r>
              <a:rPr lang="en-US" sz="1950" dirty="0"/>
              <a:t>You join and configure it: here a script joins AD after first boot, then sets FSLogix through Arc</a:t>
            </a:r>
          </a:p>
          <a:p>
            <a:pPr>
              <a:spcBef>
                <a:spcPts val="700"/>
              </a:spcBef>
            </a:pPr>
            <a:r>
              <a:rPr lang="en-US" sz="1950" dirty="0"/>
              <a:t>Arc is the bridge: the extension registers the host; Arc also brings monitoring and inventory</a:t>
            </a:r>
          </a:p>
          <a:p>
            <a:pPr>
              <a:spcBef>
                <a:spcPts val="700"/>
              </a:spcBef>
            </a:pPr>
            <a:r>
              <a:rPr lang="en-US" sz="1950" dirty="0"/>
              <a:t>You patch Windows 11: Windows Update, Autopatch or Configuration Manager; Update Manager is Windows Server only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8" name="Node 8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0" name="Node 10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Demo Time: Terminal C, AVD Hybrid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3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Build a Hybrid host live with the script, then the two pre-built Hybrid hosts and the proof that AVD sees them.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698879"/>
            <a:ext cx="2621280" cy="247269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188175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018919"/>
            <a:ext cx="2438400" cy="206121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Live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the script builds a new host: Hyper-V VM, AD join, Arc agent, AVD Hybrid extension (about 15 min)</a:t>
            </a:r>
          </a:p>
        </p:txBody>
      </p:sp>
      <p:sp>
        <p:nvSpPr>
          <p:cNvPr id="8" name="Card 8"/>
          <p:cNvSpPr/>
          <p:nvPr/>
        </p:nvSpPr>
        <p:spPr>
          <a:xfrm>
            <a:off x="3261360" y="1698879"/>
            <a:ext cx="2621280" cy="247269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3425952" y="188175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352800" y="2018919"/>
            <a:ext cx="2438400" cy="206121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Pre-built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two Hyper-V VMs that Azure sees only as Arc machines, with no VM resource</a:t>
            </a:r>
          </a:p>
        </p:txBody>
      </p:sp>
      <p:sp>
        <p:nvSpPr>
          <p:cNvPr id="11" name="Card 11"/>
          <p:cNvSpPr/>
          <p:nvPr/>
        </p:nvSpPr>
        <p:spPr>
          <a:xfrm>
            <a:off x="6065520" y="1698879"/>
            <a:ext cx="2621280" cy="247269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6230112" y="188175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6156960" y="2018919"/>
            <a:ext cx="2438400" cy="206121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Proof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the AVD Hybrid extension Succeeded, its log, and both hosts Available in Terminal C</a:t>
            </a:r>
          </a:p>
        </p:txBody>
      </p:sp>
      <p:cxnSp>
        <p:nvCxnSpPr>
          <p:cNvPr id="14" name="Line 1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5" name="Node 15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7" name="Node 17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9" name="Node 19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1" name="Text 21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Passport control: one user, two join types, and why AD is back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THE PASSPORT  ·  SECTION 5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One user account works in all three terminals.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550" dirty="0"/>
              <a:t>Hybrid user: one account, created in Active Directory and synced to Entra ID; same name and password in both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Terminal A (Azure): hosts joined to Entra ID, so the desktop sign-in is single sign-on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Terminal B (Azure Local): Microsoft supports AD join only (hybrid join optional on top)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Terminal C (Hybrid): Windows 11 hosts can join Entra ID, AD or both; we chose AD for the on-site profile share</a:t>
            </a:r>
          </a:p>
        </p:txBody>
      </p:sp>
      <p:sp>
        <p:nvSpPr>
          <p:cNvPr id="6" name="Opener frame 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Leg chart 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THE PASSPORT</a:t>
            </a:r>
          </a:p>
        </p:txBody>
      </p:sp>
      <p:cxnSp>
        <p:nvCxnSpPr>
          <p:cNvPr id="9" name="Line 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0" name="Node 1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2" name="Node 12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4" name="Node 14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Three identity checks: into AVD, onto the desktop, into the profile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Every session passes three separate identity checks.</a:t>
            </a:r>
          </a:p>
        </p:txBody>
      </p:sp>
      <p:sp>
        <p:nvSpPr>
          <p:cNvPr id="4" name="Path 4"/>
          <p:cNvSpPr/>
          <p:nvPr/>
        </p:nvSpPr>
        <p:spPr>
          <a:xfrm>
            <a:off x="822960" y="1517904"/>
            <a:ext cx="7498080" cy="8900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Step 5"/>
          <p:cNvSpPr/>
          <p:nvPr/>
        </p:nvSpPr>
        <p:spPr>
          <a:xfrm>
            <a:off x="932688" y="1761744"/>
            <a:ext cx="402336" cy="402336"/>
          </a:xfrm>
          <a:prstGeom prst="ellipse">
            <a:avLst/>
          </a:prstGeom>
          <a:solidFill>
            <a:srgbClr val="193233"/>
          </a:solidFill>
          <a:ln w="12700">
            <a:solidFill>
              <a:srgbClr val="19323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400" b="1" dirty="0">
                <a:solidFill>
                  <a:srgbClr val="98F8FE"/>
                </a:solidFill>
                <a:latin typeface="Roboto"/>
                <a:cs typeface="Roboto"/>
              </a:rPr>
              <a:t>1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1444752" y="1517904"/>
            <a:ext cx="6784848" cy="890016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200" b="1" dirty="0">
                <a:solidFill>
                  <a:srgbClr val="1A1B1B"/>
                </a:solidFill>
                <a:latin typeface="Roboto"/>
                <a:cs typeface="Roboto"/>
              </a:rPr>
              <a:t>User to AVD</a:t>
            </a:r>
          </a:p>
          <a:p>
            <a:pPr>
              <a:spcBef>
                <a:spcPts val="200"/>
              </a:spcBef>
            </a:pPr>
            <a:r>
              <a:rPr lang="en-US" sz="1000" dirty="0">
                <a:solidFill>
                  <a:srgbClr val="193233"/>
                </a:solidFill>
                <a:latin typeface="Roboto"/>
                <a:cs typeface="Roboto"/>
              </a:rPr>
              <a:t>Entra sign-in, the feed, the broker (MFA by Conditional Access: the design)</a:t>
            </a:r>
          </a:p>
        </p:txBody>
      </p:sp>
      <p:sp>
        <p:nvSpPr>
          <p:cNvPr id="7" name="Path 7"/>
          <p:cNvSpPr/>
          <p:nvPr/>
        </p:nvSpPr>
        <p:spPr>
          <a:xfrm>
            <a:off x="822960" y="2535936"/>
            <a:ext cx="7498080" cy="8900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Step 8"/>
          <p:cNvSpPr/>
          <p:nvPr/>
        </p:nvSpPr>
        <p:spPr>
          <a:xfrm>
            <a:off x="932688" y="2779776"/>
            <a:ext cx="402336" cy="402336"/>
          </a:xfrm>
          <a:prstGeom prst="ellipse">
            <a:avLst/>
          </a:prstGeom>
          <a:solidFill>
            <a:srgbClr val="FDBA12"/>
          </a:solidFill>
          <a:ln w="12700">
            <a:solidFill>
              <a:srgbClr val="19323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400" b="1" dirty="0">
                <a:solidFill>
                  <a:srgbClr val="1A1B1B"/>
                </a:solidFill>
                <a:latin typeface="Roboto"/>
                <a:cs typeface="Roboto"/>
              </a:rPr>
              <a:t>2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1444752" y="2535936"/>
            <a:ext cx="6784848" cy="890016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200" b="1" dirty="0">
                <a:solidFill>
                  <a:srgbClr val="1A1B1B"/>
                </a:solidFill>
                <a:latin typeface="Roboto"/>
                <a:cs typeface="Roboto"/>
              </a:rPr>
              <a:t>User to the session host</a:t>
            </a:r>
          </a:p>
          <a:p>
            <a:pPr>
              <a:spcBef>
                <a:spcPts val="200"/>
              </a:spcBef>
            </a:pPr>
            <a:r>
              <a:rPr lang="en-US" sz="1000" dirty="0">
                <a:solidFill>
                  <a:srgbClr val="193233"/>
                </a:solidFill>
                <a:latin typeface="Roboto"/>
                <a:cs typeface="Roboto"/>
              </a:rPr>
              <a:t>SSO on Entra-joined hosts; the AD password on AD-joined on-site hosts</a:t>
            </a:r>
          </a:p>
        </p:txBody>
      </p:sp>
      <p:sp>
        <p:nvSpPr>
          <p:cNvPr id="10" name="Path 10"/>
          <p:cNvSpPr/>
          <p:nvPr/>
        </p:nvSpPr>
        <p:spPr>
          <a:xfrm>
            <a:off x="822960" y="3553968"/>
            <a:ext cx="7498080" cy="8900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Step 11"/>
          <p:cNvSpPr/>
          <p:nvPr/>
        </p:nvSpPr>
        <p:spPr>
          <a:xfrm>
            <a:off x="932688" y="3797808"/>
            <a:ext cx="402336" cy="4023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9323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400" b="1" dirty="0">
                <a:solidFill>
                  <a:srgbClr val="1A1B1B"/>
                </a:solidFill>
                <a:latin typeface="Roboto"/>
                <a:cs typeface="Roboto"/>
              </a:rPr>
              <a:t>3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1444752" y="3553968"/>
            <a:ext cx="6784848" cy="890016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200" b="1" dirty="0">
                <a:solidFill>
                  <a:srgbClr val="1A1B1B"/>
                </a:solidFill>
                <a:latin typeface="Roboto"/>
                <a:cs typeface="Roboto"/>
              </a:rPr>
              <a:t>Host, as the user, to the profile share</a:t>
            </a:r>
          </a:p>
          <a:p>
            <a:pPr>
              <a:spcBef>
                <a:spcPts val="200"/>
              </a:spcBef>
            </a:pPr>
            <a:r>
              <a:rPr lang="en-US" sz="1000" dirty="0">
                <a:solidFill>
                  <a:srgbClr val="193233"/>
                </a:solidFill>
                <a:latin typeface="Roboto"/>
                <a:cs typeface="Roboto"/>
              </a:rPr>
              <a:t>Azure: Entra Kerberos to Azure Files · Azure Local and Hybrid: AD Kerberos to the SOFS (hybrid user)</a:t>
            </a:r>
          </a:p>
        </p:txBody>
      </p:sp>
      <p:cxnSp>
        <p:nvCxnSpPr>
          <p:cNvPr id="13" name="Line 13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4" name="Node 14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6" name="Node 16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8" name="Node 18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Check 3 up close: the ticket opens the door, permissions decide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The host fetches a ticket for the user without a prompt.</a:t>
            </a:r>
          </a:p>
        </p:txBody>
      </p:sp>
      <p:sp>
        <p:nvSpPr>
          <p:cNvPr id="4" name="Box 4"/>
          <p:cNvSpPr/>
          <p:nvPr/>
        </p:nvSpPr>
        <p:spPr>
          <a:xfrm>
            <a:off x="45720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Hybrid user</a:t>
            </a:r>
          </a:p>
        </p:txBody>
      </p:sp>
      <p:cxnSp>
        <p:nvCxnSpPr>
          <p:cNvPr id="5" name="Arrow 5"/>
          <p:cNvCxnSpPr/>
          <p:nvPr/>
        </p:nvCxnSpPr>
        <p:spPr>
          <a:xfrm>
            <a:off x="232714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6" name="Box 6"/>
          <p:cNvSpPr/>
          <p:nvPr/>
        </p:nvSpPr>
        <p:spPr>
          <a:xfrm>
            <a:off x="258318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Kerberos ticket for the share</a:t>
            </a:r>
          </a:p>
        </p:txBody>
      </p:sp>
      <p:cxnSp>
        <p:nvCxnSpPr>
          <p:cNvPr id="7" name="Arrow 7"/>
          <p:cNvCxnSpPr/>
          <p:nvPr/>
        </p:nvCxnSpPr>
        <p:spPr>
          <a:xfrm>
            <a:off x="445312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8" name="Box 8"/>
          <p:cNvSpPr/>
          <p:nvPr/>
        </p:nvSpPr>
        <p:spPr>
          <a:xfrm>
            <a:off x="470916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Share permission</a:t>
            </a:r>
          </a:p>
        </p:txBody>
      </p:sp>
      <p:cxnSp>
        <p:nvCxnSpPr>
          <p:cNvPr id="9" name="Arrow 9"/>
          <p:cNvCxnSpPr/>
          <p:nvPr/>
        </p:nvCxnSpPr>
        <p:spPr>
          <a:xfrm>
            <a:off x="657910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0" name="Box 10"/>
          <p:cNvSpPr/>
          <p:nvPr/>
        </p:nvSpPr>
        <p:spPr>
          <a:xfrm>
            <a:off x="683514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193233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NTFS permission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1A1B1B"/>
                </a:solidFill>
                <a:latin typeface="Roboto"/>
                <a:cs typeface="Roboto"/>
              </a:rPr>
              <a:t>Azure Files: Entra ID issues the ticket, no domain controller needed; GA for hybrid and cloud-only users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1A1B1B"/>
                </a:solidFill>
                <a:latin typeface="Roboto"/>
                <a:cs typeface="Roboto"/>
              </a:rPr>
              <a:t>On-site share (SOFS): only a domain controller issues the ticket, so the user must exist in AD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1A1B1B"/>
                </a:solidFill>
                <a:latin typeface="Roboto"/>
                <a:cs typeface="Roboto"/>
              </a:rPr>
              <a:t>Then two locks: the share permission, then the NTFS permission on the user's own folder</a:t>
            </a:r>
          </a:p>
        </p:txBody>
      </p:sp>
      <p:cxnSp>
        <p:nvCxnSpPr>
          <p:cNvPr id="12" name="Line 12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3" name="Node 13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5" name="Node 15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7" name="Node 1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Demo Time: the passport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100" i="1" dirty="0">
                <a:solidFill>
                  <a:srgbClr val="C3FBFE"/>
                </a:solidFill>
                <a:latin typeface="Roboto"/>
                <a:cs typeface="Roboto"/>
              </a:rPr>
              <a:t>Proof on two live hosts: the ticket each one holds for its profile share, and who the share lets in.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691259"/>
            <a:ext cx="1920240" cy="248793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187413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011299"/>
            <a:ext cx="1737360" cy="207645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Azure host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klist shows a ticket for Azure Files, issued by Entra ID</a:t>
            </a:r>
          </a:p>
        </p:txBody>
      </p:sp>
      <p:sp>
        <p:nvSpPr>
          <p:cNvPr id="8" name="Card 8"/>
          <p:cNvSpPr/>
          <p:nvPr/>
        </p:nvSpPr>
        <p:spPr>
          <a:xfrm>
            <a:off x="2560320" y="1691259"/>
            <a:ext cx="1920240" cy="248793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2724912" y="187413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2651760" y="2011299"/>
            <a:ext cx="1737360" cy="207645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On-site host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klist shows a ticket for the SOFS, issued by Active Directory</a:t>
            </a:r>
          </a:p>
        </p:txBody>
      </p:sp>
      <p:sp>
        <p:nvSpPr>
          <p:cNvPr id="11" name="Card 11"/>
          <p:cNvSpPr/>
          <p:nvPr/>
        </p:nvSpPr>
        <p:spPr>
          <a:xfrm>
            <a:off x="4663440" y="1691259"/>
            <a:ext cx="1920240" cy="248793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4828032" y="187413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754880" y="2011299"/>
            <a:ext cx="1737360" cy="207645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The permissions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who may open the profile folders on the share</a:t>
            </a:r>
          </a:p>
        </p:txBody>
      </p:sp>
      <p:sp>
        <p:nvSpPr>
          <p:cNvPr id="14" name="Card 14"/>
          <p:cNvSpPr/>
          <p:nvPr/>
        </p:nvSpPr>
        <p:spPr>
          <a:xfrm>
            <a:off x="6766560" y="1691259"/>
            <a:ext cx="1920240" cy="248793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Rule 15"/>
          <p:cNvSpPr/>
          <p:nvPr/>
        </p:nvSpPr>
        <p:spPr>
          <a:xfrm>
            <a:off x="6931152" y="187413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858000" y="2011299"/>
            <a:ext cx="1737360" cy="207645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Why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a sign-in proves check 1 only; this proves check 3</a:t>
            </a:r>
          </a:p>
        </p:txBody>
      </p:sp>
      <p:cxnSp>
        <p:nvCxnSpPr>
          <p:cNvPr id="17" name="Line 17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8" name="Node 18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20" name="Node 20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22" name="Node 22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4" name="Text 24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450" dirty="0"/>
              <a:t>Where profiles can live, and who can open them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CARRY-ON LUGGAGE  ·  SECTION 6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150" i="1" dirty="0">
                <a:solidFill>
                  <a:srgbClr val="193233"/>
                </a:solidFill>
                <a:latin typeface="Roboto"/>
                <a:cs typeface="Roboto"/>
              </a:rPr>
              <a:t>FSLogix opens the profile as the signed-in user, so the share must accept a ticket for that user.</a:t>
            </a:r>
          </a:p>
        </p:txBody>
      </p:sp>
      <p:graphicFrame>
        <p:nvGraphicFramePr>
          <p:cNvPr id="5" name="Table 5"/>
          <p:cNvGraphicFramePr>
            <a:graphicFrameLocks noGrp="1"/>
          </p:cNvGraphicFramePr>
          <p:nvPr/>
        </p:nvGraphicFramePr>
        <p:xfrm>
          <a:off x="457200" y="1517904"/>
          <a:ext cx="5349240" cy="2887218"/>
        </p:xfrm>
        <a:graphic>
          <a:graphicData uri="http://schemas.openxmlformats.org/drawingml/2006/table">
            <a:tbl>
              <a:tblPr firstRow="1"/>
              <a:tblGrid>
                <a:gridCol w="992642"/>
                <a:gridCol w="716908"/>
                <a:gridCol w="937496"/>
                <a:gridCol w="1378670"/>
                <a:gridCol w="1323523"/>
              </a:tblGrid>
              <a:tr h="481203">
                <a:tc>
                  <a:txBody>
                    <a:bodyPr/>
                    <a:lstStyle/>
                    <a:p>
                      <a:pPr algn="l"/>
                      <a:r>
                        <a:rPr lang="en-US" sz="70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Profile store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Auth on the share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Entra-joined host, cloud-only user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Entra-joined host, hybrid user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AD- or hybrid-joined host, hybrid user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</a:tr>
              <a:tr h="481203">
                <a:tc>
                  <a:txBody>
                    <a:bodyPr/>
                    <a:lstStyle/>
                    <a:p>
                      <a:pPr algn="l"/>
                      <a:r>
                        <a:rPr lang="en-US" sz="7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 Files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Entra Kerberos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 (GA)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Hybrid-joined: yes; AD-only: with a cloud trust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1203">
                <a:tc>
                  <a:txBody>
                    <a:bodyPr/>
                    <a:lstStyle/>
                    <a:p>
                      <a:pPr algn="l"/>
                      <a:r>
                        <a:rPr lang="en-US" sz="7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 Files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AD DS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Yes, with a Kerberos server object and a DC reachable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481203">
                <a:tc>
                  <a:txBody>
                    <a:bodyPr/>
                    <a:lstStyle/>
                    <a:p>
                      <a:pPr algn="l"/>
                      <a:r>
                        <a:rPr lang="en-US" sz="7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 NetApp Files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AD DS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Yes, with a Kerberos server object and a DC reachable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1203">
                <a:tc>
                  <a:txBody>
                    <a:bodyPr/>
                    <a:lstStyle/>
                    <a:p>
                      <a:pPr algn="l"/>
                      <a:r>
                        <a:rPr lang="en-US" sz="7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SOFS on Azure Local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AD DS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Yes, with a Kerberos server object and a DC reachable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Yes, native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481203">
                <a:tc>
                  <a:txBody>
                    <a:bodyPr/>
                    <a:lstStyle/>
                    <a:p>
                      <a:pPr algn="l"/>
                      <a:r>
                        <a:rPr lang="en-US" sz="7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File server VM or NAS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AD DS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Yes, with a Kerberos server object and a DC reachable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 (a single VM: no transparent failover)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Opener frame 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Leg chart 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CARRY-ON LUGGAGE</a:t>
            </a:r>
          </a:p>
        </p:txBody>
      </p:sp>
      <p:cxnSp>
        <p:nvCxnSpPr>
          <p:cNvPr id="9" name="Line 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0" name="Node 1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2" name="Node 12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4" name="Node 14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Profiles: one container or two?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FSLogix keeps each user's profile in a virtual disk on a file share.</a:t>
            </a:r>
          </a:p>
        </p:txBody>
      </p:sp>
      <p:sp>
        <p:nvSpPr>
          <p:cNvPr id="4" name="Card 4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Rule 5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500" b="1" dirty="0">
                <a:solidFill>
                  <a:srgbClr val="1A1B1B"/>
                </a:solidFill>
                <a:latin typeface="Roboto"/>
                <a:cs typeface="Roboto"/>
              </a:rPr>
              <a:t>One container (the default)</a:t>
            </a:r>
          </a:p>
          <a:p>
            <a:pPr>
              <a:spcBef>
                <a:spcPts val="600"/>
              </a:spcBef>
            </a:pPr>
            <a:r>
              <a:rPr lang="en-US" sz="1550" dirty="0">
                <a:solidFill>
                  <a:srgbClr val="193233"/>
                </a:solidFill>
                <a:latin typeface="Roboto"/>
                <a:cs typeface="Roboto"/>
              </a:rPr>
              <a:t>the whole profile, Office data included, in one virtual disk. Start here</a:t>
            </a:r>
          </a:p>
        </p:txBody>
      </p:sp>
      <p:sp>
        <p:nvSpPr>
          <p:cNvPr id="7" name="Card 7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Rule 8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Two containers</a:t>
            </a:r>
          </a:p>
          <a:p>
            <a:pPr>
              <a:spcBef>
                <a:spcPts val="600"/>
              </a:spcBef>
            </a:pPr>
            <a:r>
              <a:rPr lang="en-US" sz="1450" dirty="0">
                <a:solidFill>
                  <a:srgbClr val="193233"/>
                </a:solidFill>
                <a:latin typeface="Roboto"/>
                <a:cs typeface="Roboto"/>
              </a:rPr>
              <a:t>the profile, plus an Office data disk (ODFC: Outlook, Teams and OneDrive caches)</a:t>
            </a:r>
          </a:p>
        </p:txBody>
      </p:sp>
      <p:sp>
        <p:nvSpPr>
          <p:cNvPr id="10" name="Card 10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Rule 11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Why split</a:t>
            </a:r>
          </a:p>
          <a:p>
            <a:pPr>
              <a:spcBef>
                <a:spcPts val="600"/>
              </a:spcBef>
            </a:pPr>
            <a:r>
              <a:rPr lang="en-US" sz="1450" dirty="0">
                <a:solidFill>
                  <a:srgbClr val="193233"/>
                </a:solidFill>
                <a:latin typeface="Roboto"/>
                <a:cs typeface="Roboto"/>
              </a:rPr>
              <a:t>its own size and storage, no backup (rebuildable from Microsoft 365), corruption stays in one disk</a:t>
            </a:r>
          </a:p>
        </p:txBody>
      </p:sp>
      <p:sp>
        <p:nvSpPr>
          <p:cNvPr id="13" name="Card 13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Rule 14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ODFC alone</a:t>
            </a:r>
          </a:p>
          <a:p>
            <a:pPr>
              <a:spcBef>
                <a:spcPts val="600"/>
              </a:spcBef>
            </a:pPr>
            <a:r>
              <a:rPr lang="en-US" sz="1550" dirty="0">
                <a:solidFill>
                  <a:srgbClr val="193233"/>
                </a:solidFill>
                <a:latin typeface="Roboto"/>
                <a:cs typeface="Roboto"/>
              </a:rPr>
              <a:t>when another tool (roaming profiles, Citrix UPM) already roams the rest of the profile</a:t>
            </a:r>
          </a:p>
        </p:txBody>
      </p:sp>
      <p:cxnSp>
        <p:nvCxnSpPr>
          <p:cNvPr id="16" name="Line 1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7" name="Node 1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9" name="Node 19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21" name="Node 21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Demo Time: the carry-on luggage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The profile share, the per-user containers, and the settings that make them portable.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629347"/>
            <a:ext cx="1920240" cy="2611755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1812226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1949387"/>
            <a:ext cx="1737360" cy="2200275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The share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a folder per user, holding a profile disk and an Office-data disk</a:t>
            </a:r>
          </a:p>
        </p:txBody>
      </p:sp>
      <p:sp>
        <p:nvSpPr>
          <p:cNvPr id="8" name="Card 8"/>
          <p:cNvSpPr/>
          <p:nvPr/>
        </p:nvSpPr>
        <p:spPr>
          <a:xfrm>
            <a:off x="2560320" y="1629347"/>
            <a:ext cx="1920240" cy="2611755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2724912" y="1812226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2651760" y="1949387"/>
            <a:ext cx="1737360" cy="2200275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The host</a:t>
            </a:r>
          </a:p>
          <a:p>
            <a:pPr>
              <a:spcBef>
                <a:spcPts val="600"/>
              </a:spcBef>
            </a:pPr>
            <a:r>
              <a:rPr lang="en-US" sz="1450" dirty="0">
                <a:solidFill>
                  <a:srgbClr val="C3FBFE"/>
                </a:solidFill>
                <a:latin typeface="Roboto"/>
                <a:cs typeface="Roboto"/>
              </a:rPr>
              <a:t>where the disks live, readable folder names, and fail closed instead of a temporary profile</a:t>
            </a:r>
          </a:p>
        </p:txBody>
      </p:sp>
      <p:sp>
        <p:nvSpPr>
          <p:cNvPr id="11" name="Card 11"/>
          <p:cNvSpPr/>
          <p:nvPr/>
        </p:nvSpPr>
        <p:spPr>
          <a:xfrm>
            <a:off x="4663440" y="1629347"/>
            <a:ext cx="1920240" cy="2611755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4828032" y="1812226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754880" y="1949387"/>
            <a:ext cx="1737360" cy="2200275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150" b="1" dirty="0">
                <a:solidFill>
                  <a:srgbClr val="98F8FE"/>
                </a:solidFill>
                <a:latin typeface="Roboto"/>
                <a:cs typeface="Roboto"/>
              </a:rPr>
              <a:t>redirections.xml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browser caches and temp files kept out of the profile so it stays small</a:t>
            </a:r>
          </a:p>
        </p:txBody>
      </p:sp>
      <p:sp>
        <p:nvSpPr>
          <p:cNvPr id="14" name="Card 14"/>
          <p:cNvSpPr/>
          <p:nvPr/>
        </p:nvSpPr>
        <p:spPr>
          <a:xfrm>
            <a:off x="6766560" y="1629347"/>
            <a:ext cx="1920240" cy="2611755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Rule 15"/>
          <p:cNvSpPr/>
          <p:nvPr/>
        </p:nvSpPr>
        <p:spPr>
          <a:xfrm>
            <a:off x="6931152" y="1812226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858000" y="1949387"/>
            <a:ext cx="1737360" cy="2200275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Same settings in all three terminals; only the share path changes</a:t>
            </a:r>
          </a:p>
        </p:txBody>
      </p:sp>
      <p:cxnSp>
        <p:nvCxnSpPr>
          <p:cNvPr id="17" name="Line 17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8" name="Node 18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20" name="Node 20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22" name="Node 22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4" name="Text 24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100" dirty="0"/>
              <a:t>Does the profile follow the user? Three ways to do it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150" i="1" dirty="0">
                <a:solidFill>
                  <a:srgbClr val="193233"/>
                </a:solidFill>
                <a:latin typeface="Roboto"/>
                <a:cs typeface="Roboto"/>
              </a:rPr>
              <a:t>Choose between one profile everywhere and local speed: shared share, Cloud Cache, or one per site.</a:t>
            </a:r>
          </a:p>
        </p:txBody>
      </p:sp>
      <p:sp>
        <p:nvSpPr>
          <p:cNvPr id="4" name="Card 4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Rule 5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A: one share in Azure for everyone: one profile everywhere, but on-site users wait on the WAN link</a:t>
            </a:r>
          </a:p>
        </p:txBody>
      </p:sp>
      <p:sp>
        <p:nvSpPr>
          <p:cNvPr id="7" name="Card 7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Rule 8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B: Cloud Cache keeps a copy in both places: the same profile, fast on site and in Azure (next slide)</a:t>
            </a:r>
          </a:p>
        </p:txBody>
      </p:sp>
      <p:sp>
        <p:nvSpPr>
          <p:cNvPr id="10" name="Card 10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Rule 11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C: one profile per site: fast and simple, but Azure and on site are two different profiles</a:t>
            </a:r>
          </a:p>
        </p:txBody>
      </p:sp>
      <p:sp>
        <p:nvSpPr>
          <p:cNvPr id="13" name="Card 13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Rule 14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This lab today</a:t>
            </a:r>
          </a:p>
          <a:p>
            <a:pPr>
              <a:spcBef>
                <a:spcPts val="600"/>
              </a:spcBef>
            </a:pPr>
            <a:r>
              <a:rPr lang="en-US" sz="1550" dirty="0">
                <a:solidFill>
                  <a:srgbClr val="193233"/>
                </a:solidFill>
                <a:latin typeface="Roboto"/>
                <a:cs typeface="Roboto"/>
              </a:rPr>
              <a:t>C. Azure Local and Hybrid share one profile on the SOFS; Azure has its own</a:t>
            </a:r>
          </a:p>
        </p:txBody>
      </p:sp>
      <p:cxnSp>
        <p:nvCxnSpPr>
          <p:cNvPr id="16" name="Line 1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7" name="Node 1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9" name="Node 19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21" name="Node 21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Luggage that follows you between flights: Cloud Cache (pattern B)</a:t>
            </a:r>
          </a:p>
        </p:txBody>
      </p:sp>
      <p:pic>
        <p:nvPicPr>
          <p:cNvPr id="3" name="Chart 3" descr="Luggage that follows you between flights: Cloud Cache (pattern B)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ext 4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One repo builds all three terminals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GROUND CREW  ·  SECTION 7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One config file and one set of image scripts serve all three terminals.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400" dirty="0"/>
              <a:t>One config file describes all three host pools. The scripts read it, so nothing is hardcoded</a:t>
            </a:r>
          </a:p>
          <a:p>
            <a:pPr>
              <a:spcBef>
                <a:spcPts val="700"/>
              </a:spcBef>
            </a:pPr>
            <a:r>
              <a:rPr lang="en-US" sz="1400" dirty="0"/>
              <a:t>Same image scripts everywhere: FSLogix, Teams media, optimisation, Arc agent</a:t>
            </a:r>
          </a:p>
          <a:p>
            <a:pPr>
              <a:spcBef>
                <a:spcPts val="700"/>
              </a:spcBef>
            </a:pPr>
            <a:r>
              <a:rPr lang="en-US" sz="1400" dirty="0"/>
              <a:t>Image build: Azure Image Builder for Azure and Azure Local; a Packer template for other hypervisors</a:t>
            </a:r>
          </a:p>
          <a:p>
            <a:pPr>
              <a:spcBef>
                <a:spcPts val="700"/>
              </a:spcBef>
            </a:pPr>
            <a:r>
              <a:rPr lang="en-US" sz="1400" dirty="0"/>
              <a:t>Only creating the VM differs: an Azure VM, an Azure Local VM, or a VM on your own hypervisor</a:t>
            </a:r>
          </a:p>
          <a:p>
            <a:pPr>
              <a:spcBef>
                <a:spcPts val="700"/>
              </a:spcBef>
            </a:pPr>
            <a:r>
              <a:rPr lang="en-US" sz="1400" dirty="0"/>
              <a:t>One Azure Monitor workspace sees every host; on-site hosts report through Azure Arc</a:t>
            </a:r>
          </a:p>
        </p:txBody>
      </p:sp>
      <p:sp>
        <p:nvSpPr>
          <p:cNvPr id="6" name="Opener frame 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Leg chart 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GROUND CREW</a:t>
            </a:r>
          </a:p>
        </p:txBody>
      </p:sp>
      <p:cxnSp>
        <p:nvCxnSpPr>
          <p:cNvPr id="9" name="Line 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0" name="Node 1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2" name="Node 12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4" name="Node 14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Demo Time: one repo, one security baseline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2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150" i="1" dirty="0">
                <a:solidFill>
                  <a:srgbClr val="C3FBFE"/>
                </a:solidFill>
                <a:latin typeface="Roboto"/>
                <a:cs typeface="Roboto"/>
              </a:rPr>
              <a:t>One config file deploys all three terminals, and one set of security controls watches all of them.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Repo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one config file, and a what-if preview before anything is deployed</a:t>
            </a:r>
          </a:p>
        </p:txBody>
      </p:sp>
      <p:sp>
        <p:nvSpPr>
          <p:cNvPr id="8" name="Card 8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Session rules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the same RDP redirection settings on all three host pools</a:t>
            </a:r>
          </a:p>
        </p:txBody>
      </p:sp>
      <p:sp>
        <p:nvSpPr>
          <p:cNvPr id="11" name="Card 11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Defender for Cloud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every session host in one list, Azure VMs and Arc machines alike</a:t>
            </a:r>
          </a:p>
        </p:txBody>
      </p:sp>
      <p:sp>
        <p:nvSpPr>
          <p:cNvPr id="14" name="Card 14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Rule 15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Profiles and logs</a:t>
            </a:r>
          </a:p>
          <a:p>
            <a:pPr>
              <a:spcBef>
                <a:spcPts val="600"/>
              </a:spcBef>
            </a:pPr>
            <a:r>
              <a:rPr lang="en-US" sz="1450" dirty="0">
                <a:solidFill>
                  <a:srgbClr val="C3FBFE"/>
                </a:solidFill>
                <a:latin typeface="Roboto"/>
                <a:cs typeface="Roboto"/>
              </a:rPr>
              <a:t>Defender for Storage on the profile share; all hosts' security events in Sentinel</a:t>
            </a:r>
          </a:p>
        </p:txBody>
      </p:sp>
      <p:cxnSp>
        <p:nvCxnSpPr>
          <p:cNvPr id="17" name="Line 17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8" name="Node 18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20" name="Node 20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22" name="Node 22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4" name="Text 24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Demo Time: the connecting flight, six steps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98F8FE"/>
                </a:solidFill>
                <a:latin typeface="Roboto"/>
                <a:cs typeface="Roboto"/>
              </a:rPr>
              <a:t>THE CONNECTING FLIGHT  ·  SECTION 8</a:t>
            </a:r>
          </a:p>
        </p:txBody>
      </p:sp>
      <p:sp>
        <p:nvSpPr>
          <p:cNvPr id="4" name="Demo tag 4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6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One user, three terminals, one live run: the right desktop appears, the profile follows, a host fails, and we watch it.</a:t>
            </a:r>
          </a:p>
        </p:txBody>
      </p:sp>
      <p:graphicFrame>
        <p:nvGraphicFramePr>
          <p:cNvPr id="6" name="Table 6"/>
          <p:cNvGraphicFramePr>
            <a:graphicFrameLocks noGrp="1"/>
          </p:cNvGraphicFramePr>
          <p:nvPr/>
        </p:nvGraphicFramePr>
        <p:xfrm>
          <a:off x="457200" y="1517904"/>
          <a:ext cx="5349240" cy="2800350"/>
        </p:xfrm>
        <a:graphic>
          <a:graphicData uri="http://schemas.openxmlformats.org/drawingml/2006/table">
            <a:tbl>
              <a:tblPr firstRow="1"/>
              <a:tblGrid>
                <a:gridCol w="608857"/>
                <a:gridCol w="1391672"/>
                <a:gridCol w="1783080"/>
                <a:gridCol w="1565631"/>
              </a:tblGrid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Step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98F8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Action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98F8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Observable proof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98F8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Pass condition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98F8FE"/>
                    </a:solidFill>
                  </a:tcPr>
                </a:tc>
              </a:tr>
              <a:tr h="366903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1 State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Show the three pools and the user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Three desktops, hosts Available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All three pools show hosts Available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</a:tr>
              <a:tr h="366903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2 Entitle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Change the user's group, refresh the feed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Different desktops appear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Feed shows only the new group's desktop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</a:tr>
              <a:tr h="595503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3 Portable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Sign in on each terminal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Known file on Azure Local and Hybrid (same profile container on the SOFS); Azure keeps its own until Cloud Cache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Same profile container attaches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</a:tr>
              <a:tr h="366903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4 Fail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Hard power-off a Hybrid host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Host Unavailable; new session on host 2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Saved work present, unsaved lost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</a:tr>
              <a:tr h="366903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5 Watch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Query the one workspace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All three terminals in one view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Hosts from all three terminals in one query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</a:tr>
              <a:tr h="481203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6 Explain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Ask the Azure Copilot Observability Agent (preview)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Findings, ruled-out causes, next steps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What went down and when, from Azure-side signals only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</a:tr>
            </a:tbl>
          </a:graphicData>
        </a:graphic>
      </p:graphicFrame>
      <p:sp>
        <p:nvSpPr>
          <p:cNvPr id="7" name="Opener frame 7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8" name="Leg chart 8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9" name="Text 9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98F8FE"/>
                </a:solidFill>
                <a:latin typeface="Roboto"/>
                <a:cs typeface="Roboto"/>
              </a:rPr>
              <a:t>YOU ARE HERE  ·  THE CONNECTING FLIGHT</a:t>
            </a:r>
          </a:p>
        </p:txBody>
      </p:sp>
      <p:cxnSp>
        <p:nvCxnSpPr>
          <p:cNvPr id="10" name="Line 10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1" name="Node 11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3" name="Node 13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5" name="Node 15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200" dirty="0"/>
              <a:t>Choose your terminal: five questions, one rule each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CHOOSE YOUR TERMINAL  ·  SECTION 9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150" i="1" dirty="0">
                <a:solidFill>
                  <a:srgbClr val="193233"/>
                </a:solidFill>
                <a:latin typeface="Roboto"/>
                <a:cs typeface="Roboto"/>
              </a:rPr>
              <a:t>Azure for bursty demand; Azure Local when data must stay on site; Hybrid to reuse your hypervisor.</a:t>
            </a:r>
          </a:p>
        </p:txBody>
      </p:sp>
      <p:graphicFrame>
        <p:nvGraphicFramePr>
          <p:cNvPr id="5" name="Table 5"/>
          <p:cNvGraphicFramePr>
            <a:graphicFrameLocks noGrp="1"/>
          </p:cNvGraphicFramePr>
          <p:nvPr/>
        </p:nvGraphicFramePr>
        <p:xfrm>
          <a:off x="457200" y="1517904"/>
          <a:ext cx="5349240" cy="2665476"/>
        </p:xfrm>
        <a:graphic>
          <a:graphicData uri="http://schemas.openxmlformats.org/drawingml/2006/table">
            <a:tbl>
              <a:tblPr firstRow="1"/>
              <a:tblGrid>
                <a:gridCol w="950485"/>
                <a:gridCol w="1149423"/>
                <a:gridCol w="1436779"/>
                <a:gridCol w="1812552"/>
              </a:tblGrid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Axis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AVD on Azure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AVD on Azure Local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AVD Hybrid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Locality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An Azure region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Your Azure Local cluster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Any hypervisor you already run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1203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Who creates and powers the VM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You, from Azure (Azure Local VMs through Arc)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You, with your hypervisor tools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709803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Identity and OS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Win11/10 single or multi-session, Windows Server; Entra, AD or hybrid join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Win11/10 single or multi-session, Windows Server; AD or hybrid join (portal), Entra join (PowerShell)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Win11/10 Enterprise single-session or Windows Server; no multi-session; Server: AD or hybrid join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1203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Operations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Autoscale, Start VM on Connect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Start VM on Connect; autoscale not documented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None from AVD: no autoscale, power management or Start VM on Connect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481203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Cost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 compute and storage + user licence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 Local fee + AVD per-vCPU fee + user licence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Your infrastructure + user licence + AVD Hybrid service user licence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Opener frame 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Leg chart 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CHOOSE YOUR TERMINAL</a:t>
            </a:r>
          </a:p>
        </p:txBody>
      </p:sp>
      <p:cxnSp>
        <p:nvCxnSpPr>
          <p:cNvPr id="9" name="Line 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0" name="Node 1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2" name="Node 12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4" name="Node 14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100" dirty="0"/>
              <a:t>Before you choose: what is GA, and the limits to check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All three are GA.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457200" y="1517904"/>
          <a:ext cx="8229600" cy="2199132"/>
        </p:xfrm>
        <a:graphic>
          <a:graphicData uri="http://schemas.openxmlformats.org/drawingml/2006/table">
            <a:tbl>
              <a:tblPr firstRow="1"/>
              <a:tblGrid>
                <a:gridCol w="1122218"/>
                <a:gridCol w="1047404"/>
                <a:gridCol w="3441469"/>
                <a:gridCol w="2618509"/>
              </a:tblGrid>
              <a:tr h="30975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Terminal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Limits to know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Check in your tenant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GA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Entra Kerberos to Azure Files GA for hybrid and cloud-only users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Licences; Entra Kerberos prerequisites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979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 Local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GA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Autoscale not documented; Entra join by PowerShell, not the portal; AVD fee per active vCPU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Profiles on an SMB file share (here a Scale-Out File Server), not directly on cluster volumes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78981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AVD Hybrid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GA (Sept 2026)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Single-session or Windows Server only; no autoscale, power management, Start VM on Connect or session host configuration; RDP Shortpath not documented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Arc endpoints reachable; Hybrid service user licence; who restarts a failed VM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8" name="Node 8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0" name="Node 1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150" dirty="0"/>
              <a:t>Who owns what: monitoring, patching, power, recovery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Monitoring and security are the same everywhere; patching, power and recovery are not.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457200" y="1517904"/>
          <a:ext cx="8229600" cy="2688336"/>
        </p:xfrm>
        <a:graphic>
          <a:graphicData uri="http://schemas.openxmlformats.org/drawingml/2006/table">
            <a:tbl>
              <a:tblPr firstRow="1"/>
              <a:tblGrid>
                <a:gridCol w="1496291"/>
                <a:gridCol w="2244436"/>
                <a:gridCol w="2244436"/>
                <a:gridCol w="2244436"/>
              </a:tblGrid>
              <a:tr h="262128">
                <a:tc>
                  <a:txBody>
                    <a:bodyPr/>
                    <a:lstStyle/>
                    <a:p>
                      <a:pPr algn="l"/>
                      <a:r>
                        <a:rPr lang="en-US" sz="80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Task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Azure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Azure Local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AVD Hybrid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</a:tr>
              <a:tr h="505968">
                <a:tc>
                  <a:txBody>
                    <a:bodyPr/>
                    <a:lstStyle/>
                    <a:p>
                      <a:pPr algn="l"/>
                      <a:r>
                        <a:rPr lang="en-US" sz="8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Guest patching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Image replacement; Intune or WUfB if hybrid/Entra joined, else WSUS/GPO for Windows 11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Same; Update Manager covers servers, not Windows 11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Image replacement; Intune or WUfB if hybrid/Entra joined, else WSUS/GPO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lang="en-US" sz="8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Host or hypervisor patching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Microsoft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 Local updates: you pick the time, Azure applies them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You, with your hypervisor tooling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lang="en-US" sz="8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Power and scaling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Scaling plan, Start VM on Connect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Start VM on Connect; autoscale not documented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You: none from AVD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2128">
                <a:tc>
                  <a:txBody>
                    <a:bodyPr/>
                    <a:lstStyle/>
                    <a:p>
                      <a:pPr algn="l"/>
                      <a:r>
                        <a:rPr lang="en-US" sz="8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Monitoring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Insights and Log Analytics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Same workspace, via Arc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Same workspace, via Arc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505968">
                <a:tc>
                  <a:txBody>
                    <a:bodyPr/>
                    <a:lstStyle/>
                    <a:p>
                      <a:pPr algn="l"/>
                      <a:r>
                        <a:rPr lang="en-US" sz="8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Security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Defender for Servers P2, Sentinel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Same, through Arc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Same, through Arc (add Defender for Endpoint: Intune if Entra/hybrid joined, else GPO or Configuration Manager)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lang="en-US" sz="8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Failed VM recovery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Redeploy from the image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The cluster restarts it on another node; otherwise you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Your hypervisor or its cluster, never AVD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</a:tbl>
          </a:graphicData>
        </a:graphic>
      </p:graphicFrame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8" name="Node 8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0" name="Node 1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What you take home: decide, check, run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WHAT YOU TAKE HOME  ·  SECTION 10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100" i="1" dirty="0">
                <a:solidFill>
                  <a:srgbClr val="193233"/>
                </a:solidFill>
                <a:latin typeface="Roboto"/>
                <a:cs typeface="Roboto"/>
              </a:rPr>
              <a:t>Three things to do on Monday: decide per user group, check the limits in your own tenant, run the repo.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2100" dirty="0"/>
              <a:t>Decide: pick a terminal per user group with the five questions</a:t>
            </a:r>
          </a:p>
          <a:p>
            <a:pPr>
              <a:spcBef>
                <a:spcPts val="700"/>
              </a:spcBef>
            </a:pPr>
            <a:r>
              <a:rPr lang="en-US" sz="2100" dirty="0"/>
              <a:t>Check: the GA limits in your own tenant, especially for AVD Hybrid</a:t>
            </a:r>
          </a:p>
          <a:p>
            <a:pPr>
              <a:spcBef>
                <a:spcPts val="700"/>
              </a:spcBef>
            </a:pPr>
            <a:r>
              <a:rPr lang="en-US" sz="2100" dirty="0"/>
              <a:t>Run: one repo, one config file, and the follow-along guide for every demo you saw</a:t>
            </a:r>
          </a:p>
        </p:txBody>
      </p:sp>
      <p:sp>
        <p:nvSpPr>
          <p:cNvPr id="6" name="Opener frame 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Leg chart 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WHAT YOU TAKE HOME</a:t>
            </a:r>
          </a:p>
        </p:txBody>
      </p:sp>
      <p:cxnSp>
        <p:nvCxnSpPr>
          <p:cNvPr id="9" name="Line 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0" name="Node 1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2" name="Node 12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4" name="Node 14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450" dirty="0"/>
              <a:t>Tomorrow: Azure Local, from discovery to Day 2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The cluster under all this, how it was planned, deployed and operated.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2200" dirty="0"/>
              <a:t>We just saw AVD land on an Azure Local cluster. Tomorrow: how that cluster was planned for these desktops, built and run.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Thu 15 Oct, 09:50, Room 5: plan and discover; deploy and Day-2 ready; operate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Same cluster, same repo, live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8" name="Node 8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0" name="Node 1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100" dirty="0"/>
              <a:t>After this: 14:40 in this room, and two more sessions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Right after this, same room: the Arc side of AVD Hybrid.</a:t>
            </a:r>
          </a:p>
        </p:txBody>
      </p:sp>
      <p:sp>
        <p:nvSpPr>
          <p:cNvPr id="4" name="Card 4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Rule 5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14:40, this room: AVD Hybrid on Any Hypervisor (Gregor Reimling, Marcel Meurer, L300): Arc and Day 2</a:t>
            </a:r>
          </a:p>
        </p:txBody>
      </p:sp>
      <p:sp>
        <p:nvSpPr>
          <p:cNvPr id="7" name="Card 7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Rule 8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Thu 11:10, Room 5: 10 security settings you must configure in Windows 11 (Nicklas Ahlberg, L300)</a:t>
            </a:r>
          </a:p>
        </p:txBody>
      </p:sp>
      <p:sp>
        <p:nvSpPr>
          <p:cNvPr id="10" name="Card 10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Rule 11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Thu 13:00, Room 3: Combining identity and network controls in Azure (Kristoffer Hatland, L400)</a:t>
            </a:r>
          </a:p>
        </p:txBody>
      </p:sp>
      <p:sp>
        <p:nvSpPr>
          <p:cNvPr id="13" name="Card 13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Rule 14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Times are Oslo time; rooms can change, so check the NIC agenda. Thank you!</a:t>
            </a:r>
          </a:p>
        </p:txBody>
      </p:sp>
      <p:cxnSp>
        <p:nvCxnSpPr>
          <p:cNvPr id="16" name="Line 1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7" name="Node 1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9" name="Node 19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21" name="Node 21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Questions, and your feedback</a:t>
            </a:r>
          </a:p>
        </p:txBody>
      </p:sp>
      <p:pic>
        <p:nvPicPr>
          <p:cNvPr id="3" name="Chart 3" descr="Questions, and your feedback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ext 4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51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PT-mal_NIC">
  <a:themeElements>
    <a:clrScheme name="Violet II">
      <a:dk1>
        <a:sysClr val="windowText" lastClr="000000"/>
      </a:dk1>
      <a:lt1>
        <a:sysClr val="window" lastClr="FFFFFF"/>
      </a:lt1>
      <a:dk2>
        <a:srgbClr val="632E62"/>
      </a:dk2>
      <a:lt2>
        <a:srgbClr val="EAE5EB"/>
      </a:lt2>
      <a:accent1>
        <a:srgbClr val="92278F"/>
      </a:accent1>
      <a:accent2>
        <a:srgbClr val="9B57D3"/>
      </a:accent2>
      <a:accent3>
        <a:srgbClr val="755DD9"/>
      </a:accent3>
      <a:accent4>
        <a:srgbClr val="665EB8"/>
      </a:accent4>
      <a:accent5>
        <a:srgbClr val="45A5ED"/>
      </a:accent5>
      <a:accent6>
        <a:srgbClr val="5982DB"/>
      </a:accent6>
      <a:hlink>
        <a:srgbClr val="0066FF"/>
      </a:hlink>
      <a:folHlink>
        <a:srgbClr val="666699"/>
      </a:folHlink>
    </a:clrScheme>
    <a:fontScheme name="Custom 1">
      <a:majorFont>
        <a:latin typeface="Figtree"/>
        <a:ea typeface=""/>
        <a:cs typeface=""/>
      </a:majorFont>
      <a:minorFont>
        <a:latin typeface="Figtre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550606D0306B414485AB0ED919BE5093" ma:contentTypeVersion="9" ma:contentTypeDescription="Opprett et nytt dokument." ma:contentTypeScope="" ma:versionID="86e9e4850e235c65c8f7baa53c7b85b0">
  <xsd:schema xmlns:xsd="http://www.w3.org/2001/XMLSchema" xmlns:xs="http://www.w3.org/2001/XMLSchema" xmlns:p="http://schemas.microsoft.com/office/2006/metadata/properties" xmlns:ns2="aecd07d0-0a4a-468d-8d2c-4a3699fc1520" targetNamespace="http://schemas.microsoft.com/office/2006/metadata/properties" ma:root="true" ma:fieldsID="4fc96f60fa9e8a66d91aa9b5ee3560b2" ns2:_="">
    <xsd:import namespace="aecd07d0-0a4a-468d-8d2c-4a3699fc152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2:MediaServiceOCR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ecd07d0-0a4a-468d-8d2c-4a3699fc152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Bildemerkelapper" ma:readOnly="false" ma:fieldId="{5cf76f15-5ced-4ddc-b409-7134ff3c332f}" ma:taxonomyMulti="true" ma:sspId="a82fb023-be25-41c8-82b3-54dea1880b3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nholdstype"/>
        <xsd:element ref="dc:title" minOccurs="0" maxOccurs="1" ma:index="4" ma:displayName="Tit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aecd07d0-0a4a-468d-8d2c-4a3699fc1520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A95E7B90-D9B1-4401-9CFA-9F79C1459A12}"/>
</file>

<file path=customXml/itemProps2.xml><?xml version="1.0" encoding="utf-8"?>
<ds:datastoreItem xmlns:ds="http://schemas.openxmlformats.org/officeDocument/2006/customXml" ds:itemID="{0404F62A-926D-496C-8752-68B7680A57D6}"/>
</file>

<file path=customXml/itemProps3.xml><?xml version="1.0" encoding="utf-8"?>
<ds:datastoreItem xmlns:ds="http://schemas.openxmlformats.org/officeDocument/2006/customXml" ds:itemID="{C598BBD6-4872-427A-8421-76B5D6EEA5AB}"/>
</file>

<file path=docProps/app.xml><?xml version="1.0" encoding="utf-8"?>
<Properties xmlns="http://schemas.openxmlformats.org/officeDocument/2006/extended-properties" xmlns:vt="http://schemas.openxmlformats.org/officeDocument/2006/docPropsVTypes">
  <Template>PPT-mal_NIC.potx</Template>
  <Application>Microsoft Office PowerPoint</Application>
  <PresentationFormat>On-screen Show (16:9)</PresentationFormat>
  <Slides>51</Slides>
  <Notes>0</Notes>
  <HiddenSlides>0</HiddenSlides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AVD Anywhere</dc:title>
  <dc:subject>Azure Virtual Desktop on Azure, Azure Local, and AVD Hybrid Platforms</dc:subject>
  <dc:creator>Kristopher Turner</dc:creator>
  <cp:lastModifiedBy>Kristopher Turner</cp:lastModifiedBy>
  <cp:revision>1</cp:revision>
  <dcterms:created xsi:type="dcterms:W3CDTF">2026-10-14T10:32:39Z</dcterms:created>
  <dcterms:modified xsi:type="dcterms:W3CDTF">2026-10-14T10:32:39Z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0x010100550606D0306B414485AB0ED919BE5093</vt:lpwstr>
  </property>
</Properties>
</file>