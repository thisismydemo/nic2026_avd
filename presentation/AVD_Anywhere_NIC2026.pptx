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</p:sldIdLst>
  <p:notesMasterIdLst>
    <p:notesMasterId r:id="rId7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notesMaster" Target="notesMasters/notesMaster1.xml"/><Relationship Id="rId80" Type="http://schemas.openxmlformats.org/officeDocument/2006/relationships/presProps" Target="presProps.xml"/><Relationship Id="rId81" Type="http://schemas.openxmlformats.org/officeDocument/2006/relationships/viewProps" Target="viewProps.xml"/><Relationship Id="rId82" Type="http://schemas.openxmlformats.org/officeDocument/2006/relationships/theme" Target="theme/theme1.xml"/><Relationship Id="rId8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50815" cy="128016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50815" cy="128016"/>
          </a:xfrm>
          <a:prstGeom prst="rect">
            <a:avLst/>
          </a:prstGeom>
          <a:solidFill>
            <a:srgbClr val="FFA94D"/>
          </a:solidFill>
          <a:ln w="12700">
            <a:solidFill>
              <a:srgbClr val="FFA9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50815" cy="128016"/>
          </a:xfrm>
          <a:prstGeom prst="rect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50815" cy="128016"/>
          </a:xfrm>
          <a:prstGeom prst="rect">
            <a:avLst/>
          </a:prstGeom>
          <a:solidFill>
            <a:srgbClr val="8CE99A"/>
          </a:solidFill>
          <a:ln w="12700">
            <a:solidFill>
              <a:srgbClr val="8CE99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50815" cy="128016"/>
          </a:xfrm>
          <a:prstGeom prst="rect">
            <a:avLst/>
          </a:prstGeom>
          <a:solidFill>
            <a:srgbClr val="66D9E8"/>
          </a:solidFill>
          <a:ln w="12700">
            <a:solidFill>
              <a:srgbClr val="66D9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50815" cy="128016"/>
          </a:xfrm>
          <a:prstGeom prst="rect">
            <a:avLst/>
          </a:prstGeom>
          <a:solidFill>
            <a:srgbClr val="74C0FC"/>
          </a:solidFill>
          <a:ln w="12700">
            <a:solidFill>
              <a:srgbClr val="74C0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50815" cy="128016"/>
          </a:xfrm>
          <a:prstGeom prst="rect">
            <a:avLst/>
          </a:prstGeom>
          <a:solidFill>
            <a:srgbClr val="B197FC"/>
          </a:solidFill>
          <a:ln w="12700">
            <a:solidFill>
              <a:srgbClr val="B197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729984"/>
            <a:ext cx="1750815" cy="128016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41671" y="6729984"/>
            <a:ext cx="1750815" cy="128016"/>
          </a:xfrm>
          <a:prstGeom prst="rect">
            <a:avLst/>
          </a:prstGeom>
          <a:solidFill>
            <a:srgbClr val="FFA94D"/>
          </a:solidFill>
          <a:ln w="12700">
            <a:solidFill>
              <a:srgbClr val="FFA9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83341" y="6729984"/>
            <a:ext cx="1750815" cy="128016"/>
          </a:xfrm>
          <a:prstGeom prst="rect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25012" y="6729984"/>
            <a:ext cx="1750815" cy="128016"/>
          </a:xfrm>
          <a:prstGeom prst="rect">
            <a:avLst/>
          </a:prstGeom>
          <a:solidFill>
            <a:srgbClr val="8CE99A"/>
          </a:solidFill>
          <a:ln w="12700">
            <a:solidFill>
              <a:srgbClr val="8CE99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66683" y="6729984"/>
            <a:ext cx="1750815" cy="128016"/>
          </a:xfrm>
          <a:prstGeom prst="rect">
            <a:avLst/>
          </a:prstGeom>
          <a:solidFill>
            <a:srgbClr val="66D9E8"/>
          </a:solidFill>
          <a:ln w="12700">
            <a:solidFill>
              <a:srgbClr val="66D9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708354" y="6729984"/>
            <a:ext cx="1750815" cy="128016"/>
          </a:xfrm>
          <a:prstGeom prst="rect">
            <a:avLst/>
          </a:prstGeom>
          <a:solidFill>
            <a:srgbClr val="74C0FC"/>
          </a:solidFill>
          <a:ln w="12700">
            <a:solidFill>
              <a:srgbClr val="74C0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450024" y="6729984"/>
            <a:ext cx="1750815" cy="128016"/>
          </a:xfrm>
          <a:prstGeom prst="rect">
            <a:avLst/>
          </a:prstGeom>
          <a:solidFill>
            <a:srgbClr val="B197FC"/>
          </a:solidFill>
          <a:ln w="12700">
            <a:solidFill>
              <a:srgbClr val="B197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1645920"/>
            <a:ext cx="10698480" cy="2194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Anywhere: Azure Virtual Desktop on Azure, Azure Local, and AVD Hybrid Platforms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Kristopher Turner · NIC 2026 · Wed 14 Oct, 13:20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problem: users do not all belong in one place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 kinds of users, three right places.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Elasticity and scale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 gravity, regulation, latency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5B84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new hardware, existing hypervisor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Hybrid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Open — three realms, one desktop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promise: one identity, one profile pattern, one operational story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554480"/>
            <a:ext cx="3322320" cy="1965960"/>
          </a:xfrm>
          <a:prstGeom prst="roundRect">
            <a:avLst>
              <a:gd name="adj" fmla="val 3721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3322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3048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Elastic, pooled, Entra-joined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19600" y="1554480"/>
            <a:ext cx="3322320" cy="1965960"/>
          </a:xfrm>
          <a:prstGeom prst="roundRect">
            <a:avLst>
              <a:gd name="adj" fmla="val 3721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19600" y="1691640"/>
            <a:ext cx="3322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56760" y="2286000"/>
            <a:ext cx="3048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Your site: data, latency, regulation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16240" y="1554480"/>
            <a:ext cx="3322320" cy="1965960"/>
          </a:xfrm>
          <a:prstGeom prst="roundRect">
            <a:avLst>
              <a:gd name="adj" fmla="val 3721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16240" y="1691640"/>
            <a:ext cx="3322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B84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Hybrid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153400" y="2286000"/>
            <a:ext cx="3048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Your hypervisor, Arc-enabled VMs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3703320"/>
            <a:ext cx="1502229" cy="164592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25189" y="3703320"/>
            <a:ext cx="1502229" cy="164592"/>
          </a:xfrm>
          <a:prstGeom prst="rect">
            <a:avLst/>
          </a:prstGeom>
          <a:solidFill>
            <a:srgbClr val="FFA94D"/>
          </a:solidFill>
          <a:ln w="12700">
            <a:solidFill>
              <a:srgbClr val="FFA9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27417" y="3703320"/>
            <a:ext cx="1502229" cy="164592"/>
          </a:xfrm>
          <a:prstGeom prst="rect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29646" y="3703320"/>
            <a:ext cx="1502229" cy="164592"/>
          </a:xfrm>
          <a:prstGeom prst="rect">
            <a:avLst/>
          </a:prstGeom>
          <a:solidFill>
            <a:srgbClr val="8CE99A"/>
          </a:solidFill>
          <a:ln w="12700">
            <a:solidFill>
              <a:srgbClr val="8CE99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31874" y="3703320"/>
            <a:ext cx="1502229" cy="164592"/>
          </a:xfrm>
          <a:prstGeom prst="rect">
            <a:avLst/>
          </a:prstGeom>
          <a:solidFill>
            <a:srgbClr val="66D9E8"/>
          </a:solidFill>
          <a:ln w="12700">
            <a:solidFill>
              <a:srgbClr val="66D9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34103" y="3703320"/>
            <a:ext cx="1502229" cy="164592"/>
          </a:xfrm>
          <a:prstGeom prst="rect">
            <a:avLst/>
          </a:prstGeom>
          <a:solidFill>
            <a:srgbClr val="74C0FC"/>
          </a:solidFill>
          <a:ln w="12700">
            <a:solidFill>
              <a:srgbClr val="74C0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36331" y="3703320"/>
            <a:ext cx="1502229" cy="164592"/>
          </a:xfrm>
          <a:prstGeom prst="rect">
            <a:avLst/>
          </a:prstGeom>
          <a:solidFill>
            <a:srgbClr val="B197FC"/>
          </a:solidFill>
          <a:ln w="12700">
            <a:solidFill>
              <a:srgbClr val="B197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9044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ID + Arc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2960" y="480060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workspace exposes three entitled desktops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same user and the same profile pattern work in each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Monitoring is shared; patching, power and recovery differ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Open — three realms, one desktop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end state first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workspace, three host pools, all Available.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a0-three-pools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Open — three realms, one desktop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Repo and follow-along guide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Everything is in the repo; every demo has a follow-along page.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github.com/&lt;org&gt;/nic2026_avd (repo)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 guide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follow along in your own tenant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Open — three realms, one desktop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50815" cy="128016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50815" cy="128016"/>
          </a:xfrm>
          <a:prstGeom prst="rect">
            <a:avLst/>
          </a:prstGeom>
          <a:solidFill>
            <a:srgbClr val="FFA94D"/>
          </a:solidFill>
          <a:ln w="12700">
            <a:solidFill>
              <a:srgbClr val="FFA9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50815" cy="128016"/>
          </a:xfrm>
          <a:prstGeom prst="rect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50815" cy="128016"/>
          </a:xfrm>
          <a:prstGeom prst="rect">
            <a:avLst/>
          </a:prstGeom>
          <a:solidFill>
            <a:srgbClr val="8CE99A"/>
          </a:solidFill>
          <a:ln w="12700">
            <a:solidFill>
              <a:srgbClr val="8CE99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50815" cy="128016"/>
          </a:xfrm>
          <a:prstGeom prst="rect">
            <a:avLst/>
          </a:prstGeom>
          <a:solidFill>
            <a:srgbClr val="66D9E8"/>
          </a:solidFill>
          <a:ln w="12700">
            <a:solidFill>
              <a:srgbClr val="66D9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50815" cy="128016"/>
          </a:xfrm>
          <a:prstGeom prst="rect">
            <a:avLst/>
          </a:prstGeom>
          <a:solidFill>
            <a:srgbClr val="74C0FC"/>
          </a:solidFill>
          <a:ln w="12700">
            <a:solidFill>
              <a:srgbClr val="74C0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50815" cy="128016"/>
          </a:xfrm>
          <a:prstGeom prst="rect">
            <a:avLst/>
          </a:prstGeom>
          <a:solidFill>
            <a:srgbClr val="B197FC"/>
          </a:solidFill>
          <a:ln w="12700">
            <a:solidFill>
              <a:srgbClr val="B197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1 · 2 min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realms compared — five decision axes</a:t>
            </a:r>
            <a:endParaRPr lang="en-US" sz="4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Five decision axes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Locality, lifecycle owner, identity and OS constraints, operations, support and licensing.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Locality: Azure / your cluster / your hypervisor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Lifecycle owner: Azure / Azure through Arc / you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Identity and OS: multi-session vs single-session; Server needs AD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Operations: autoscale / to verify / none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 and licensing: three different models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The realms compared — five decision axes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Pick it when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one-line rule per realm.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elastic and bursty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 and latency at your site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5B84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you already own the hypervisor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The realms compared — five decision axes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50815" cy="128016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50815" cy="128016"/>
          </a:xfrm>
          <a:prstGeom prst="rect">
            <a:avLst/>
          </a:prstGeom>
          <a:solidFill>
            <a:srgbClr val="FFA94D"/>
          </a:solidFill>
          <a:ln w="12700">
            <a:solidFill>
              <a:srgbClr val="FFA9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50815" cy="128016"/>
          </a:xfrm>
          <a:prstGeom prst="rect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50815" cy="128016"/>
          </a:xfrm>
          <a:prstGeom prst="rect">
            <a:avLst/>
          </a:prstGeom>
          <a:solidFill>
            <a:srgbClr val="8CE99A"/>
          </a:solidFill>
          <a:ln w="12700">
            <a:solidFill>
              <a:srgbClr val="8CE99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50815" cy="128016"/>
          </a:xfrm>
          <a:prstGeom prst="rect">
            <a:avLst/>
          </a:prstGeom>
          <a:solidFill>
            <a:srgbClr val="66D9E8"/>
          </a:solidFill>
          <a:ln w="12700">
            <a:solidFill>
              <a:srgbClr val="66D9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50815" cy="128016"/>
          </a:xfrm>
          <a:prstGeom prst="rect">
            <a:avLst/>
          </a:prstGeom>
          <a:solidFill>
            <a:srgbClr val="74C0FC"/>
          </a:solidFill>
          <a:ln w="12700">
            <a:solidFill>
              <a:srgbClr val="74C0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50815" cy="128016"/>
          </a:xfrm>
          <a:prstGeom prst="rect">
            <a:avLst/>
          </a:prstGeom>
          <a:solidFill>
            <a:srgbClr val="B197FC"/>
          </a:solidFill>
          <a:ln w="12700">
            <a:solidFill>
              <a:srgbClr val="B197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2 · 3 min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Yggdrasil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foundation, network and failure domains</a:t>
            </a:r>
            <a:endParaRPr lang="en-US" sz="2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foundation, once, for all three realms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landing zone; each realm section shows only its delta.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Control plane, hosts, images, storage, network, monitoring, Arc: seven resource groups by lifecycle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Profile share on its public endpoint, direct egress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Registration tokens are never stored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Yggdrasil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Failure domains: what this lab proves and what it does not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493776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Proves hosting-model differences and profile reuse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Does not prove independent-site resilience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Compute locality is not data locality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852160" y="1737360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25312" y="1737360"/>
            <a:ext cx="5614416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Control plane: Entra, broker, gateway, Azure Monitor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852160" y="2606040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212B45"/>
          </a:solidFill>
          <a:ln w="15875">
            <a:solidFill>
              <a:srgbClr val="B79C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25312" y="2606040"/>
            <a:ext cx="5614416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Profile share and Key Vault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0" y="3474720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212B45"/>
          </a:solidFill>
          <a:ln w="15875">
            <a:solidFill>
              <a:srgbClr val="FF8FA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25312" y="3474720"/>
            <a:ext cx="5614416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Network links: site to Azure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852160" y="4343400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212B45"/>
          </a:solidFill>
          <a:ln w="15875">
            <a:solidFill>
              <a:srgbClr val="7BD8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25312" y="4343400"/>
            <a:ext cx="5614416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 VMs and Hybrid VMs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852160" y="5212080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212B45"/>
          </a:solidFill>
          <a:ln w="15875">
            <a:solidFill>
              <a:srgbClr val="F5B8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25312" y="5212080"/>
            <a:ext cx="5614416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Nodes and hypervisor hosts: one lab, one site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Yggdrasil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repo, one config file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foundation is built from one config, once.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a2-foundation-as-code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Yggdrasil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Transition: Bifröst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554480"/>
            <a:ext cx="3322320" cy="1965960"/>
          </a:xfrm>
          <a:prstGeom prst="roundRect">
            <a:avLst>
              <a:gd name="adj" fmla="val 3721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3322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3048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Elastic, pooled, Entra-joined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19600" y="1554480"/>
            <a:ext cx="3322320" cy="1965960"/>
          </a:xfrm>
          <a:prstGeom prst="roundRect">
            <a:avLst>
              <a:gd name="adj" fmla="val 3721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19600" y="1691640"/>
            <a:ext cx="3322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56760" y="2286000"/>
            <a:ext cx="3048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Your site: data, latency, regulation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16240" y="1554480"/>
            <a:ext cx="3322320" cy="1965960"/>
          </a:xfrm>
          <a:prstGeom prst="roundRect">
            <a:avLst>
              <a:gd name="adj" fmla="val 3721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16240" y="1691640"/>
            <a:ext cx="3322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B84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Hybrid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153400" y="2286000"/>
            <a:ext cx="3048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Your hypervisor, Arc-enabled VMs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3703320"/>
            <a:ext cx="1502229" cy="164592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25189" y="3703320"/>
            <a:ext cx="1502229" cy="164592"/>
          </a:xfrm>
          <a:prstGeom prst="rect">
            <a:avLst/>
          </a:prstGeom>
          <a:solidFill>
            <a:srgbClr val="FFA94D"/>
          </a:solidFill>
          <a:ln w="12700">
            <a:solidFill>
              <a:srgbClr val="FFA9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27417" y="3703320"/>
            <a:ext cx="1502229" cy="164592"/>
          </a:xfrm>
          <a:prstGeom prst="rect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29646" y="3703320"/>
            <a:ext cx="1502229" cy="164592"/>
          </a:xfrm>
          <a:prstGeom prst="rect">
            <a:avLst/>
          </a:prstGeom>
          <a:solidFill>
            <a:srgbClr val="8CE99A"/>
          </a:solidFill>
          <a:ln w="12700">
            <a:solidFill>
              <a:srgbClr val="8CE99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31874" y="3703320"/>
            <a:ext cx="1502229" cy="164592"/>
          </a:xfrm>
          <a:prstGeom prst="rect">
            <a:avLst/>
          </a:prstGeom>
          <a:solidFill>
            <a:srgbClr val="66D9E8"/>
          </a:solidFill>
          <a:ln w="12700">
            <a:solidFill>
              <a:srgbClr val="66D9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34103" y="3703320"/>
            <a:ext cx="1502229" cy="164592"/>
          </a:xfrm>
          <a:prstGeom prst="rect">
            <a:avLst/>
          </a:prstGeom>
          <a:solidFill>
            <a:srgbClr val="74C0FC"/>
          </a:solidFill>
          <a:ln w="12700">
            <a:solidFill>
              <a:srgbClr val="74C0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36331" y="3703320"/>
            <a:ext cx="1502229" cy="164592"/>
          </a:xfrm>
          <a:prstGeom prst="rect">
            <a:avLst/>
          </a:prstGeom>
          <a:solidFill>
            <a:srgbClr val="B197FC"/>
          </a:solidFill>
          <a:ln w="12700">
            <a:solidFill>
              <a:srgbClr val="B197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9044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ID + Arc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2960" y="480060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Next: one identity, three paths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Yggdrasil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50815" cy="128016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50815" cy="128016"/>
          </a:xfrm>
          <a:prstGeom prst="rect">
            <a:avLst/>
          </a:prstGeom>
          <a:solidFill>
            <a:srgbClr val="FFA94D"/>
          </a:solidFill>
          <a:ln w="12700">
            <a:solidFill>
              <a:srgbClr val="FFA9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50815" cy="128016"/>
          </a:xfrm>
          <a:prstGeom prst="rect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50815" cy="128016"/>
          </a:xfrm>
          <a:prstGeom prst="rect">
            <a:avLst/>
          </a:prstGeom>
          <a:solidFill>
            <a:srgbClr val="8CE99A"/>
          </a:solidFill>
          <a:ln w="12700">
            <a:solidFill>
              <a:srgbClr val="8CE99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50815" cy="128016"/>
          </a:xfrm>
          <a:prstGeom prst="rect">
            <a:avLst/>
          </a:prstGeom>
          <a:solidFill>
            <a:srgbClr val="66D9E8"/>
          </a:solidFill>
          <a:ln w="12700">
            <a:solidFill>
              <a:srgbClr val="66D9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50815" cy="128016"/>
          </a:xfrm>
          <a:prstGeom prst="rect">
            <a:avLst/>
          </a:prstGeom>
          <a:solidFill>
            <a:srgbClr val="74C0FC"/>
          </a:solidFill>
          <a:ln w="12700">
            <a:solidFill>
              <a:srgbClr val="74C0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50815" cy="128016"/>
          </a:xfrm>
          <a:prstGeom prst="rect">
            <a:avLst/>
          </a:prstGeom>
          <a:solidFill>
            <a:srgbClr val="B197FC"/>
          </a:solidFill>
          <a:ln w="12700">
            <a:solidFill>
              <a:srgbClr val="B197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2B · 5 min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Bifröst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Identity — one identity, three paths</a:t>
            </a:r>
            <a:endParaRPr lang="en-US" sz="2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declared configuration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Exactly which identity the lab uses.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Cloud-only users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Windows 11 Enterprise, Entra-joined in all three realms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SSO; two Conditional Access policies; no Active Directory in the AVD path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2B Bifröst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 paths, one diagram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493776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User to AVD: Entra, MFA, broker, feed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User to host: SSO, VM User Login role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Host as the user to Azure Files: Entra Kerberos ticket, share RBAC, NTFS ACLs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852160" y="1737360"/>
            <a:ext cx="5760720" cy="1280160"/>
          </a:xfrm>
          <a:prstGeom prst="roundRect">
            <a:avLst>
              <a:gd name="adj" fmla="val 5714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35040" y="2057400"/>
            <a:ext cx="640080" cy="640080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035040" y="2057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858000" y="173736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 to AVD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sign-in, MFA, Conditional Access, broker, feed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852160" y="3200400"/>
            <a:ext cx="5760720" cy="1280160"/>
          </a:xfrm>
          <a:prstGeom prst="roundRect">
            <a:avLst>
              <a:gd name="adj" fmla="val 5714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3520440"/>
            <a:ext cx="640080" cy="64008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0" y="3520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858000" y="320040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 to the session host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SSO, Virtual Machine User Login role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852160" y="4663440"/>
            <a:ext cx="5760720" cy="1280160"/>
          </a:xfrm>
          <a:prstGeom prst="roundRect">
            <a:avLst>
              <a:gd name="adj" fmla="val 5714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0" y="4983480"/>
            <a:ext cx="640080" cy="640080"/>
          </a:xfrm>
          <a:prstGeom prst="ellipse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35040" y="4983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858000" y="466344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B84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Host, as the user, to Azure Files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Kerberos ticket, share RBAC, NTFS ACLs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2B Bifröst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changes without this model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493776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Windows Server session hosts: AD DS or hybrid join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On-prem SMB options: AD DS Kerberos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Storage choice and identity choice are one decision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7269480" y="1737360"/>
            <a:ext cx="2926080" cy="822960"/>
          </a:xfrm>
          <a:prstGeom prst="roundRect">
            <a:avLst>
              <a:gd name="adj" fmla="val 8889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2632" y="1737360"/>
            <a:ext cx="2779776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Storage and identity: one decision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852160" y="320040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212B45"/>
          </a:solidFill>
          <a:ln w="15875">
            <a:solidFill>
              <a:srgbClr val="7BD8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25312" y="3200400"/>
            <a:ext cx="2505456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Entra-only hosts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Kerberos for Azure Files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961120" y="320040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212B45"/>
          </a:solidFill>
          <a:ln w="15875">
            <a:solidFill>
              <a:srgbClr val="F5B84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34272" y="3200400"/>
            <a:ext cx="2505456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Windows Server hosts or on-prem SMB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 DS or hybrid join, AD DS Kerberos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 flipH="1">
            <a:off x="7178040" y="2606040"/>
            <a:ext cx="1097280" cy="54864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189720" y="2606040"/>
            <a:ext cx="1097280" cy="548640"/>
          </a:xfrm>
          <a:prstGeom prst="line">
            <a:avLst/>
          </a:prstGeom>
          <a:noFill/>
          <a:ln w="31750">
            <a:solidFill>
              <a:srgbClr val="F5B84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2B Bifröst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Preview boundary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Kerberos for cloud-only identities is a preview feature; here is what it needs.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Preview: cloud-only identities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Current Windows 11 build; no MFA on the storage app; security groups, not nested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Supported alternative: hybrid identities (a different prerequisite set)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2B Bifröst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Proof: the ticket and the ACL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Evidence at the third path without typing a password.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a2b-identity-ticket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2B Bifröst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Recap: one identity, three places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three paths held.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Next: Asgard, the reference realm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2B Bifröst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50815" cy="128016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50815" cy="128016"/>
          </a:xfrm>
          <a:prstGeom prst="rect">
            <a:avLst/>
          </a:prstGeom>
          <a:solidFill>
            <a:srgbClr val="FFA94D"/>
          </a:solidFill>
          <a:ln w="12700">
            <a:solidFill>
              <a:srgbClr val="FFA9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50815" cy="128016"/>
          </a:xfrm>
          <a:prstGeom prst="rect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50815" cy="128016"/>
          </a:xfrm>
          <a:prstGeom prst="rect">
            <a:avLst/>
          </a:prstGeom>
          <a:solidFill>
            <a:srgbClr val="8CE99A"/>
          </a:solidFill>
          <a:ln w="12700">
            <a:solidFill>
              <a:srgbClr val="8CE99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50815" cy="128016"/>
          </a:xfrm>
          <a:prstGeom prst="rect">
            <a:avLst/>
          </a:prstGeom>
          <a:solidFill>
            <a:srgbClr val="66D9E8"/>
          </a:solidFill>
          <a:ln w="12700">
            <a:solidFill>
              <a:srgbClr val="66D9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50815" cy="128016"/>
          </a:xfrm>
          <a:prstGeom prst="rect">
            <a:avLst/>
          </a:prstGeom>
          <a:solidFill>
            <a:srgbClr val="74C0FC"/>
          </a:solidFill>
          <a:ln w="12700">
            <a:solidFill>
              <a:srgbClr val="74C0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50815" cy="128016"/>
          </a:xfrm>
          <a:prstGeom prst="rect">
            <a:avLst/>
          </a:prstGeom>
          <a:solidFill>
            <a:srgbClr val="B197FC"/>
          </a:solidFill>
          <a:ln w="12700">
            <a:solidFill>
              <a:srgbClr val="B197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3 · 6 min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Asgard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on Azure</a:t>
            </a:r>
            <a:endParaRPr lang="en-US" sz="2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on Azure: the architecture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Pooled multi-session, Entra-joined hosts, SSO, Shortpath.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Pooled, breadth-first, multi-session Windows 11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Entra-joined, SSO, RDP Shortpath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Scaling plan and Start VM on Connect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Asgard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Live: the host pool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Two hosts, pooled settings, SSO on.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a3a-azure-host-pool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Asgard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image artifact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52603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965960"/>
            <a:ext cx="237972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Pinned source image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10210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394710" y="1965960"/>
            <a:ext cx="252603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67862" y="1965960"/>
            <a:ext cx="237972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customisation scripts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817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240780" y="1965960"/>
            <a:ext cx="252603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13932" y="1965960"/>
            <a:ext cx="237972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Gallery version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79424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086850" y="1965960"/>
            <a:ext cx="252603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60002" y="1965960"/>
            <a:ext cx="237972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Replicate and roll back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4114800"/>
            <a:ext cx="10515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Pinned source version (Image Builder also accepts latest)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customisation scripts; no identity baked in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Gallery version, replication, rollback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Asgard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and gallery version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Show the artifact; never wait for a build.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a3b-image-builder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Asgard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Monitoring and cost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493776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Insights default counters and events only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Roughly 3 to 5 GB per host per month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DCRs do not control every ingestion source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852160" y="201168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Default collection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852160" y="2423160"/>
            <a:ext cx="5394960" cy="548640"/>
          </a:xfrm>
          <a:prstGeom prst="rec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89320" y="242316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852160" y="338328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Insights default set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852160" y="3794760"/>
            <a:ext cx="1888236" cy="548640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89320" y="3794760"/>
            <a:ext cx="1613916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to 5 GB per host per month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Asgard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Insights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Connection and host health in one workbook.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a3c-avd-insights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Asgard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DCR, before and after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Measured ingestion by table.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a3d-dcr-cost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Asgard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Autoscale and Start VM on Connect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features only this realm gets in full.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Ramp-up, peak, ramp-down, off-peak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Start VM on Connect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Asgard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Recap: Asgard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reference realm in one slide.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Next: Midgard, compute at your site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Asgard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50815" cy="128016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50815" cy="128016"/>
          </a:xfrm>
          <a:prstGeom prst="rect">
            <a:avLst/>
          </a:prstGeom>
          <a:solidFill>
            <a:srgbClr val="FFA94D"/>
          </a:solidFill>
          <a:ln w="12700">
            <a:solidFill>
              <a:srgbClr val="FFA9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50815" cy="128016"/>
          </a:xfrm>
          <a:prstGeom prst="rect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50815" cy="128016"/>
          </a:xfrm>
          <a:prstGeom prst="rect">
            <a:avLst/>
          </a:prstGeom>
          <a:solidFill>
            <a:srgbClr val="8CE99A"/>
          </a:solidFill>
          <a:ln w="12700">
            <a:solidFill>
              <a:srgbClr val="8CE99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50815" cy="128016"/>
          </a:xfrm>
          <a:prstGeom prst="rect">
            <a:avLst/>
          </a:prstGeom>
          <a:solidFill>
            <a:srgbClr val="66D9E8"/>
          </a:solidFill>
          <a:ln w="12700">
            <a:solidFill>
              <a:srgbClr val="66D9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50815" cy="128016"/>
          </a:xfrm>
          <a:prstGeom prst="rect">
            <a:avLst/>
          </a:prstGeom>
          <a:solidFill>
            <a:srgbClr val="74C0FC"/>
          </a:solidFill>
          <a:ln w="12700">
            <a:solidFill>
              <a:srgbClr val="74C0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50815" cy="128016"/>
          </a:xfrm>
          <a:prstGeom prst="rect">
            <a:avLst/>
          </a:prstGeom>
          <a:solidFill>
            <a:srgbClr val="B197FC"/>
          </a:solidFill>
          <a:ln w="12700">
            <a:solidFill>
              <a:srgbClr val="B197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4 · 6 min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Midgard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on Azure Local</a:t>
            </a:r>
            <a:endParaRPr lang="en-US" sz="2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on Azure Local: what is different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Hosts are Azure Local VMs in a different landing zone.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Hosts in the Azure Local landing zone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Created from Azure through the Resource Bridge and custom location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5B84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join of Azure Local VMs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on the day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Midgard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Dependencies: Resource Bridge and AKS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is platform-managed and what you operate.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breaks when the Resource Bridge is unhealthy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AKS dependency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platform-managed vs customer-operated (verify)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Midgard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Images: gallery to Azure Local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There is no direct Image Builder target for Azure Local.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AIB to gallery or VHD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Import as an Azure Local image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 marketplace images downloaded to the cluster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Midgard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Live: host pool and an Azure Local VM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Same blade, different realm.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a4a-azure-local-host-pool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Midgard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FSLogix needs an SMB service, not a CSV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CSV is not an SMB share; draw the serving layer and its failure boundary.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CSV is storage; FSLogix needs an SMB path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File server VM or SOFS on the cluster, or Azure Files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lab uses Azure Files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Midgard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GPU: one device, one mode per node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DDA passthrough or partitioning, with restrictions.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GPU per node: one assignment mode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DDA: whole device, no live migration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Partitioning: shared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Midgard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Recap: Midgard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with compute at your site, managed from Azure.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Next: the outer realms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Midgard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50815" cy="128016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50815" cy="128016"/>
          </a:xfrm>
          <a:prstGeom prst="rect">
            <a:avLst/>
          </a:prstGeom>
          <a:solidFill>
            <a:srgbClr val="FFA94D"/>
          </a:solidFill>
          <a:ln w="12700">
            <a:solidFill>
              <a:srgbClr val="FFA9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50815" cy="128016"/>
          </a:xfrm>
          <a:prstGeom prst="rect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50815" cy="128016"/>
          </a:xfrm>
          <a:prstGeom prst="rect">
            <a:avLst/>
          </a:prstGeom>
          <a:solidFill>
            <a:srgbClr val="8CE99A"/>
          </a:solidFill>
          <a:ln w="12700">
            <a:solidFill>
              <a:srgbClr val="8CE99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50815" cy="128016"/>
          </a:xfrm>
          <a:prstGeom prst="rect">
            <a:avLst/>
          </a:prstGeom>
          <a:solidFill>
            <a:srgbClr val="66D9E8"/>
          </a:solidFill>
          <a:ln w="12700">
            <a:solidFill>
              <a:srgbClr val="66D9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50815" cy="128016"/>
          </a:xfrm>
          <a:prstGeom prst="rect">
            <a:avLst/>
          </a:prstGeom>
          <a:solidFill>
            <a:srgbClr val="74C0FC"/>
          </a:solidFill>
          <a:ln w="12700">
            <a:solidFill>
              <a:srgbClr val="74C0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50815" cy="128016"/>
          </a:xfrm>
          <a:prstGeom prst="rect">
            <a:avLst/>
          </a:prstGeom>
          <a:solidFill>
            <a:srgbClr val="B197FC"/>
          </a:solidFill>
          <a:ln w="12700">
            <a:solidFill>
              <a:srgbClr val="B197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5 · 7 min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outer realms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Hybrid</a:t>
            </a:r>
            <a:endParaRPr lang="en-US" sz="2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Hybrid: the idea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service stays in Azure; hosts run on your hypervisor; Arc is the bridge.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hypervisor integration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Everything happens inside the guest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You own the lifecycle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The outer realms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it works in four steps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VM, Arc agent, extension with token, Available.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560320" cy="3474720"/>
          </a:xfrm>
          <a:prstGeom prst="roundRect">
            <a:avLst>
              <a:gd name="adj" fmla="val 3571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Create a Windows VM with your tools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83280" y="2103120"/>
            <a:ext cx="2560320" cy="3474720"/>
          </a:xfrm>
          <a:prstGeom prst="roundRect">
            <a:avLst>
              <a:gd name="adj" fmla="val 3571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1188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260604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Install the Arc agent in the guest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17920" y="2103120"/>
            <a:ext cx="2560320" cy="3474720"/>
          </a:xfrm>
          <a:prstGeom prst="roundRect">
            <a:avLst>
              <a:gd name="adj" fmla="val 3571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260604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Add the AVD Hybrid extension with a registration token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52560" y="2103120"/>
            <a:ext cx="2560320" cy="3474720"/>
          </a:xfrm>
          <a:prstGeom prst="roundRect">
            <a:avLst>
              <a:gd name="adj" fmla="val 3571"/>
            </a:avLst>
          </a:prstGeom>
          <a:solidFill>
            <a:srgbClr val="182034"/>
          </a:solidFill>
          <a:ln w="25400">
            <a:solidFill>
              <a:srgbClr val="B79C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81160" y="2377440"/>
            <a:ext cx="548640" cy="64008"/>
          </a:xfrm>
          <a:prstGeom prst="rect">
            <a:avLst/>
          </a:prstGeom>
          <a:solidFill>
            <a:srgbClr val="B79CFF"/>
          </a:solidFill>
          <a:ln w="12700">
            <a:solidFill>
              <a:srgbClr val="B79C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81160" y="260604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Host Available (up to 15 minutes)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The outer realms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Requirements and limits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Hybrid requires and does not offer.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Win11 Enterprise single-session or Windows Server; no multi-session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Server needs AD; Win11 can be Entra-only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autoscale, power management, Start VM on Connect, Session Host Configuration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The outer realms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Live: plain Hyper-V VMs, seen as Arc machines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Same hardware as section 4, a completely different management plane.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a5a-hyperv-arc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The outer realms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Live: the extension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extension, one token, one host.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a5b-cloud-device-extension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The outer realms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 hypervisor: the delta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In-guest steps are identical; platform steps differ.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Hyper-V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tested in the repo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vSphere and AHV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reference templates, labelled as such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Arc-enabled VMware is not required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The outer realms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Images without Image Builder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Packer plus platform-native tools; patching is an owner question.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hyperv-iso, vsphere-iso, Nutanix plugin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Windows 11 patching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Intune or Windows Update for Business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Update Manager does not cover Windows 11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The outer realms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Identity, network, GPU, Arc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join at build, outbound-only network, GPU per hypervisor, Arc brings Monitor and Insights.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560320" cy="3474720"/>
          </a:xfrm>
          <a:prstGeom prst="roundRect">
            <a:avLst>
              <a:gd name="adj" fmla="val 3571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join in the build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83280" y="2103120"/>
            <a:ext cx="2560320" cy="3474720"/>
          </a:xfrm>
          <a:prstGeom prst="roundRect">
            <a:avLst>
              <a:gd name="adj" fmla="val 3571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1188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260604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Outbound only through the firewall allow-list; RDP Shortpath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17920" y="2103120"/>
            <a:ext cx="2560320" cy="3474720"/>
          </a:xfrm>
          <a:prstGeom prst="roundRect">
            <a:avLst>
              <a:gd name="adj" fmla="val 3571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260604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5B84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GPU per hypervisor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neither adds nor blocks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9052560" y="2103120"/>
            <a:ext cx="2560320" cy="3474720"/>
          </a:xfrm>
          <a:prstGeom prst="roundRect">
            <a:avLst>
              <a:gd name="adj" fmla="val 3571"/>
            </a:avLst>
          </a:prstGeom>
          <a:solidFill>
            <a:srgbClr val="182034"/>
          </a:solidFill>
          <a:ln w="25400">
            <a:solidFill>
              <a:srgbClr val="B79C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81160" y="2377440"/>
            <a:ext cx="548640" cy="64008"/>
          </a:xfrm>
          <a:prstGeom prst="rect">
            <a:avLst/>
          </a:prstGeom>
          <a:solidFill>
            <a:srgbClr val="B79CFF"/>
          </a:solidFill>
          <a:ln w="12700">
            <a:solidFill>
              <a:srgbClr val="B79C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81160" y="260604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 brings Monitor and Insights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The outer realms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Recap: the outer realms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without buying anything; you own the lifecycle.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Next: the traveller's pack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The outer realms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50815" cy="128016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50815" cy="128016"/>
          </a:xfrm>
          <a:prstGeom prst="rect">
            <a:avLst/>
          </a:prstGeom>
          <a:solidFill>
            <a:srgbClr val="FFA94D"/>
          </a:solidFill>
          <a:ln w="12700">
            <a:solidFill>
              <a:srgbClr val="FFA9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50815" cy="128016"/>
          </a:xfrm>
          <a:prstGeom prst="rect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50815" cy="128016"/>
          </a:xfrm>
          <a:prstGeom prst="rect">
            <a:avLst/>
          </a:prstGeom>
          <a:solidFill>
            <a:srgbClr val="8CE99A"/>
          </a:solidFill>
          <a:ln w="12700">
            <a:solidFill>
              <a:srgbClr val="8CE99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50815" cy="128016"/>
          </a:xfrm>
          <a:prstGeom prst="rect">
            <a:avLst/>
          </a:prstGeom>
          <a:solidFill>
            <a:srgbClr val="66D9E8"/>
          </a:solidFill>
          <a:ln w="12700">
            <a:solidFill>
              <a:srgbClr val="66D9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50815" cy="128016"/>
          </a:xfrm>
          <a:prstGeom prst="rect">
            <a:avLst/>
          </a:prstGeom>
          <a:solidFill>
            <a:srgbClr val="74C0FC"/>
          </a:solidFill>
          <a:ln w="12700">
            <a:solidFill>
              <a:srgbClr val="74C0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50815" cy="128016"/>
          </a:xfrm>
          <a:prstGeom prst="rect">
            <a:avLst/>
          </a:prstGeom>
          <a:solidFill>
            <a:srgbClr val="B197FC"/>
          </a:solidFill>
          <a:ln w="12700">
            <a:solidFill>
              <a:srgbClr val="B197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6 · 8 min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traveller's pack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Profiles — one pattern for three realms</a:t>
            </a:r>
            <a:endParaRPr lang="en-US" sz="26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Why not the others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fails portability or only complements FSLogix.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Remaining: Profile Container, Profile + ODFC, Cloud Cache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Where containers can live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Storage options and their identity options.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Files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Kerberos, AD DS, Entra DS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Everything else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 DS Kerberos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identity catch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storage choice and the identity choice are the same decision.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Kerberos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cloud-only users (preview)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On-prem SMB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 DS Kerberos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Splitting the profile: Profile and ODFC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Two containers, different size, tier and retention.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Profile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profile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ODFC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Outlook OST, Teams, OneDrive cache, search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Settings that matter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handful of settings decide portability.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VHDLocations, ODFC VHDLocations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FlipFlopProfileDirectoryName, PreventLoginWithFailure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redirections.xml keeps caches out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Live: the share, the containers, the settings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Evidence behind the portability claim.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a6-profiles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Cache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Multiple providers, local reads: resilience, not conflict resolution.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CCDLocations writes to several providers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Costs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local cache disk, logoff flush time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pattern for three realms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one share; B Cloud Cache; C per-realm shares.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Azure Files share, Entra Kerberos (the demo)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Cache with an on-prem provider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5B84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per-realm shares, no common state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conditions that make it work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Same SID, one configuration, sequential use, detach before the next sign-in.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Same user identity and one FSLogix configuration profile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Sequential use; sign-out detaches the container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Outbound TCP 445; latency; what happens when the share is unreachable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51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Recap: the traveller's pack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Profiles are the hardest part of anywhere.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Next: the forge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52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50815" cy="128016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50815" cy="128016"/>
          </a:xfrm>
          <a:prstGeom prst="rect">
            <a:avLst/>
          </a:prstGeom>
          <a:solidFill>
            <a:srgbClr val="FFA94D"/>
          </a:solidFill>
          <a:ln w="12700">
            <a:solidFill>
              <a:srgbClr val="FFA9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50815" cy="128016"/>
          </a:xfrm>
          <a:prstGeom prst="rect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50815" cy="128016"/>
          </a:xfrm>
          <a:prstGeom prst="rect">
            <a:avLst/>
          </a:prstGeom>
          <a:solidFill>
            <a:srgbClr val="8CE99A"/>
          </a:solidFill>
          <a:ln w="12700">
            <a:solidFill>
              <a:srgbClr val="8CE99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50815" cy="128016"/>
          </a:xfrm>
          <a:prstGeom prst="rect">
            <a:avLst/>
          </a:prstGeom>
          <a:solidFill>
            <a:srgbClr val="66D9E8"/>
          </a:solidFill>
          <a:ln w="12700">
            <a:solidFill>
              <a:srgbClr val="66D9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50815" cy="128016"/>
          </a:xfrm>
          <a:prstGeom prst="rect">
            <a:avLst/>
          </a:prstGeom>
          <a:solidFill>
            <a:srgbClr val="74C0FC"/>
          </a:solidFill>
          <a:ln w="12700">
            <a:solidFill>
              <a:srgbClr val="74C0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50815" cy="128016"/>
          </a:xfrm>
          <a:prstGeom prst="rect">
            <a:avLst/>
          </a:prstGeom>
          <a:solidFill>
            <a:srgbClr val="B197FC"/>
          </a:solidFill>
          <a:ln w="12700">
            <a:solidFill>
              <a:srgbClr val="B197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7 · 4 min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forge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automation and the operating model</a:t>
            </a:r>
            <a:endParaRPr lang="en-US" sz="26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image supply chain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commit, one image version, builder-specific steps.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intent, platform-specific implementation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template works unchanged everywhere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The forge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repo, three realms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0515600" cy="2926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Only the create-the-VM step differs.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The forge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54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Live: the repo and a what-if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intentional change, previewed.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a7-pipeline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The forge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operating model: who owns what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Monitoring is common; patching, power and recovery are not.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Recovery of a failed Hybrid host: the hypervisor, not AVD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The forge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Discussion: patching, licensing, backup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Discussion topics, not demos.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Patching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image-based, Intune or WUfB for Windows 11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Licensing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models explained, lab not constrained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5B84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Backup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any solution; Azure Backup as the worked example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The forge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57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50815" cy="128016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50815" cy="128016"/>
          </a:xfrm>
          <a:prstGeom prst="rect">
            <a:avLst/>
          </a:prstGeom>
          <a:solidFill>
            <a:srgbClr val="FFA94D"/>
          </a:solidFill>
          <a:ln w="12700">
            <a:solidFill>
              <a:srgbClr val="FFA9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50815" cy="128016"/>
          </a:xfrm>
          <a:prstGeom prst="rect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50815" cy="128016"/>
          </a:xfrm>
          <a:prstGeom prst="rect">
            <a:avLst/>
          </a:prstGeom>
          <a:solidFill>
            <a:srgbClr val="8CE99A"/>
          </a:solidFill>
          <a:ln w="12700">
            <a:solidFill>
              <a:srgbClr val="8CE99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50815" cy="128016"/>
          </a:xfrm>
          <a:prstGeom prst="rect">
            <a:avLst/>
          </a:prstGeom>
          <a:solidFill>
            <a:srgbClr val="66D9E8"/>
          </a:solidFill>
          <a:ln w="12700">
            <a:solidFill>
              <a:srgbClr val="66D9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50815" cy="128016"/>
          </a:xfrm>
          <a:prstGeom prst="rect">
            <a:avLst/>
          </a:prstGeom>
          <a:solidFill>
            <a:srgbClr val="74C0FC"/>
          </a:solidFill>
          <a:ln w="12700">
            <a:solidFill>
              <a:srgbClr val="74C0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50815" cy="128016"/>
          </a:xfrm>
          <a:prstGeom prst="rect">
            <a:avLst/>
          </a:prstGeom>
          <a:solidFill>
            <a:srgbClr val="B197FC"/>
          </a:solidFill>
          <a:ln w="12700">
            <a:solidFill>
              <a:srgbClr val="B197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8 · 13 min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Heimdall watches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crossing — live end-to-end demo</a:t>
            </a:r>
            <a:endParaRPr lang="en-US" sz="26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crossing: claims and starting state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will be proven, and the starting state.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Entitlement is not routing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Persistence is not recovery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Unsaved work is lost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Heimdall watches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58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2: the user is entitled to the right realm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Group membership decides which desktops the user sees.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a8-2-entitlement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Heimdall watches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59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3: profile portability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known file and a setting appear on every realm.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a8-3-portability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Heimdall watches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60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4: forced failure on Hybrid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new session on the second host; the hypervisor restarts the dead one.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a8-4-failure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Heimdall watches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61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5: one monitoring layer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workspace sees all three realms.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a8-5-monitoring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Heimdall watches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62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50815" cy="128016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50815" cy="128016"/>
          </a:xfrm>
          <a:prstGeom prst="rect">
            <a:avLst/>
          </a:prstGeom>
          <a:solidFill>
            <a:srgbClr val="FFA94D"/>
          </a:solidFill>
          <a:ln w="12700">
            <a:solidFill>
              <a:srgbClr val="FFA9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50815" cy="128016"/>
          </a:xfrm>
          <a:prstGeom prst="rect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50815" cy="128016"/>
          </a:xfrm>
          <a:prstGeom prst="rect">
            <a:avLst/>
          </a:prstGeom>
          <a:solidFill>
            <a:srgbClr val="8CE99A"/>
          </a:solidFill>
          <a:ln w="12700">
            <a:solidFill>
              <a:srgbClr val="8CE99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50815" cy="128016"/>
          </a:xfrm>
          <a:prstGeom prst="rect">
            <a:avLst/>
          </a:prstGeom>
          <a:solidFill>
            <a:srgbClr val="66D9E8"/>
          </a:solidFill>
          <a:ln w="12700">
            <a:solidFill>
              <a:srgbClr val="66D9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50815" cy="128016"/>
          </a:xfrm>
          <a:prstGeom prst="rect">
            <a:avLst/>
          </a:prstGeom>
          <a:solidFill>
            <a:srgbClr val="74C0FC"/>
          </a:solidFill>
          <a:ln w="12700">
            <a:solidFill>
              <a:srgbClr val="74C0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50815" cy="128016"/>
          </a:xfrm>
          <a:prstGeom prst="rect">
            <a:avLst/>
          </a:prstGeom>
          <a:solidFill>
            <a:srgbClr val="B197FC"/>
          </a:solidFill>
          <a:ln w="12700">
            <a:solidFill>
              <a:srgbClr val="B197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9 · 2 min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Take-home, tomorrow's session, other sessions, close</a:t>
            </a:r>
            <a:endParaRPr lang="en-US" sz="44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comparison, with the answers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0515600" cy="2926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five axes from the start, revisited.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Take-home, tomorrow's session, other sessions, close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63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Take-home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Everything promised, in one repo.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Image Builder template (Azure + Azure Local)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Packer templates (Hyper-V tested; vSphere and AHV reference)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Bicep for the hybrid workspace; FSLogix profiles; Arc onboarding scripts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Identity reference architecture; repo manifest; the follow-along guide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Take-home, tomorrow's session, other sessions, close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64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Tomorrow: Azure Local, discovery to Day 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cluster under all this, how it was planned, deployed and operated.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 just saw AVD land on an Azure Local cluster. Tomorrow: how that cluster was built and run.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Plan and discover; deploy and Day-2 ready; operate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Same cluster, same repo, live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Take-home, tomorrow's session, other sessions, close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65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You may also like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 other NIC 2026 sessions that complement this one.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Dear AI Agent: The Servers Are On-Prem. Good Luck (Jan Egil Ring, L400)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Combining Identity and Network Controls in Azure (Kristoffer Hatland, L400)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 security settings you must configure in Windows 11 (Nicklas Ahlberg, L300)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Take-home, tomorrow's session, other sessions, close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66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Questions in the hallway; the repo is yours.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Repo and follow-along guide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Take-home, tomorrow's session, other sessions, close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77</Slides>
  <Notes>77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8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AVD Anywhere</dc:title>
  <dc:subject>Azure Virtual Desktop on Azure, Azure Local, and AVD Hybrid Platforms</dc:subject>
  <dc:creator>PptxGenJS</dc:creator>
  <cp:lastModifiedBy>PptxGenJS</cp:lastModifiedBy>
  <cp:revision>1</cp:revision>
  <dcterms:created xsi:type="dcterms:W3CDTF">2026-10-06T13:19:29Z</dcterms:created>
  <dcterms:modified xsi:type="dcterms:W3CDTF">2026-10-06T13:19:29Z</dcterms:modified>
</cp:coreProperties>
</file>