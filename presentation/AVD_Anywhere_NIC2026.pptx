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1001"/>
    <p:sldId id="257" r:id="rId1002"/>
    <p:sldId id="258" r:id="rId1003"/>
    <p:sldId id="259" r:id="rId1004"/>
    <p:sldId id="260" r:id="rId1005"/>
    <p:sldId id="261" r:id="rId1006"/>
    <p:sldId id="262" r:id="rId1007"/>
    <p:sldId id="263" r:id="rId1008"/>
    <p:sldId id="264" r:id="rId1009"/>
    <p:sldId id="265" r:id="rId1010"/>
    <p:sldId id="266" r:id="rId1011"/>
    <p:sldId id="267" r:id="rId1012"/>
    <p:sldId id="268" r:id="rId1013"/>
    <p:sldId id="269" r:id="rId1014"/>
    <p:sldId id="270" r:id="rId1015"/>
    <p:sldId id="271" r:id="rId1016"/>
    <p:sldId id="272" r:id="rId1017"/>
    <p:sldId id="273" r:id="rId1018"/>
    <p:sldId id="274" r:id="rId1019"/>
    <p:sldId id="275" r:id="rId1020"/>
    <p:sldId id="276" r:id="rId1021"/>
    <p:sldId id="277" r:id="rId1022"/>
    <p:sldId id="278" r:id="rId1023"/>
    <p:sldId id="279" r:id="rId1024"/>
    <p:sldId id="280" r:id="rId1025"/>
    <p:sldId id="281" r:id="rId1026"/>
    <p:sldId id="282" r:id="rId1027"/>
    <p:sldId id="283" r:id="rId1028"/>
    <p:sldId id="284" r:id="rId1029"/>
    <p:sldId id="285" r:id="rId1030"/>
    <p:sldId id="286" r:id="rId1031"/>
    <p:sldId id="287" r:id="rId1032"/>
    <p:sldId id="288" r:id="rId1033"/>
    <p:sldId id="289" r:id="rId1034"/>
    <p:sldId id="290" r:id="rId1035"/>
    <p:sldId id="291" r:id="rId1036"/>
    <p:sldId id="292" r:id="rId1037"/>
    <p:sldId id="293" r:id="rId1038"/>
    <p:sldId id="294" r:id="rId1039"/>
    <p:sldId id="295" r:id="rId1040"/>
    <p:sldId id="296" r:id="rId1041"/>
    <p:sldId id="297" r:id="rId1042"/>
    <p:sldId id="298" r:id="rId1043"/>
    <p:sldId id="299" r:id="rId1044"/>
    <p:sldId id="300" r:id="rId1045"/>
  </p:sldIdLst>
  <p:sldSz cx="9144000" cy="5143500" type="screen16x9"/>
  <p:notesSz cx="6858000" cy="9144000"/>
  <p:embeddedFontLst>
    <p:embeddedFont>
      <p:font typeface="IBM Plex Sans" panose="020B0503050203000203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B1B"/>
    <a:srgbClr val="193233"/>
    <a:srgbClr val="98F8FE"/>
    <a:srgbClr val="B0FFFF"/>
    <a:srgbClr val="0A1523"/>
    <a:srgbClr val="ED2A24"/>
    <a:srgbClr val="D9FFFF"/>
    <a:srgbClr val="630991"/>
    <a:srgbClr val="0D000D"/>
    <a:srgbClr val="44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2" autoAdjust="0"/>
    <p:restoredTop sz="94618" autoAdjust="0"/>
  </p:normalViewPr>
  <p:slideViewPr>
    <p:cSldViewPr snapToObjects="1">
      <p:cViewPr varScale="1">
        <p:scale>
          <a:sx n="130" d="100"/>
          <a:sy n="130" d="100"/>
        </p:scale>
        <p:origin x="150" y="107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21" Type="http://schemas.openxmlformats.org/officeDocument/2006/relationships/font" Target="fonts/font7.fntdata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24" Type="http://schemas.openxmlformats.org/officeDocument/2006/relationships/viewProps" Target="viewProps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28" Type="http://schemas.openxmlformats.org/officeDocument/2006/relationships/customXml" Target="../customXml/item2.xml"/><Relationship Id="rId19" Type="http://schemas.openxmlformats.org/officeDocument/2006/relationships/font" Target="fonts/font5.fntdata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openxmlformats.org/officeDocument/2006/relationships/customXml" Target="../customXml/item1.xml"/><Relationship Id="rId1001" Type="http://schemas.openxmlformats.org/officeDocument/2006/relationships/slide" Target="slides/slide1.xml"/><Relationship Id="rId1002" Type="http://schemas.openxmlformats.org/officeDocument/2006/relationships/slide" Target="slides/slide2.xml"/><Relationship Id="rId1003" Type="http://schemas.openxmlformats.org/officeDocument/2006/relationships/slide" Target="slides/slide3.xml"/><Relationship Id="rId1004" Type="http://schemas.openxmlformats.org/officeDocument/2006/relationships/slide" Target="slides/slide4.xml"/><Relationship Id="rId1005" Type="http://schemas.openxmlformats.org/officeDocument/2006/relationships/slide" Target="slides/slide5.xml"/><Relationship Id="rId1006" Type="http://schemas.openxmlformats.org/officeDocument/2006/relationships/slide" Target="slides/slide6.xml"/><Relationship Id="rId1007" Type="http://schemas.openxmlformats.org/officeDocument/2006/relationships/slide" Target="slides/slide7.xml"/><Relationship Id="rId1008" Type="http://schemas.openxmlformats.org/officeDocument/2006/relationships/slide" Target="slides/slide8.xml"/><Relationship Id="rId1009" Type="http://schemas.openxmlformats.org/officeDocument/2006/relationships/slide" Target="slides/slide9.xml"/><Relationship Id="rId1010" Type="http://schemas.openxmlformats.org/officeDocument/2006/relationships/slide" Target="slides/slide10.xml"/><Relationship Id="rId1011" Type="http://schemas.openxmlformats.org/officeDocument/2006/relationships/slide" Target="slides/slide11.xml"/><Relationship Id="rId1012" Type="http://schemas.openxmlformats.org/officeDocument/2006/relationships/slide" Target="slides/slide12.xml"/><Relationship Id="rId1013" Type="http://schemas.openxmlformats.org/officeDocument/2006/relationships/slide" Target="slides/slide13.xml"/><Relationship Id="rId1014" Type="http://schemas.openxmlformats.org/officeDocument/2006/relationships/slide" Target="slides/slide14.xml"/><Relationship Id="rId1015" Type="http://schemas.openxmlformats.org/officeDocument/2006/relationships/slide" Target="slides/slide15.xml"/><Relationship Id="rId1016" Type="http://schemas.openxmlformats.org/officeDocument/2006/relationships/slide" Target="slides/slide16.xml"/><Relationship Id="rId1017" Type="http://schemas.openxmlformats.org/officeDocument/2006/relationships/slide" Target="slides/slide17.xml"/><Relationship Id="rId1018" Type="http://schemas.openxmlformats.org/officeDocument/2006/relationships/slide" Target="slides/slide18.xml"/><Relationship Id="rId1019" Type="http://schemas.openxmlformats.org/officeDocument/2006/relationships/slide" Target="slides/slide19.xml"/><Relationship Id="rId1020" Type="http://schemas.openxmlformats.org/officeDocument/2006/relationships/slide" Target="slides/slide20.xml"/><Relationship Id="rId1021" Type="http://schemas.openxmlformats.org/officeDocument/2006/relationships/slide" Target="slides/slide21.xml"/><Relationship Id="rId1022" Type="http://schemas.openxmlformats.org/officeDocument/2006/relationships/slide" Target="slides/slide22.xml"/><Relationship Id="rId1023" Type="http://schemas.openxmlformats.org/officeDocument/2006/relationships/slide" Target="slides/slide23.xml"/><Relationship Id="rId1024" Type="http://schemas.openxmlformats.org/officeDocument/2006/relationships/slide" Target="slides/slide24.xml"/><Relationship Id="rId1025" Type="http://schemas.openxmlformats.org/officeDocument/2006/relationships/slide" Target="slides/slide25.xml"/><Relationship Id="rId1026" Type="http://schemas.openxmlformats.org/officeDocument/2006/relationships/slide" Target="slides/slide26.xml"/><Relationship Id="rId1027" Type="http://schemas.openxmlformats.org/officeDocument/2006/relationships/slide" Target="slides/slide27.xml"/><Relationship Id="rId1028" Type="http://schemas.openxmlformats.org/officeDocument/2006/relationships/slide" Target="slides/slide28.xml"/><Relationship Id="rId1029" Type="http://schemas.openxmlformats.org/officeDocument/2006/relationships/slide" Target="slides/slide29.xml"/><Relationship Id="rId1030" Type="http://schemas.openxmlformats.org/officeDocument/2006/relationships/slide" Target="slides/slide30.xml"/><Relationship Id="rId1031" Type="http://schemas.openxmlformats.org/officeDocument/2006/relationships/slide" Target="slides/slide31.xml"/><Relationship Id="rId1032" Type="http://schemas.openxmlformats.org/officeDocument/2006/relationships/slide" Target="slides/slide32.xml"/><Relationship Id="rId1033" Type="http://schemas.openxmlformats.org/officeDocument/2006/relationships/slide" Target="slides/slide33.xml"/><Relationship Id="rId1034" Type="http://schemas.openxmlformats.org/officeDocument/2006/relationships/slide" Target="slides/slide34.xml"/><Relationship Id="rId1035" Type="http://schemas.openxmlformats.org/officeDocument/2006/relationships/slide" Target="slides/slide35.xml"/><Relationship Id="rId1036" Type="http://schemas.openxmlformats.org/officeDocument/2006/relationships/slide" Target="slides/slide36.xml"/><Relationship Id="rId1037" Type="http://schemas.openxmlformats.org/officeDocument/2006/relationships/slide" Target="slides/slide37.xml"/><Relationship Id="rId1038" Type="http://schemas.openxmlformats.org/officeDocument/2006/relationships/slide" Target="slides/slide38.xml"/><Relationship Id="rId1039" Type="http://schemas.openxmlformats.org/officeDocument/2006/relationships/slide" Target="slides/slide39.xml"/><Relationship Id="rId1040" Type="http://schemas.openxmlformats.org/officeDocument/2006/relationships/slide" Target="slides/slide40.xml"/><Relationship Id="rId1041" Type="http://schemas.openxmlformats.org/officeDocument/2006/relationships/slide" Target="slides/slide41.xml"/><Relationship Id="rId1042" Type="http://schemas.openxmlformats.org/officeDocument/2006/relationships/slide" Target="slides/slide42.xml"/><Relationship Id="rId1043" Type="http://schemas.openxmlformats.org/officeDocument/2006/relationships/slide" Target="slides/slide43.xml"/><Relationship Id="rId1044" Type="http://schemas.openxmlformats.org/officeDocument/2006/relationships/slide" Target="slides/slide44.xml"/><Relationship Id="rId1045" Type="http://schemas.openxmlformats.org/officeDocument/2006/relationships/slide" Target="slides/slide4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4E9E7-0A46-C642-B1CD-9F43F63A761F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0FFE6-5FBB-9B41-A19C-338E023F0B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67709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F37FED-970C-2049-96AE-96BD1BA5E2DA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Click to edit Master text styles</a:t>
            </a:r>
          </a:p>
          <a:p>
            <a:pPr lvl="1"/>
            <a:r>
              <a:rPr lang="nb-NO"/>
              <a:t>Second level</a:t>
            </a:r>
          </a:p>
          <a:p>
            <a:pPr lvl="2"/>
            <a:r>
              <a:rPr lang="nb-NO"/>
              <a:t>Third level</a:t>
            </a:r>
          </a:p>
          <a:p>
            <a:pPr lvl="3"/>
            <a:r>
              <a:rPr lang="nb-NO"/>
              <a:t>Fourth level</a:t>
            </a:r>
          </a:p>
          <a:p>
            <a:pPr lvl="4"/>
            <a:r>
              <a:rPr lang="nb-NO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8085-8ED8-F544-9D86-69C4C46BE9E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9602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789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8F95C4E-1091-4AFC-A458-56779C01DE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CD8EA4B-13CD-40B4-BDDD-B2F23644D4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2931791"/>
            <a:ext cx="8064896" cy="432048"/>
          </a:xfrm>
        </p:spPr>
        <p:txBody>
          <a:bodyPr/>
          <a:lstStyle>
            <a:lvl1pPr marL="0" indent="0" algn="ctr">
              <a:buClr>
                <a:srgbClr val="FDBA12"/>
              </a:buClr>
              <a:buFontTx/>
              <a:buNone/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2pPr>
            <a:lvl3pPr marL="9144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3pPr>
            <a:lvl4pPr marL="13716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4pPr>
            <a:lvl5pPr marL="18288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21114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94308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1148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C01918F4-FC6F-654D-B51C-42789775576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444444"/>
              </a:buClr>
              <a:defRPr>
                <a:solidFill>
                  <a:srgbClr val="630991"/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785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inser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2219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6876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042792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C619DA90-5716-16E7-D0C6-E0AD562F6B2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FFF9A9"/>
              </a:buClr>
              <a:defRPr>
                <a:solidFill>
                  <a:schemeClr val="bg1">
                    <a:lumMod val="9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60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dia inser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2654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616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55526"/>
            <a:ext cx="82296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69927"/>
            <a:ext cx="8229600" cy="2822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49" r:id="rId2"/>
    <p:sldLayoutId id="2147483693" r:id="rId3"/>
    <p:sldLayoutId id="2147483692" r:id="rId4"/>
    <p:sldLayoutId id="2147483696" r:id="rId5"/>
    <p:sldLayoutId id="2147483694" r:id="rId6"/>
    <p:sldLayoutId id="2147483691" r:id="rId7"/>
    <p:sldLayoutId id="2147483655" r:id="rId8"/>
    <p:sldLayoutId id="2147483695" r:id="rId9"/>
    <p:sldLayoutId id="2147483697" r:id="rId10"/>
    <p:sldLayoutId id="2147483698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200" kern="1200" baseline="0">
          <a:solidFill>
            <a:srgbClr val="1A1B1B"/>
          </a:solidFill>
          <a:latin typeface="Roboto" panose="02000000000000000000" pitchFamily="2" charset="0"/>
          <a:ea typeface="+mj-ea"/>
          <a:cs typeface="Roboto" panose="02000000000000000000" pitchFamily="2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2000" b="0" i="0" strike="noStrike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2pPr>
      <a:lvl3pPr marL="12573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4pPr>
      <a:lvl5pPr marL="20574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1-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2-1.png"/><Relationship Id="rId101" Type="http://schemas.openxmlformats.org/officeDocument/2006/relationships/image" Target="../media/gen-s2-2.png"/><Relationship Id="rId102" Type="http://schemas.openxmlformats.org/officeDocument/2006/relationships/image" Target="../media/gen-s2-3.png"/><Relationship Id="rId103" Type="http://schemas.openxmlformats.org/officeDocument/2006/relationships/image" Target="../media/gen-s2-4.png"/><Relationship Id="rId104" Type="http://schemas.openxmlformats.org/officeDocument/2006/relationships/image" Target="../media/gen-s2-5.png"/><Relationship Id="rId105" Type="http://schemas.openxmlformats.org/officeDocument/2006/relationships/image" Target="../media/gen-s2-6.png"/><Relationship Id="rId106" Type="http://schemas.openxmlformats.org/officeDocument/2006/relationships/image" Target="../media/gen-s2-7.png"/><Relationship Id="rId107" Type="http://schemas.openxmlformats.org/officeDocument/2006/relationships/image" Target="../media/gen-s2-8.png"/><Relationship Id="rId108" Type="http://schemas.openxmlformats.org/officeDocument/2006/relationships/image" Target="../media/gen-s2-9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-1.png"/><Relationship Id="rId101" Type="http://schemas.openxmlformats.org/officeDocument/2006/relationships/image" Target="../media/gen-s4-2.png"/><Relationship Id="rId102" Type="http://schemas.openxmlformats.org/officeDocument/2006/relationships/image" Target="../media/gen-s4-3.png"/><Relationship Id="rId103" Type="http://schemas.openxmlformats.org/officeDocument/2006/relationships/image" Target="../media/gen-s4-4.png"/><Relationship Id="rId104" Type="http://schemas.openxmlformats.org/officeDocument/2006/relationships/image" Target="../media/gen-s4-5.png"/><Relationship Id="rId105" Type="http://schemas.openxmlformats.org/officeDocument/2006/relationships/image" Target="../media/gen-s4-6.png"/><Relationship Id="rId106" Type="http://schemas.openxmlformats.org/officeDocument/2006/relationships/image" Target="../media/gen-s4-7.png"/><Relationship Id="rId107" Type="http://schemas.openxmlformats.org/officeDocument/2006/relationships/image" Target="../media/gen-s4-8.png"/><Relationship Id="rId108" Type="http://schemas.openxmlformats.org/officeDocument/2006/relationships/image" Target="../media/gen-s4-9.png"/><Relationship Id="rId109" Type="http://schemas.openxmlformats.org/officeDocument/2006/relationships/image" Target="../media/gen-s4-10.png"/><Relationship Id="rId110" Type="http://schemas.openxmlformats.org/officeDocument/2006/relationships/image" Target="../media/gen-s4-11.png"/><Relationship Id="rId111" Type="http://schemas.openxmlformats.org/officeDocument/2006/relationships/image" Target="../media/gen-s4-12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1-1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3-1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7-1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4-1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8-1.png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2-1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6-1.pn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7-1.png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39-1.png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0-1.png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3-1.png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640080" y="1325880"/>
            <a:ext cx="7863840" cy="1280160"/>
          </a:xfrm>
        </p:spPr>
        <p:txBody>
          <a:bodyPr anchor="ctr">
            <a:normAutofit/>
          </a:bodyPr>
          <a:lstStyle/>
          <a:p>
            <a:pPr/>
            <a:r>
              <a:rPr lang="en-US" sz="2600" dirty="0"/>
              <a:t>AVD Anywhere: Azure Virtual Desktop on Azure, Azure Local, and AVD Hybrid Platforms</a:t>
            </a:r>
          </a:p>
        </p:txBody>
      </p:sp>
      <p:sp>
        <p:nvSpPr>
          <p:cNvPr id="3" name="Speaker 3"/>
          <p:cNvSpPr>
            <a:spLocks noGrp="1"/>
          </p:cNvSpPr>
          <p:nvPr>
            <p:ph type="body" sz="quarter" idx="10"/>
          </p:nvPr>
        </p:nvSpPr>
        <p:spPr>
          <a:xfrm>
            <a:off x="640080" y="2743200"/>
            <a:ext cx="7863840" cy="457200"/>
          </a:xfrm>
        </p:spPr>
        <p:txBody>
          <a:bodyPr>
            <a:normAutofit/>
          </a:bodyPr>
          <a:lstStyle/>
          <a:p>
            <a:pPr algn="ctr"/>
            <a:r>
              <a:rPr lang="en-US" sz="1600" dirty="0"/>
              <a:t>Kristopher Turner · NIC 2026 · Wed 14 Oct, 13:20</a:t>
            </a:r>
          </a:p>
        </p:txBody>
      </p:sp>
      <p:pic>
        <p:nvPicPr>
          <p:cNvPr id="4" name="Title design 4" descr="Title slide designed as a boarding pass: AVD Anywhere, Azure Virtual Desktop on Azure, Azure Local, and AVD Hybrid Platforms. Passenger: you; destination: any. Captain Kristopher Turner, Wed 14 Oct, boarding 13:20, gate Room 5. Three terminals: A Azure, B Azure Local, C AVD Hybrid.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ng 2"/>
          <p:cNvSpPr/>
          <p:nvPr/>
        </p:nvSpPr>
        <p:spPr>
          <a:xfrm>
            <a:off x="502920" y="411480"/>
            <a:ext cx="2286000" cy="2286000"/>
          </a:xfrm>
          <a:prstGeom prst="ellipse">
            <a:avLst/>
          </a:prstGeom>
          <a:noFill/>
          <a:ln w="50800">
            <a:solidFill>
              <a:srgbClr val="1A1B1B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Headsho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4360" y="502920"/>
            <a:ext cx="2103120" cy="2103120"/>
          </a:xfrm>
          <a:prstGeom prst="ellipse">
            <a:avLst/>
          </a:prstGeom>
        </p:spPr>
      </p:pic>
      <p:sp>
        <p:nvSpPr>
          <p:cNvPr id="4" name="Title 4"/>
          <p:cNvSpPr>
            <a:spLocks noGrp="1"/>
          </p:cNvSpPr>
          <p:nvPr>
            <p:ph type="ctrTitle"/>
          </p:nvPr>
        </p:nvSpPr>
        <p:spPr>
          <a:xfrm>
            <a:off x="457200" y="2788920"/>
            <a:ext cx="3383280" cy="548640"/>
          </a:xfrm>
        </p:spPr>
        <p:txBody>
          <a:bodyPr anchor="ctr">
            <a:normAutofit/>
          </a:bodyPr>
          <a:lstStyle/>
          <a:p>
            <a:pPr algn="l"/>
            <a:r>
              <a:rPr lang="en-US" sz="2600" dirty="0"/>
              <a:t>Kristopher Turner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3364992"/>
            <a:ext cx="3383280" cy="822960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rtlCol="0" anchor="t">
            <a:noAutofit/>
          </a:bodyPr>
          <a:lstStyle/>
          <a:p>
            <a:pPr/>
            <a:r>
              <a:rPr lang="en-US" sz="1300" i="1" dirty="0">
                <a:solidFill>
                  <a:srgbClr val="1A1B1B"/>
                </a:solidFill>
                <a:latin typeface="Roboto"/>
                <a:cs typeface="Roboto"/>
              </a:rPr>
              <a:t>Product Technology Architect</a:t>
            </a:r>
          </a:p>
          <a:p>
            <a:pPr>
              <a:spcBef>
                <a:spcPts val="200"/>
              </a:spcBef>
            </a:pPr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TierPoint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kris@hybridsolutions.cloud</a:t>
            </a:r>
          </a:p>
        </p:txBody>
      </p:sp>
      <p:sp>
        <p:nvSpPr>
          <p:cNvPr id="6" name="Credentials 6"/>
          <p:cNvSpPr/>
          <p:nvPr/>
        </p:nvSpPr>
        <p:spPr>
          <a:xfrm>
            <a:off x="3931920" y="365760"/>
            <a:ext cx="47548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MVP 7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4160520" y="502920"/>
            <a:ext cx="566928" cy="822960"/>
          </a:xfrm>
          <a:prstGeom prst="rect">
            <a:avLst/>
          </a:prstGeom>
        </p:spPr>
      </p:pic>
      <p:pic>
        <p:nvPicPr>
          <p:cNvPr id="8" name="MCT 8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4892040" y="521208"/>
            <a:ext cx="822960" cy="795528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852160" y="548640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Microsoft MVP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Microsoft Certified Trainer</a:t>
            </a:r>
          </a:p>
        </p:txBody>
      </p:sp>
      <p:pic>
        <p:nvPicPr>
          <p:cNvPr id="10" name="Badge 10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4114800" y="1463040"/>
            <a:ext cx="640080" cy="640080"/>
          </a:xfrm>
          <a:prstGeom prst="rect">
            <a:avLst/>
          </a:prstGeom>
        </p:spPr>
      </p:pic>
      <p:pic>
        <p:nvPicPr>
          <p:cNvPr id="11" name="Badge 11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4864608" y="1463040"/>
            <a:ext cx="640080" cy="640080"/>
          </a:xfrm>
          <a:prstGeom prst="rect">
            <a:avLst/>
          </a:prstGeom>
        </p:spPr>
      </p:pic>
      <p:pic>
        <p:nvPicPr>
          <p:cNvPr id="12" name="Badge 12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5614416" y="1463040"/>
            <a:ext cx="640080" cy="640080"/>
          </a:xfrm>
          <a:prstGeom prst="rect">
            <a:avLst/>
          </a:prstGeom>
        </p:spPr>
      </p:pic>
      <p:pic>
        <p:nvPicPr>
          <p:cNvPr id="13" name="Badge 13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6364224" y="1463040"/>
            <a:ext cx="640080" cy="640080"/>
          </a:xfrm>
          <a:prstGeom prst="rect">
            <a:avLst/>
          </a:prstGeom>
        </p:spPr>
      </p:pic>
      <p:pic>
        <p:nvPicPr>
          <p:cNvPr id="14" name="Badge 14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7114032" y="1463040"/>
            <a:ext cx="640080" cy="640080"/>
          </a:xfrm>
          <a:prstGeom prst="rect">
            <a:avLst/>
          </a:prstGeom>
        </p:spPr>
      </p:pic>
      <p:pic>
        <p:nvPicPr>
          <p:cNvPr id="15" name="Badge 15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7863840" y="1463040"/>
            <a:ext cx="640080" cy="640080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4114800" y="2103120"/>
            <a:ext cx="44805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650" dirty="0">
                <a:solidFill>
                  <a:srgbClr val="2E4546"/>
                </a:solidFill>
                <a:latin typeface="Roboto"/>
                <a:cs typeface="Roboto"/>
              </a:rPr>
              <a:t>Solutions Architect Expert · Security Engineer · Administrator · Hybrid Administrator · AVD Specialty · Stack Hub Operator</a:t>
            </a:r>
          </a:p>
        </p:txBody>
      </p:sp>
      <p:sp>
        <p:nvSpPr>
          <p:cNvPr id="17" name="Icon 17"/>
          <p:cNvSpPr/>
          <p:nvPr/>
        </p:nvSpPr>
        <p:spPr>
          <a:xfrm>
            <a:off x="393192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X</a:t>
            </a:r>
          </a:p>
        </p:txBody>
      </p:sp>
      <p:sp>
        <p:nvSpPr>
          <p:cNvPr id="18" name="Handle 18"/>
          <p:cNvSpPr/>
          <p:nvPr/>
        </p:nvSpPr>
        <p:spPr>
          <a:xfrm>
            <a:off x="435254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19" name="Icon 19"/>
          <p:cNvSpPr/>
          <p:nvPr/>
        </p:nvSpPr>
        <p:spPr>
          <a:xfrm>
            <a:off x="393192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in</a:t>
            </a:r>
          </a:p>
        </p:txBody>
      </p:sp>
      <p:sp>
        <p:nvSpPr>
          <p:cNvPr id="20" name="Handle 20"/>
          <p:cNvSpPr/>
          <p:nvPr/>
        </p:nvSpPr>
        <p:spPr>
          <a:xfrm>
            <a:off x="435254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  <p:sp>
        <p:nvSpPr>
          <p:cNvPr id="21" name="Icon 21"/>
          <p:cNvSpPr/>
          <p:nvPr/>
        </p:nvSpPr>
        <p:spPr>
          <a:xfrm>
            <a:off x="3931920" y="34747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▶</a:t>
            </a:r>
          </a:p>
        </p:txBody>
      </p:sp>
      <p:sp>
        <p:nvSpPr>
          <p:cNvPr id="22" name="Handle 22"/>
          <p:cNvSpPr/>
          <p:nvPr/>
        </p:nvSpPr>
        <p:spPr>
          <a:xfrm>
            <a:off x="4352544" y="34747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23" name="Icon 23"/>
          <p:cNvSpPr/>
          <p:nvPr/>
        </p:nvSpPr>
        <p:spPr>
          <a:xfrm>
            <a:off x="635508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www</a:t>
            </a:r>
          </a:p>
        </p:txBody>
      </p:sp>
      <p:sp>
        <p:nvSpPr>
          <p:cNvPr id="24" name="Handle 24"/>
          <p:cNvSpPr/>
          <p:nvPr/>
        </p:nvSpPr>
        <p:spPr>
          <a:xfrm>
            <a:off x="677570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kristopherjturner.me</a:t>
            </a:r>
          </a:p>
        </p:txBody>
      </p:sp>
      <p:sp>
        <p:nvSpPr>
          <p:cNvPr id="25" name="Icon 25"/>
          <p:cNvSpPr/>
          <p:nvPr/>
        </p:nvSpPr>
        <p:spPr>
          <a:xfrm>
            <a:off x="635508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GH</a:t>
            </a:r>
          </a:p>
        </p:txBody>
      </p:sp>
      <p:sp>
        <p:nvSpPr>
          <p:cNvPr id="26" name="Handle 26"/>
          <p:cNvSpPr/>
          <p:nvPr/>
        </p:nvSpPr>
        <p:spPr>
          <a:xfrm>
            <a:off x="677570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457200" y="182880"/>
            <a:ext cx="8229600" cy="603504"/>
          </a:xfrm>
        </p:spPr>
        <p:txBody>
          <a:bodyPr anchor="ctr">
            <a:normAutofit/>
          </a:bodyPr>
          <a:lstStyle/>
          <a:p>
            <a:pPr algn="l"/>
            <a:r>
              <a:rPr lang="en-US" sz="2450" dirty="0"/>
              <a:t>Home base: Virginia, USA</a:t>
            </a:r>
          </a:p>
        </p:txBody>
      </p:sp>
      <p:sp>
        <p:nvSpPr>
          <p:cNvPr id="3" name="Montage placeholder 3"/>
          <p:cNvSpPr/>
          <p:nvPr/>
        </p:nvSpPr>
        <p:spPr>
          <a:xfrm>
            <a:off x="1483360" y="914400"/>
            <a:ext cx="6177280" cy="3474720"/>
          </a:xfrm>
          <a:prstGeom prst="rect">
            <a:avLst/>
          </a:prstGeom>
          <a:solidFill>
            <a:srgbClr val="1A1B1B"/>
          </a:solidFill>
          <a:ln w="31750">
            <a:solidFill>
              <a:srgbClr val="1A1B1B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98F8FE"/>
                </a:solidFill>
                <a:latin typeface="Roboto"/>
                <a:cs typeface="Roboto"/>
              </a:rPr>
              <a:t>Photo montage shown live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What we will do today: the Route Map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pic>
        <p:nvPicPr>
          <p:cNvPr id="4" name="Build 1 4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pic>
        <p:nvPicPr>
          <p:cNvPr id="5" name="Build 2 5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pic>
        <p:nvPicPr>
          <p:cNvPr id="6" name="Build 3 6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pic>
        <p:nvPicPr>
          <p:cNvPr id="7" name="Build 4 7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pic>
        <p:nvPicPr>
          <p:cNvPr id="8" name="Build 5 8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pic>
        <p:nvPicPr>
          <p:cNvPr id="9" name="Build 6 9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pic>
        <p:nvPicPr>
          <p:cNvPr id="10" name="Build 7 10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pic>
        <p:nvPicPr>
          <p:cNvPr id="11" name="Build 8 11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pic>
        <p:nvPicPr>
          <p:cNvPr id="12" name="Build 9 12"/>
          <p:cNvPicPr>
            <a:picLocks noChangeAspect="1"/>
          </p:cNvPicPr>
          <p:nvPr/>
        </p:nvPicPr>
        <p:blipFill>
          <a:blip r:embed="rId109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pic>
        <p:nvPicPr>
          <p:cNvPr id="13" name="Build 10 13"/>
          <p:cNvPicPr>
            <a:picLocks noChangeAspect="1"/>
          </p:cNvPicPr>
          <p:nvPr/>
        </p:nvPicPr>
        <p:blipFill>
          <a:blip r:embed="rId11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pic>
        <p:nvPicPr>
          <p:cNvPr id="14" name="Build 11 14"/>
          <p:cNvPicPr>
            <a:picLocks noChangeAspect="1"/>
          </p:cNvPicPr>
          <p:nvPr/>
        </p:nvPicPr>
        <p:blipFill>
          <a:blip r:embed="rId111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8" name="Node 1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0" name="Node 2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What is Azure Virtual Desktop?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Windows runs on virtual machines in a data centre; your users reach it from any device</a:t>
            </a:r>
          </a:p>
        </p:txBody>
      </p:sp>
      <p:sp>
        <p:nvSpPr>
          <p:cNvPr id="4" name="User 4"/>
          <p:cNvSpPr/>
          <p:nvPr/>
        </p:nvSpPr>
        <p:spPr>
          <a:xfrm>
            <a:off x="457200" y="2432304"/>
            <a:ext cx="118872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Users</a:t>
            </a:r>
          </a:p>
          <a:p>
            <a:pPr algn="ctr">
              <a:spcBef>
                <a:spcPts val="300"/>
              </a:spcBef>
            </a:pPr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any device: Windows App or a browser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1673352" y="2958084"/>
            <a:ext cx="219456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Microsoft runs 6"/>
          <p:cNvSpPr/>
          <p:nvPr/>
        </p:nvSpPr>
        <p:spPr>
          <a:xfrm>
            <a:off x="1920240" y="1472184"/>
            <a:ext cx="2148840" cy="2971800"/>
          </a:xfrm>
          <a:prstGeom prst="roundRect">
            <a:avLst>
              <a:gd name="adj" fmla="val 6000"/>
            </a:avLst>
          </a:prstGeom>
          <a:solidFill>
            <a:srgbClr val="193233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1920240" y="1527048"/>
            <a:ext cx="214884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00" b="1" spc="100" dirty="0">
                <a:solidFill>
                  <a:srgbClr val="FDBA12"/>
                </a:solidFill>
                <a:latin typeface="Roboto"/>
                <a:cs typeface="Roboto"/>
              </a:rPr>
              <a:t>MICROSOFT RUNS IT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2057400" y="1837944"/>
            <a:ext cx="187452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Entra ID</a:t>
            </a:r>
          </a:p>
          <a:p>
            <a:pPr/>
            <a:r>
              <a:rPr lang="en-US" sz="950" dirty="0">
                <a:solidFill>
                  <a:srgbClr val="98F8FE"/>
                </a:solidFill>
                <a:latin typeface="Roboto"/>
                <a:cs typeface="Roboto"/>
              </a:rPr>
              <a:t>sign-in and MFA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2057400" y="2478024"/>
            <a:ext cx="187452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Feed</a:t>
            </a:r>
          </a:p>
          <a:p>
            <a:pPr/>
            <a:r>
              <a:rPr lang="en-US" sz="950" dirty="0">
                <a:solidFill>
                  <a:srgbClr val="98F8FE"/>
                </a:solidFill>
                <a:latin typeface="Roboto"/>
                <a:cs typeface="Roboto"/>
              </a:rPr>
              <a:t>shows what the user may open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2057400" y="3118104"/>
            <a:ext cx="187452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Broker</a:t>
            </a:r>
          </a:p>
          <a:p>
            <a:pPr/>
            <a:r>
              <a:rPr lang="en-US" sz="950" dirty="0">
                <a:solidFill>
                  <a:srgbClr val="98F8FE"/>
                </a:solidFill>
                <a:latin typeface="Roboto"/>
                <a:cs typeface="Roboto"/>
              </a:rPr>
              <a:t>picks a session host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2057400" y="3758184"/>
            <a:ext cx="187452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Gateway</a:t>
            </a:r>
          </a:p>
          <a:p>
            <a:pPr/>
            <a:r>
              <a:rPr lang="en-US" sz="950" dirty="0">
                <a:solidFill>
                  <a:srgbClr val="98F8FE"/>
                </a:solidFill>
                <a:latin typeface="Roboto"/>
                <a:cs typeface="Roboto"/>
              </a:rPr>
              <a:t>carries the connection; no inbound ports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4096512" y="2958084"/>
            <a:ext cx="219456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You manage 13"/>
          <p:cNvSpPr/>
          <p:nvPr/>
        </p:nvSpPr>
        <p:spPr>
          <a:xfrm>
            <a:off x="4343400" y="1472184"/>
            <a:ext cx="43434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343400" y="1527048"/>
            <a:ext cx="4343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00" b="1" spc="100" dirty="0">
                <a:solidFill>
                  <a:srgbClr val="1A1B1B"/>
                </a:solidFill>
                <a:latin typeface="Roboto"/>
                <a:cs typeface="Roboto"/>
              </a:rPr>
              <a:t>YOU MANAGE IT</a:t>
            </a:r>
          </a:p>
        </p:txBody>
      </p:sp>
      <p:sp>
        <p:nvSpPr>
          <p:cNvPr id="15" name="Component 15"/>
          <p:cNvSpPr/>
          <p:nvPr/>
        </p:nvSpPr>
        <p:spPr>
          <a:xfrm>
            <a:off x="4480560" y="189280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Workspace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5897880" y="185623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what users see in Windows App; it groups the application groups</a:t>
            </a:r>
          </a:p>
        </p:txBody>
      </p:sp>
      <p:sp>
        <p:nvSpPr>
          <p:cNvPr id="17" name="Component 17"/>
          <p:cNvSpPr/>
          <p:nvPr/>
        </p:nvSpPr>
        <p:spPr>
          <a:xfrm>
            <a:off x="4480560" y="239572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Application group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5897880" y="235915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a full desktop or single apps (RemoteApp), assigned to users</a:t>
            </a:r>
          </a:p>
        </p:txBody>
      </p:sp>
      <p:sp>
        <p:nvSpPr>
          <p:cNvPr id="19" name="Component 19"/>
          <p:cNvSpPr/>
          <p:nvPr/>
        </p:nvSpPr>
        <p:spPr>
          <a:xfrm>
            <a:off x="4480560" y="289864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Host pool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5897880" y="286207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a set of identical session hosts: one image, one load-balancing rule</a:t>
            </a:r>
          </a:p>
        </p:txBody>
      </p:sp>
      <p:sp>
        <p:nvSpPr>
          <p:cNvPr id="21" name="Component 21"/>
          <p:cNvSpPr/>
          <p:nvPr/>
        </p:nvSpPr>
        <p:spPr>
          <a:xfrm>
            <a:off x="4480560" y="340156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98F8FE"/>
                </a:solidFill>
                <a:latin typeface="Roboto"/>
                <a:cs typeface="Roboto"/>
              </a:rPr>
              <a:t>Session host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5897880" y="336499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a Windows VM users work on; multi-session: many users per VM</a:t>
            </a:r>
          </a:p>
        </p:txBody>
      </p:sp>
      <p:sp>
        <p:nvSpPr>
          <p:cNvPr id="23" name="Component 23"/>
          <p:cNvSpPr/>
          <p:nvPr/>
        </p:nvSpPr>
        <p:spPr>
          <a:xfrm>
            <a:off x="4480560" y="390448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Profile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5897880" y="386791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FSLogix: the user profile on a file share, follows them to any host</a:t>
            </a:r>
          </a:p>
        </p:txBody>
      </p:sp>
      <p:cxnSp>
        <p:nvCxnSpPr>
          <p:cNvPr id="25" name="Line 2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26" name="Node 2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8" name="Node 2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30" name="Node 3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1" name="Text 3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Today: AVD in three places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193233"/>
                </a:solidFill>
                <a:latin typeface="Roboto"/>
                <a:cs typeface="Roboto"/>
              </a:rPr>
              <a:t>The service stays in Azure, so the session hosts can run in Azure, on Azure Local, or on your own hypervisor.</a:t>
            </a:r>
          </a:p>
        </p:txBody>
      </p:sp>
      <p:sp>
        <p:nvSpPr>
          <p:cNvPr id="4" name="Terminal 4"/>
          <p:cNvSpPr/>
          <p:nvPr/>
        </p:nvSpPr>
        <p:spPr>
          <a:xfrm>
            <a:off x="640080" y="1517904"/>
            <a:ext cx="24688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Gate board 5"/>
          <p:cNvSpPr/>
          <p:nvPr/>
        </p:nvSpPr>
        <p:spPr>
          <a:xfrm>
            <a:off x="640080" y="1517904"/>
            <a:ext cx="2468880" cy="365760"/>
          </a:xfrm>
          <a:prstGeom prst="round2SameRect">
            <a:avLst/>
          </a:prstGeom>
          <a:solidFill>
            <a:srgbClr val="193233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✈  TERMINAL A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40080" y="1883664"/>
            <a:ext cx="2468880" cy="8686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1A1B1B"/>
                </a:solidFill>
                <a:latin typeface="Roboto"/>
                <a:cs typeface="Roboto"/>
              </a:rPr>
              <a:t>AVD on Azure</a:t>
            </a:r>
          </a:p>
          <a:p>
            <a:pPr algn="ctr">
              <a:spcBef>
                <a:spcPts val="400"/>
              </a:spcBef>
            </a:pPr>
            <a:r>
              <a:rPr lang="en-US" sz="1050" dirty="0">
                <a:solidFill>
                  <a:srgbClr val="193233"/>
                </a:solidFill>
                <a:latin typeface="Roboto"/>
                <a:cs typeface="Roboto"/>
              </a:rPr>
              <a:t>Elastic, pooled, Entra-joined</a:t>
            </a:r>
          </a:p>
        </p:txBody>
      </p:sp>
      <p:sp>
        <p:nvSpPr>
          <p:cNvPr id="7" name="Terminal 7"/>
          <p:cNvSpPr/>
          <p:nvPr/>
        </p:nvSpPr>
        <p:spPr>
          <a:xfrm>
            <a:off x="3337560" y="1517904"/>
            <a:ext cx="24688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Gate board 8"/>
          <p:cNvSpPr/>
          <p:nvPr/>
        </p:nvSpPr>
        <p:spPr>
          <a:xfrm>
            <a:off x="3337560" y="1517904"/>
            <a:ext cx="2468880" cy="365760"/>
          </a:xfrm>
          <a:prstGeom prst="round2SameRect">
            <a:avLst/>
          </a:prstGeom>
          <a:solidFill>
            <a:srgbClr val="FDBA12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✈  TERMINAL B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3337560" y="1883664"/>
            <a:ext cx="2468880" cy="8686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1A1B1B"/>
                </a:solidFill>
                <a:latin typeface="Roboto"/>
                <a:cs typeface="Roboto"/>
              </a:rPr>
              <a:t>AVD on Azure Local</a:t>
            </a:r>
          </a:p>
          <a:p>
            <a:pPr algn="ctr">
              <a:spcBef>
                <a:spcPts val="400"/>
              </a:spcBef>
            </a:pPr>
            <a:r>
              <a:rPr lang="en-US" sz="1050" dirty="0">
                <a:solidFill>
                  <a:srgbClr val="193233"/>
                </a:solidFill>
                <a:latin typeface="Roboto"/>
                <a:cs typeface="Roboto"/>
              </a:rPr>
              <a:t>Your site: data, latency, regulation</a:t>
            </a:r>
          </a:p>
        </p:txBody>
      </p:sp>
      <p:sp>
        <p:nvSpPr>
          <p:cNvPr id="10" name="Terminal 10"/>
          <p:cNvSpPr/>
          <p:nvPr/>
        </p:nvSpPr>
        <p:spPr>
          <a:xfrm>
            <a:off x="6035040" y="1517904"/>
            <a:ext cx="24688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Gate board 11"/>
          <p:cNvSpPr/>
          <p:nvPr/>
        </p:nvSpPr>
        <p:spPr>
          <a:xfrm>
            <a:off x="6035040" y="1517904"/>
            <a:ext cx="2468880" cy="365760"/>
          </a:xfrm>
          <a:prstGeom prst="round2SameRect">
            <a:avLst/>
          </a:prstGeom>
          <a:solidFill>
            <a:srgbClr val="1A1B1B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FDBA12"/>
                </a:solidFill>
                <a:latin typeface="Roboto"/>
                <a:cs typeface="Roboto"/>
              </a:rPr>
              <a:t>✈  TERMINAL C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035040" y="1883664"/>
            <a:ext cx="2468880" cy="8686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1A1B1B"/>
                </a:solidFill>
                <a:latin typeface="Roboto"/>
                <a:cs typeface="Roboto"/>
              </a:rPr>
              <a:t>AVD Hybrid</a:t>
            </a:r>
          </a:p>
          <a:p>
            <a:pPr algn="ctr">
              <a:spcBef>
                <a:spcPts val="400"/>
              </a:spcBef>
            </a:pPr>
            <a:r>
              <a:rPr lang="en-US" sz="1050" dirty="0">
                <a:solidFill>
                  <a:srgbClr val="193233"/>
                </a:solidFill>
                <a:latin typeface="Roboto"/>
                <a:cs typeface="Roboto"/>
              </a:rPr>
              <a:t>Your hypervisor, Arc-enabled VMs</a:t>
            </a:r>
          </a:p>
        </p:txBody>
      </p:sp>
      <p:sp>
        <p:nvSpPr>
          <p:cNvPr id="13" name="Passport 13"/>
          <p:cNvSpPr/>
          <p:nvPr/>
        </p:nvSpPr>
        <p:spPr>
          <a:xfrm>
            <a:off x="640080" y="2889504"/>
            <a:ext cx="7863840" cy="329184"/>
          </a:xfrm>
          <a:prstGeom prst="roundRect">
            <a:avLst>
              <a:gd name="adj" fmla="val 30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PASSPORT</a:t>
            </a:r>
            <a:r>
              <a:rPr lang="en-US" sz="1150" b="1" dirty="0">
                <a:solidFill>
                  <a:srgbClr val="1A1B1B"/>
                </a:solidFill>
                <a:latin typeface="Roboto"/>
                <a:cs typeface="Roboto"/>
              </a:rPr>
              <a:t>   ·   Entra ID: one identity, valid at every terminal  ·  Arc brings B and C under Azure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3392424"/>
            <a:ext cx="7863840" cy="10515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300" dirty="0">
                <a:solidFill>
                  <a:srgbClr val="1A1B1B"/>
                </a:solidFill>
                <a:latin typeface="Roboto"/>
                <a:cs typeface="Roboto"/>
              </a:rPr>
              <a:t>One check-in: one workspace, one user, one profile pattern at every terminal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300" dirty="0">
                <a:solidFill>
                  <a:srgbClr val="1A1B1B"/>
                </a:solidFill>
                <a:latin typeface="Roboto"/>
                <a:cs typeface="Roboto"/>
              </a:rPr>
              <a:t>Today: we build each terminal live, then connect the flights into one platform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300" dirty="0">
                <a:solidFill>
                  <a:srgbClr val="1A1B1B"/>
                </a:solidFill>
                <a:latin typeface="Roboto"/>
                <a:cs typeface="Roboto"/>
              </a:rPr>
              <a:t>One control tower for monitoring; patching, power and recovery differ by terminal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8" name="Node 1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0" name="Node 2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One architecture, three terminals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top is the same everywhere; only where the session hosts run changes.</a:t>
            </a:r>
          </a:p>
        </p:txBody>
      </p:sp>
      <p:sp>
        <p:nvSpPr>
          <p:cNvPr id="4" name="Control plane 4"/>
          <p:cNvSpPr/>
          <p:nvPr/>
        </p:nvSpPr>
        <p:spPr>
          <a:xfrm>
            <a:off x="457200" y="1444752"/>
            <a:ext cx="8229600" cy="566928"/>
          </a:xfrm>
          <a:prstGeom prst="roundRect">
            <a:avLst>
              <a:gd name="adj" fmla="val 14000"/>
            </a:avLst>
          </a:prstGeom>
          <a:solidFill>
            <a:srgbClr val="193233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00" b="1" spc="100" dirty="0">
                <a:solidFill>
                  <a:srgbClr val="FDBA12"/>
                </a:solidFill>
                <a:latin typeface="Roboto"/>
                <a:cs typeface="Roboto"/>
              </a:rPr>
              <a:t>AZURE  ·  MICROSOFT RUNS IT</a:t>
            </a:r>
          </a:p>
          <a:p>
            <a:pPr algn="ctr">
              <a:spcBef>
                <a:spcPts val="200"/>
              </a:spcBef>
            </a:pPr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Entra ID   ·   Feed   ·   Broker   ·   Gateway   ·   Diagnostics</a:t>
            </a:r>
          </a:p>
        </p:txBody>
      </p:sp>
      <p:sp>
        <p:nvSpPr>
          <p:cNvPr id="5" name="Your Azure resources 5"/>
          <p:cNvSpPr/>
          <p:nvPr/>
        </p:nvSpPr>
        <p:spPr>
          <a:xfrm>
            <a:off x="457200" y="2066544"/>
            <a:ext cx="8229600" cy="274320"/>
          </a:xfrm>
          <a:prstGeom prst="roundRect">
            <a:avLst>
              <a:gd name="adj" fmla="val 30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00" b="1" dirty="0">
                <a:solidFill>
                  <a:srgbClr val="1A1B1B"/>
                </a:solidFill>
                <a:latin typeface="Roboto"/>
                <a:cs typeface="Roboto"/>
              </a:rPr>
              <a:t>Yours, in Azure, for all three: workspace · application groups · host pools · AVD Insights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457200" y="23591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00" i="1" dirty="0">
                <a:solidFill>
                  <a:srgbClr val="193233"/>
                </a:solidFill>
                <a:latin typeface="Roboto"/>
                <a:cs typeface="Roboto"/>
              </a:rPr>
              <a:t>▲  every session host dials out to Azure on 443: no inbound ports  ▲</a:t>
            </a:r>
          </a:p>
        </p:txBody>
      </p:sp>
      <p:sp>
        <p:nvSpPr>
          <p:cNvPr id="7" name="Terminal 7"/>
          <p:cNvSpPr/>
          <p:nvPr/>
        </p:nvSpPr>
        <p:spPr>
          <a:xfrm>
            <a:off x="457200" y="2615184"/>
            <a:ext cx="26212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Gate board 8"/>
          <p:cNvSpPr/>
          <p:nvPr/>
        </p:nvSpPr>
        <p:spPr>
          <a:xfrm>
            <a:off x="457200" y="2615184"/>
            <a:ext cx="2621280" cy="292608"/>
          </a:xfrm>
          <a:prstGeom prst="round2SameRect">
            <a:avLst/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50" b="1" dirty="0">
                <a:solidFill>
                  <a:srgbClr val="98F8FE"/>
                </a:solidFill>
                <a:latin typeface="Roboto"/>
                <a:cs typeface="Roboto"/>
              </a:rPr>
              <a:t>✈  TERMINAL A · AVD on Azure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548640" y="2944368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50" b="1" dirty="0">
                <a:solidFill>
                  <a:srgbClr val="2E4546"/>
                </a:solidFill>
                <a:latin typeface="Roboto"/>
                <a:cs typeface="Roboto"/>
              </a:rPr>
              <a:t>Hosts  </a:t>
            </a:r>
            <a:r>
              <a:rPr lang="en-US" sz="1000" dirty="0">
                <a:solidFill>
                  <a:srgbClr val="1A1B1B"/>
                </a:solidFill>
                <a:latin typeface="Roboto"/>
                <a:cs typeface="Roboto"/>
              </a:rPr>
              <a:t>Azure VMs in your VNet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548640" y="3236976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50" b="1" dirty="0">
                <a:solidFill>
                  <a:srgbClr val="2E4546"/>
                </a:solidFill>
                <a:latin typeface="Roboto"/>
                <a:cs typeface="Roboto"/>
              </a:rPr>
              <a:t>Reach Azure  </a:t>
            </a:r>
            <a:r>
              <a:rPr lang="en-US" sz="1000" dirty="0">
                <a:solidFill>
                  <a:srgbClr val="1A1B1B"/>
                </a:solidFill>
                <a:latin typeface="Roboto"/>
                <a:cs typeface="Roboto"/>
              </a:rPr>
              <a:t>directly, outbound 443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548640" y="3529584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50" b="1" dirty="0">
                <a:solidFill>
                  <a:srgbClr val="2E4546"/>
                </a:solidFill>
                <a:latin typeface="Roboto"/>
                <a:cs typeface="Roboto"/>
              </a:rPr>
              <a:t>Join  </a:t>
            </a:r>
            <a:r>
              <a:rPr lang="en-US" sz="1000" dirty="0">
                <a:solidFill>
                  <a:srgbClr val="1A1B1B"/>
                </a:solidFill>
                <a:latin typeface="Roboto"/>
                <a:cs typeface="Roboto"/>
              </a:rPr>
              <a:t>Entra join (or AD DS)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548640" y="3822192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50" b="1" dirty="0">
                <a:solidFill>
                  <a:srgbClr val="2E4546"/>
                </a:solidFill>
                <a:latin typeface="Roboto"/>
                <a:cs typeface="Roboto"/>
              </a:rPr>
              <a:t>Profiles  </a:t>
            </a:r>
            <a:r>
              <a:rPr lang="en-US" sz="1000" dirty="0">
                <a:solidFill>
                  <a:srgbClr val="1A1B1B"/>
                </a:solidFill>
                <a:latin typeface="Roboto"/>
                <a:cs typeface="Roboto"/>
              </a:rPr>
              <a:t>FSLogix on Azure Files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548640" y="4114800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50" b="1" dirty="0">
                <a:solidFill>
                  <a:srgbClr val="2E4546"/>
                </a:solidFill>
                <a:latin typeface="Roboto"/>
                <a:cs typeface="Roboto"/>
              </a:rPr>
              <a:t>Extras  </a:t>
            </a:r>
            <a:r>
              <a:rPr lang="en-US" sz="1000" dirty="0">
                <a:solidFill>
                  <a:srgbClr val="1A1B1B"/>
                </a:solidFill>
                <a:latin typeface="Roboto"/>
                <a:cs typeface="Roboto"/>
              </a:rPr>
              <a:t>autoscale, Start VM on Connect</a:t>
            </a:r>
          </a:p>
        </p:txBody>
      </p:sp>
      <p:sp>
        <p:nvSpPr>
          <p:cNvPr id="14" name="Terminal 14"/>
          <p:cNvSpPr/>
          <p:nvPr/>
        </p:nvSpPr>
        <p:spPr>
          <a:xfrm>
            <a:off x="3261360" y="2615184"/>
            <a:ext cx="26212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Gate board 15"/>
          <p:cNvSpPr/>
          <p:nvPr/>
        </p:nvSpPr>
        <p:spPr>
          <a:xfrm>
            <a:off x="3261360" y="2615184"/>
            <a:ext cx="2621280" cy="292608"/>
          </a:xfrm>
          <a:prstGeom prst="round2SameRect">
            <a:avLst/>
          </a:prstGeom>
          <a:solidFill>
            <a:srgbClr val="FDBA12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50" b="1" dirty="0">
                <a:solidFill>
                  <a:srgbClr val="1A1B1B"/>
                </a:solidFill>
                <a:latin typeface="Roboto"/>
                <a:cs typeface="Roboto"/>
              </a:rPr>
              <a:t>✈  TERMINAL B · Azure Local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3352800" y="2944368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50" b="1" dirty="0">
                <a:solidFill>
                  <a:srgbClr val="2E4546"/>
                </a:solidFill>
                <a:latin typeface="Roboto"/>
                <a:cs typeface="Roboto"/>
              </a:rPr>
              <a:t>Hosts  </a:t>
            </a:r>
            <a:r>
              <a:rPr lang="en-US" sz="1000" dirty="0">
                <a:solidFill>
                  <a:srgbClr val="1A1B1B"/>
                </a:solidFill>
                <a:latin typeface="Roboto"/>
                <a:cs typeface="Roboto"/>
              </a:rPr>
              <a:t>Azure Local VMs at your site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3352800" y="3236976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50" b="1" dirty="0">
                <a:solidFill>
                  <a:srgbClr val="2E4546"/>
                </a:solidFill>
                <a:latin typeface="Roboto"/>
                <a:cs typeface="Roboto"/>
              </a:rPr>
              <a:t>Reach Azure  </a:t>
            </a:r>
            <a:r>
              <a:rPr lang="en-US" sz="1000" dirty="0">
                <a:solidFill>
                  <a:srgbClr val="1A1B1B"/>
                </a:solidFill>
                <a:latin typeface="Roboto"/>
                <a:cs typeface="Roboto"/>
              </a:rPr>
              <a:t>Arc, plus outbound 443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3352800" y="3529584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50" b="1" dirty="0">
                <a:solidFill>
                  <a:srgbClr val="2E4546"/>
                </a:solidFill>
                <a:latin typeface="Roboto"/>
                <a:cs typeface="Roboto"/>
              </a:rPr>
              <a:t>Join  </a:t>
            </a:r>
            <a:r>
              <a:rPr lang="en-US" sz="1000" dirty="0">
                <a:solidFill>
                  <a:srgbClr val="1A1B1B"/>
                </a:solidFill>
                <a:latin typeface="Roboto"/>
                <a:cs typeface="Roboto"/>
              </a:rPr>
              <a:t>AD DS join (this lab)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3352800" y="3822192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50" b="1" dirty="0">
                <a:solidFill>
                  <a:srgbClr val="2E4546"/>
                </a:solidFill>
                <a:latin typeface="Roboto"/>
                <a:cs typeface="Roboto"/>
              </a:rPr>
              <a:t>Profiles  </a:t>
            </a:r>
            <a:r>
              <a:rPr lang="en-US" sz="1000" dirty="0">
                <a:solidFill>
                  <a:srgbClr val="1A1B1B"/>
                </a:solidFill>
                <a:latin typeface="Roboto"/>
                <a:cs typeface="Roboto"/>
              </a:rPr>
              <a:t>FSLogix on the SOFS share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3352800" y="4114800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50" b="1" dirty="0">
                <a:solidFill>
                  <a:srgbClr val="2E4546"/>
                </a:solidFill>
                <a:latin typeface="Roboto"/>
                <a:cs typeface="Roboto"/>
              </a:rPr>
              <a:t>Extras  </a:t>
            </a:r>
            <a:r>
              <a:rPr lang="en-US" sz="1000" dirty="0">
                <a:solidFill>
                  <a:srgbClr val="1A1B1B"/>
                </a:solidFill>
                <a:latin typeface="Roboto"/>
                <a:cs typeface="Roboto"/>
              </a:rPr>
              <a:t>VM lifecycle through Arc</a:t>
            </a:r>
          </a:p>
        </p:txBody>
      </p:sp>
      <p:sp>
        <p:nvSpPr>
          <p:cNvPr id="21" name="Terminal 21"/>
          <p:cNvSpPr/>
          <p:nvPr/>
        </p:nvSpPr>
        <p:spPr>
          <a:xfrm>
            <a:off x="6065520" y="2615184"/>
            <a:ext cx="26212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Gate board 22"/>
          <p:cNvSpPr/>
          <p:nvPr/>
        </p:nvSpPr>
        <p:spPr>
          <a:xfrm>
            <a:off x="6065520" y="2615184"/>
            <a:ext cx="2621280" cy="292608"/>
          </a:xfrm>
          <a:prstGeom prst="round2SameRect">
            <a:avLst/>
          </a:prstGeom>
          <a:solidFill>
            <a:srgbClr val="1A1B1B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50" b="1" dirty="0">
                <a:solidFill>
                  <a:srgbClr val="FDBA12"/>
                </a:solidFill>
                <a:latin typeface="Roboto"/>
                <a:cs typeface="Roboto"/>
              </a:rPr>
              <a:t>✈  TERMINAL C · AVD 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6156960" y="2944368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50" b="1" dirty="0">
                <a:solidFill>
                  <a:srgbClr val="2E4546"/>
                </a:solidFill>
                <a:latin typeface="Roboto"/>
                <a:cs typeface="Roboto"/>
              </a:rPr>
              <a:t>Hosts  </a:t>
            </a:r>
            <a:r>
              <a:rPr lang="en-US" sz="1000" dirty="0">
                <a:solidFill>
                  <a:srgbClr val="1A1B1B"/>
                </a:solidFill>
                <a:latin typeface="Roboto"/>
                <a:cs typeface="Roboto"/>
              </a:rPr>
              <a:t>your hypervisor (Hyper-V here)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6156960" y="3236976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50" b="1" dirty="0">
                <a:solidFill>
                  <a:srgbClr val="2E4546"/>
                </a:solidFill>
                <a:latin typeface="Roboto"/>
                <a:cs typeface="Roboto"/>
              </a:rPr>
              <a:t>Reach Azure  </a:t>
            </a:r>
            <a:r>
              <a:rPr lang="en-US" sz="1000" dirty="0">
                <a:solidFill>
                  <a:srgbClr val="1A1B1B"/>
                </a:solidFill>
                <a:latin typeface="Roboto"/>
                <a:cs typeface="Roboto"/>
              </a:rPr>
              <a:t>Arc agent + AVD extension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6156960" y="3529584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50" b="1" dirty="0">
                <a:solidFill>
                  <a:srgbClr val="2E4546"/>
                </a:solidFill>
                <a:latin typeface="Roboto"/>
                <a:cs typeface="Roboto"/>
              </a:rPr>
              <a:t>Join  </a:t>
            </a:r>
            <a:r>
              <a:rPr lang="en-US" sz="1000" dirty="0">
                <a:solidFill>
                  <a:srgbClr val="1A1B1B"/>
                </a:solidFill>
                <a:latin typeface="Roboto"/>
                <a:cs typeface="Roboto"/>
              </a:rPr>
              <a:t>AD DS join, by our script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6156960" y="3822192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50" b="1" dirty="0">
                <a:solidFill>
                  <a:srgbClr val="2E4546"/>
                </a:solidFill>
                <a:latin typeface="Roboto"/>
                <a:cs typeface="Roboto"/>
              </a:rPr>
              <a:t>Profiles  </a:t>
            </a:r>
            <a:r>
              <a:rPr lang="en-US" sz="1000" dirty="0">
                <a:solidFill>
                  <a:srgbClr val="1A1B1B"/>
                </a:solidFill>
                <a:latin typeface="Roboto"/>
                <a:cs typeface="Roboto"/>
              </a:rPr>
              <a:t>FSLogix on the SOFS share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6156960" y="4114800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50" b="1" dirty="0">
                <a:solidFill>
                  <a:srgbClr val="2E4546"/>
                </a:solidFill>
                <a:latin typeface="Roboto"/>
                <a:cs typeface="Roboto"/>
              </a:rPr>
              <a:t>Extras  </a:t>
            </a:r>
            <a:r>
              <a:rPr lang="en-US" sz="1000" dirty="0">
                <a:solidFill>
                  <a:srgbClr val="1A1B1B"/>
                </a:solidFill>
                <a:latin typeface="Roboto"/>
                <a:cs typeface="Roboto"/>
              </a:rPr>
              <a:t>your tools; no autoscale</a:t>
            </a:r>
          </a:p>
        </p:txBody>
      </p:sp>
      <p:cxnSp>
        <p:nvCxnSpPr>
          <p:cNvPr id="28" name="Line 28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29" name="Node 29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0" name="Text 30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31" name="Node 31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2" name="Text 32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33" name="Node 33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4" name="Text 34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35" name="Text 35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How a user connects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Every connection starts in Azure; then RDP Shortpath takes the shortest path it can.</a:t>
            </a:r>
          </a:p>
        </p:txBody>
      </p:sp>
      <p:sp>
        <p:nvSpPr>
          <p:cNvPr id="4" name="Step 4"/>
          <p:cNvSpPr/>
          <p:nvPr/>
        </p:nvSpPr>
        <p:spPr>
          <a:xfrm>
            <a:off x="457200" y="1570939"/>
            <a:ext cx="347472" cy="347472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1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96112" y="1444752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Windows App: sign in with Entra ID, get the feed of desktops and apps</a:t>
            </a:r>
          </a:p>
        </p:txBody>
      </p:sp>
      <p:sp>
        <p:nvSpPr>
          <p:cNvPr id="6" name="Step 6"/>
          <p:cNvSpPr/>
          <p:nvPr/>
        </p:nvSpPr>
        <p:spPr>
          <a:xfrm>
            <a:off x="457200" y="2170786"/>
            <a:ext cx="347472" cy="347472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2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896112" y="2044598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Pick a desktop: the client opens TLS 443 to the nearest gateway</a:t>
            </a:r>
          </a:p>
        </p:txBody>
      </p:sp>
      <p:sp>
        <p:nvSpPr>
          <p:cNvPr id="8" name="Step 8"/>
          <p:cNvSpPr/>
          <p:nvPr/>
        </p:nvSpPr>
        <p:spPr>
          <a:xfrm>
            <a:off x="457200" y="2770632"/>
            <a:ext cx="347472" cy="347472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3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" y="2644445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The broker tells the session host to dial out to the same gateway</a:t>
            </a:r>
          </a:p>
        </p:txBody>
      </p:sp>
      <p:sp>
        <p:nvSpPr>
          <p:cNvPr id="10" name="Step 10"/>
          <p:cNvSpPr/>
          <p:nvPr/>
        </p:nvSpPr>
        <p:spPr>
          <a:xfrm>
            <a:off x="457200" y="3370478"/>
            <a:ext cx="347472" cy="347472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4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896112" y="3244291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The gateway joins both legs: reverse connect, no inbound ports</a:t>
            </a:r>
          </a:p>
        </p:txBody>
      </p:sp>
      <p:sp>
        <p:nvSpPr>
          <p:cNvPr id="12" name="Step 12"/>
          <p:cNvSpPr/>
          <p:nvPr/>
        </p:nvSpPr>
        <p:spPr>
          <a:xfrm>
            <a:off x="457200" y="3970325"/>
            <a:ext cx="347472" cy="347472"/>
          </a:xfrm>
          <a:prstGeom prst="ellipse">
            <a:avLst/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5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96112" y="3844138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RDP Shortpath tries UDP; if it works, the session moves to UDP</a:t>
            </a:r>
          </a:p>
        </p:txBody>
      </p:sp>
      <p:sp>
        <p:nvSpPr>
          <p:cNvPr id="14" name="Shortpath 14"/>
          <p:cNvSpPr/>
          <p:nvPr/>
        </p:nvSpPr>
        <p:spPr>
          <a:xfrm>
            <a:off x="4800600" y="1444752"/>
            <a:ext cx="3886200" cy="2999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Shortpath head 15"/>
          <p:cNvSpPr/>
          <p:nvPr/>
        </p:nvSpPr>
        <p:spPr>
          <a:xfrm>
            <a:off x="4800600" y="1444752"/>
            <a:ext cx="3886200" cy="329184"/>
          </a:xfrm>
          <a:prstGeom prst="round2SameRect">
            <a:avLst/>
          </a:prstGeom>
          <a:solidFill>
            <a:srgbClr val="193233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00" b="1" spc="60" dirty="0">
                <a:solidFill>
                  <a:srgbClr val="FDBA12"/>
                </a:solidFill>
                <a:latin typeface="Roboto"/>
                <a:cs typeface="Roboto"/>
              </a:rPr>
              <a:t>RDP SHORTPATH: UDP WHEN IT CAN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4928616" y="1810512"/>
            <a:ext cx="3630168" cy="5257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Managed network</a:t>
            </a:r>
          </a:p>
          <a:p>
            <a:pPr/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on site, VPN or ExpressRoute: straight to the host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4928616" y="2336292"/>
            <a:ext cx="3630168" cy="5257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Public, STUN</a:t>
            </a:r>
          </a:p>
          <a:p>
            <a:pPr/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direct UDP through NAT; first choice on the internet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4928616" y="2862072"/>
            <a:ext cx="3630168" cy="5257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Public, TURN</a:t>
            </a:r>
          </a:p>
          <a:p>
            <a:pPr/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UDP through a Microsoft relay when direct is blocked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4928616" y="3387852"/>
            <a:ext cx="3630168" cy="5257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Fallback</a:t>
            </a:r>
          </a:p>
          <a:p>
            <a:pPr/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no UDP: stays on TCP 443 through the gateway</a:t>
            </a:r>
          </a:p>
        </p:txBody>
      </p:sp>
      <p:sp>
        <p:nvSpPr>
          <p:cNvPr id="20" name="Terminal B note 20"/>
          <p:cNvSpPr/>
          <p:nvPr/>
        </p:nvSpPr>
        <p:spPr>
          <a:xfrm>
            <a:off x="4910328" y="3913632"/>
            <a:ext cx="3666744" cy="438912"/>
          </a:xfrm>
          <a:prstGeom prst="roundRect">
            <a:avLst>
              <a:gd name="adj" fmla="val 20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1A1B1B"/>
                </a:solidFill>
                <a:latin typeface="Roboto"/>
                <a:cs typeface="Roboto"/>
              </a:rPr>
              <a:t>Terminal B: users on site go straight to the Azure Local host. Browser: always TCP.</a:t>
            </a:r>
          </a:p>
        </p:txBody>
      </p:sp>
      <p:cxnSp>
        <p:nvCxnSpPr>
          <p:cNvPr id="21" name="Line 2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22" name="Node 2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4" name="Node 24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Everything you see today is in the repo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Every demo has a follow-along page you can run in your own tenant; no need to photograph slides.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2073212"/>
            <a:ext cx="4023360" cy="17240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225609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2393252"/>
            <a:ext cx="3840480" cy="131254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Repo</a:t>
            </a:r>
          </a:p>
          <a:p>
            <a:pPr>
              <a:spcBef>
                <a:spcPts val="600"/>
              </a:spcBef>
            </a:pPr>
            <a:r>
              <a:rPr lang="en-US" sz="1350" dirty="0">
                <a:solidFill>
                  <a:srgbClr val="193233"/>
                </a:solidFill>
                <a:latin typeface="Roboto"/>
                <a:cs typeface="Roboto"/>
              </a:rPr>
              <a:t>github.com/thisismydemo/nic2026_avd</a:t>
            </a:r>
          </a:p>
        </p:txBody>
      </p:sp>
      <p:sp>
        <p:nvSpPr>
          <p:cNvPr id="7" name="Card 7"/>
          <p:cNvSpPr/>
          <p:nvPr/>
        </p:nvSpPr>
        <p:spPr>
          <a:xfrm>
            <a:off x="4663440" y="2073212"/>
            <a:ext cx="4023360" cy="17240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4828032" y="225609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754880" y="2393252"/>
            <a:ext cx="3840480" cy="131254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Follow-along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thisismydemo.cloud/nic2026_avd, in your own tenant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where we finish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C3FBFE"/>
                </a:solidFill>
                <a:latin typeface="Roboto"/>
                <a:cs typeface="Roboto"/>
              </a:rPr>
              <a:t>The pre-deployed environment: one workspace, three host pools, every running host Available.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98879"/>
            <a:ext cx="2621280" cy="24726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18919"/>
            <a:ext cx="243840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feed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workspace, three desktops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698879"/>
            <a:ext cx="2621280" cy="24726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018919"/>
            <a:ext cx="243840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Three host pools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Azure, Azure Local, Hybrid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698879"/>
            <a:ext cx="2621280" cy="24726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018919"/>
            <a:ext cx="243840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Hosts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every running host Available; az01 is off by design, the scaling plan keeps one of two running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shared foundation: built once, used by all three terminals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AIRPORT  ·  SECTION 1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All three terminals sit on one foundation built from code; each terminal only adds its own hosts.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100" dirty="0"/>
              <a:t>What all three share: one workspace, one identity, one monitoring workspace, one image gallery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What each terminal adds: only its session hosts (on site, also the profile share)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Built from one config file in the repo; nothing clicked by hand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THE AIRPORT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the foundation as code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repo and one config file build the foundation for all three terminals.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064639"/>
            <a:ext cx="262128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384679"/>
            <a:ext cx="243840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repo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folder per layer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2064639"/>
            <a:ext cx="262128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384679"/>
            <a:ext cx="243840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config file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names, networks, the three host pools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2064639"/>
            <a:ext cx="262128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384679"/>
            <a:ext cx="243840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Secrets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Key Vault references, never values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Terminal A: AVD on Azure, the reference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TERMINAL A  ·  SECTION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How AVD on Azure works: the baseline the other two terminals are measured against.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00" dirty="0"/>
              <a:t>Pooled, breadth-first, multi-session Windows 11; Entra-joined, SSO, RDP Shortpath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Autoscale and Start VM on Connect: autoscale only here; Start VM on Connect here and on Azure Local, never on Hybrid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Reused by B and C: the image (next slide) and the monitoring (the slide after)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TERMINAL A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50" dirty="0"/>
              <a:t>Reused everywhere, part 1: one image, built once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Image Builder builds one image into the gallery; Terminal B imports the same image, Terminal C rebuilds it with Packer.</a:t>
            </a:r>
          </a:p>
        </p:txBody>
      </p:sp>
      <p:sp>
        <p:nvSpPr>
          <p:cNvPr id="4" name="Box 4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Pinned source image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Box 6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Shared customisation scripts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Gallery version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Replicate and roll back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350" dirty="0">
                <a:solidFill>
                  <a:srgbClr val="1A1B1B"/>
                </a:solidFill>
                <a:latin typeface="Roboto"/>
                <a:cs typeface="Roboto"/>
              </a:rPr>
              <a:t>Image Builder builds it from a pinned Windows 11 version with shared scripts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350" dirty="0">
                <a:solidFill>
                  <a:srgbClr val="1A1B1B"/>
                </a:solidFill>
                <a:latin typeface="Roboto"/>
                <a:cs typeface="Roboto"/>
              </a:rPr>
              <a:t>It lands in the Compute Gallery: versioned, replicated, easy to roll back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350" dirty="0">
                <a:solidFill>
                  <a:srgbClr val="1A1B1B"/>
                </a:solidFill>
                <a:latin typeface="Roboto"/>
                <a:cs typeface="Roboto"/>
              </a:rPr>
              <a:t>Terminal B imports that image to the cluster; Terminal C builds the same scripts with Packer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350" dirty="0">
                <a:solidFill>
                  <a:srgbClr val="1A1B1B"/>
                </a:solidFill>
                <a:latin typeface="Roboto"/>
                <a:cs typeface="Roboto"/>
              </a:rPr>
              <a:t>No identity baked in: each terminal joins the domain its own way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5" name="Node 15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Reused everywhere, part 2: one monitoring view, and what it costs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193233"/>
                </a:solidFill>
                <a:latin typeface="Roboto"/>
                <a:cs typeface="Roboto"/>
              </a:rPr>
              <a:t>AVD Insights is the one view for the hosts of all three terminals; the data collection rule decides the bill.</a:t>
            </a:r>
          </a:p>
        </p:txBody>
      </p:sp>
      <p:sp>
        <p:nvSpPr>
          <p:cNvPr id="4" name="Box 4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DCR selection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Box 6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Collected signal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Insights evidence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Ingestion and cost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Collect only the Insights defaults: counters and events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Measured in the demo environment: roughly 3 to 5 GB per host per month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Preview: the Azure Copilot Observability Agent investigates alerts on this workspace, billed per use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5" name="Node 15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Terminal A, AVD on Azure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6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Deploy it live next to the pre-deployed terminal: a host pool, a session host and published apps; then the image and the...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98879"/>
            <a:ext cx="1920240" cy="24726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18919"/>
            <a:ext cx="173736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host pool wizard, then the same from a script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98879"/>
            <a:ext cx="1920240" cy="24726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2018919"/>
            <a:ext cx="173736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new session host, deployed by script while we talk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98879"/>
            <a:ext cx="1920240" cy="24726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2018919"/>
            <a:ext cx="173736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publish apps (RemoteApp) to an apps-only user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98879"/>
            <a:ext cx="1920240" cy="24726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2018919"/>
            <a:ext cx="173736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Pre-deployed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pool, pooled and Entra-joined, its image and Insights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Terminal B: AVD on Azure Local, and why you would choose it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TERMINAL B  ·  SECTION 3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Same service, compute at your site: why you would choose it, and what runs in the demo.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00" dirty="0"/>
              <a:t>Why: data stays on site, low latency for local users, regulation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Same AVD service and workspace; the session hosts run on your cluster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In the demo: al01, al02 and the GPU host al03, AD-joined, hybrid users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On the AVD logical network (VLAN 2215) with an NSG; profiles on a SOFS on the same cluster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TERMINAL B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How AVD on Azure Local fits together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service stays in Azure; the session hosts are Azure Local VMs that Azure creates on your cluster through Arc.</a:t>
            </a:r>
          </a:p>
        </p:txBody>
      </p:sp>
      <p:sp>
        <p:nvSpPr>
          <p:cNvPr id="4" name="Box 4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AVD in Azure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Box 6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Custom location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Arc Resource Bridge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Azure Local VM</a:t>
            </a:r>
          </a:p>
        </p:txBody>
      </p:sp>
      <p:cxnSp>
        <p:nvCxnSpPr>
          <p:cNvPr id="11" name="Arrow 11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2" name="Box 12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Session host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In Azure: host pool, workspace, app groups, broker; a pool is Azure Local only, never mixed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On your cluster: session hosts created from the AVD blade through the custom location and Resource Bridge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On each host: the Arc agent and the AVD agent; AD DS join (hybrid join for SSO); Azure verification activates multi-session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Getting hosts there: image first, then the host pool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Step 1: get an image onto the cluster.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2097024"/>
            <a:ext cx="2621280" cy="1676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22799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2417064"/>
            <a:ext cx="2438400" cy="1264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Build with Image Builder, then import it as an Azure Local image</a:t>
            </a:r>
          </a:p>
        </p:txBody>
      </p:sp>
      <p:sp>
        <p:nvSpPr>
          <p:cNvPr id="7" name="Card 7"/>
          <p:cNvSpPr/>
          <p:nvPr/>
        </p:nvSpPr>
        <p:spPr>
          <a:xfrm>
            <a:off x="3261360" y="2097024"/>
            <a:ext cx="2621280" cy="1676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3425952" y="22799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352800" y="2417064"/>
            <a:ext cx="2438400" cy="1264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Or download a Marketplace image straight to the cluster</a:t>
            </a:r>
          </a:p>
        </p:txBody>
      </p:sp>
      <p:sp>
        <p:nvSpPr>
          <p:cNvPr id="10" name="Card 10"/>
          <p:cNvSpPr/>
          <p:nvPr/>
        </p:nvSpPr>
        <p:spPr>
          <a:xfrm>
            <a:off x="6065520" y="2097024"/>
            <a:ext cx="2621280" cy="1676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6230112" y="22799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6156960" y="2417064"/>
            <a:ext cx="2438400" cy="1264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Then add session hosts from the host pool, as on Azure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Profiles on Azure Local: they live on your cluster too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FSLogix needs an SMB share.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FSLogix needs an SMB share; a cluster volume (CSV) is storage, not a share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Microsoft recommends a file-server cluster of VMs on Azure Local; the demo runs a two-VM SOFS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1A1B1B"/>
                </a:solidFill>
                <a:latin typeface="Roboto"/>
                <a:cs typeface="Roboto"/>
              </a:rPr>
              <a:t>Size the cluster for the profiles too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20 users × 30 GB + 20 % = 720 GB usable, 6 TiB raw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Sizing guides</a:t>
            </a:r>
          </a:p>
          <a:p>
            <a:pPr>
              <a:spcBef>
                <a:spcPts val="6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azurelocal.cloud/azurelocal-avd and azurelocal.cloud/azurelocal-sofs-fslogix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GPU desktops on Azure Local: one L4 by DDA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One GPU passed whole to one session host: what it gives you, and what it costs you.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DDA passes the whole GPU to one session host; no vGPU licence needed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Free data center driver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compute and AI; desktop graphics acceleration needs NVIDIA vWS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500" b="1" dirty="0">
                <a:solidFill>
                  <a:srgbClr val="1A1B1B"/>
                </a:solidFill>
                <a:latin typeface="Roboto"/>
                <a:cs typeface="Roboto"/>
              </a:rPr>
              <a:t>A DDA VM cannot live-migrate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give it its own host (here al03); on a drain it restarts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GPU partitioning shares one GPU between VMs, but needs NVIDIA vGPU licensing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Running AVD on your site: networks, cluster updates and the bill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What changes when the desktops run on your cluster: you own the network, the updates move the VMs, and the bill has three parts.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900" dirty="0"/>
              <a:t>Network: hosts on a logical network (here VLAN 2215) with an NSG; AVD needs outbound only, RDP Shortpath on the LAN</a:t>
            </a:r>
          </a:p>
          <a:p>
            <a:pPr>
              <a:spcBef>
                <a:spcPts val="700"/>
              </a:spcBef>
            </a:pPr>
            <a:r>
              <a:rPr lang="en-US" sz="1900" dirty="0"/>
              <a:t>Cluster updates: one node at a time, VMs live-migrate, no desktop downtime; the DDA GPU host restarts instead</a:t>
            </a:r>
          </a:p>
          <a:p>
            <a:pPr>
              <a:spcBef>
                <a:spcPts val="700"/>
              </a:spcBef>
            </a:pPr>
            <a:r>
              <a:rPr lang="en-US" sz="1900" dirty="0"/>
              <a:t>The bill: the Azure Local fee + the AVD for Azure Local fee per active vCPU + the same user access rights as Azure</a:t>
            </a:r>
          </a:p>
          <a:p>
            <a:pPr>
              <a:spcBef>
                <a:spcPts val="700"/>
              </a:spcBef>
            </a:pPr>
            <a:r>
              <a:rPr lang="en-US" sz="1900" dirty="0"/>
              <a:t>The connection: brokering stays in Azure; no Azure connection, no new sessions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Terminal B, AVD on Azure Local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4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C3FBFE"/>
                </a:solidFill>
                <a:latin typeface="Roboto"/>
                <a:cs typeface="Roboto"/>
              </a:rPr>
              <a:t>Deploy a session host live on your cluster, then the pre-deployed terminal: its VM, the sizing, the GPU.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Add session hosts wizard, then the script deploys a new Azure Local host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Pre-deployed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session host as an Azure Local VM, its network and NSG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Sizing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two public guides and the demo's numbers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GPU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L4 by DDA, nvidia-smi and a compute job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Terminal C: AVD Hybrid in four steps, on any hypervisor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TERMINAL C  ·  SECTION 4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193233"/>
                </a:solidFill>
                <a:latin typeface="Roboto"/>
                <a:cs typeface="Roboto"/>
              </a:rPr>
              <a:t>The service stays in Azure; your own VM joins it from the inside, on Hyper-V, vSphere or Nutanix AHV.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1. Create a Windows VM with your own tools, on any hypervisor: Hyper-V, vSphere, Nutanix AHV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2. Install the Arc agent in the VM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3. Add the AVD Hybrid extension with a registration token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4. The host shows Available (allow up to 15 minutes)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AVD never powers, scales or patches this VM: you own it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TERMINAL C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What AVD Hybrid requires, and what you give up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What Hybrid requires of the VM, and the AVD features you do not get.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98879"/>
            <a:ext cx="1920240" cy="247269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2018919"/>
            <a:ext cx="173736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Windows 11 Enterprise single-session or Windows Server; no multi-session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98879"/>
            <a:ext cx="1920240" cy="247269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2018919"/>
            <a:ext cx="173736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Join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Windows 11 Entra, AD or hybrid; Windows Server AD or hybrid (here: AD)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98879"/>
            <a:ext cx="1920240" cy="247269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2018919"/>
            <a:ext cx="173736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The host pool's identity needs Reader on the Arc machines' resource group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98879"/>
            <a:ext cx="1920240" cy="247269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2018919"/>
            <a:ext cx="173736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No autoscale, power management or Start VM on Connect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AVD Hybrid: what Azure no longer does for you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193233"/>
                </a:solidFill>
                <a:latin typeface="Roboto"/>
                <a:cs typeface="Roboto"/>
              </a:rPr>
              <a:t>Azure runs the AVD service; you build, join, patch and power the VM with your own tools.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You build the VM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your hypervisor, your image; Windows 11 Enterprise single-session (no multi-session)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600" b="1" dirty="0">
                <a:solidFill>
                  <a:srgbClr val="1A1B1B"/>
                </a:solidFill>
                <a:latin typeface="Roboto"/>
                <a:cs typeface="Roboto"/>
              </a:rPr>
              <a:t>You join and configure it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our script joins it to AD after first boot, then sets FSLogix through Arc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Arc plugs it into AVD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an Arc extension adds it to the host pool; Arc also gives monitoring and inventory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You patch Windows 11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Windows Update, Autopatch or Configuration Manager; Update Manager covers Windows Server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Terminal C, AVD Hybrid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3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Deploy a Hybrid host live with the script, then the pre-deployed Hybrid terminal.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script deploys a new Hybrid host: VM, Arc agent, extension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Pre-deployed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plain Hyper-V VMs seen in Azure only as Arc machines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The AVD Hybrid extension and its log; the hosts Available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Passport control: one user, two join states, and why AD is back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PASSPORT  ·  SECTION 5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One hybrid user everywhere.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400" dirty="0"/>
              <a:t>Hybrid users: created in AD, synchronized to Entra (password hash sync)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Microsoft Entra Cloud Sync, its agent on its own member server, never on a domain controller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Azure terminal: Entra-joined Windows 11, Entra Kerberos to Azure Files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Azure Local and Hybrid terminals: AD-joined, AD Kerberos to the SOFS; hybrid join pending, so the AD password at the host for now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Entra SSO on Entra-joined or hybrid-joined hosts; Conditional Access for MFA by design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THE PASSPORT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Three identity paths: to AVD, to the host, to the profile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193233"/>
                </a:solidFill>
                <a:latin typeface="Roboto"/>
                <a:cs typeface="Roboto"/>
              </a:rPr>
              <a:t>User to service, user to host, host-as-user to the profile share: Azure Files in Azure, the SOFS on site.</a:t>
            </a:r>
          </a:p>
        </p:txBody>
      </p:sp>
      <p:sp>
        <p:nvSpPr>
          <p:cNvPr id="4" name="Path 4"/>
          <p:cNvSpPr/>
          <p:nvPr/>
        </p:nvSpPr>
        <p:spPr>
          <a:xfrm>
            <a:off x="822960" y="1517904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tep 5"/>
          <p:cNvSpPr/>
          <p:nvPr/>
        </p:nvSpPr>
        <p:spPr>
          <a:xfrm>
            <a:off x="932688" y="1761744"/>
            <a:ext cx="402336" cy="402336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98F8FE"/>
                </a:solidFill>
                <a:latin typeface="Roboto"/>
                <a:cs typeface="Roboto"/>
              </a:rPr>
              <a:t>1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444752" y="1517904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User to AVD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Entra sign-in, the feed, the broker (MFA by Conditional Access: the design)</a:t>
            </a:r>
          </a:p>
        </p:txBody>
      </p:sp>
      <p:sp>
        <p:nvSpPr>
          <p:cNvPr id="7" name="Path 7"/>
          <p:cNvSpPr/>
          <p:nvPr/>
        </p:nvSpPr>
        <p:spPr>
          <a:xfrm>
            <a:off x="822960" y="2535936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tep 8"/>
          <p:cNvSpPr/>
          <p:nvPr/>
        </p:nvSpPr>
        <p:spPr>
          <a:xfrm>
            <a:off x="932688" y="2779776"/>
            <a:ext cx="402336" cy="402336"/>
          </a:xfrm>
          <a:prstGeom prst="ellipse">
            <a:avLst/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2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444752" y="2535936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User to the session host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SSO on Entra-joined hosts; the AD password on AD-joined on-site hosts</a:t>
            </a:r>
          </a:p>
        </p:txBody>
      </p:sp>
      <p:sp>
        <p:nvSpPr>
          <p:cNvPr id="10" name="Path 10"/>
          <p:cNvSpPr/>
          <p:nvPr/>
        </p:nvSpPr>
        <p:spPr>
          <a:xfrm>
            <a:off x="822960" y="3553968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Step 11"/>
          <p:cNvSpPr/>
          <p:nvPr/>
        </p:nvSpPr>
        <p:spPr>
          <a:xfrm>
            <a:off x="932688" y="3797808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3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444752" y="3553968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Host, as the user, to the profile share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Azure: Entra Kerberos to Azure Files · Azure Local and Hybrid: AD Kerberos to the SOFS (hybrid user)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Path 3 up close: the ticket opens the share, the permissions decide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Entra Kerberos to Azure Files is GA for hybrid and cloud-only users; AD Kerberos is the only key to an on-site share.</a:t>
            </a:r>
          </a:p>
        </p:txBody>
      </p:sp>
      <p:sp>
        <p:nvSpPr>
          <p:cNvPr id="4" name="Box 4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Entra user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Box 6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Kerberos ticket (cifs)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SMB share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ACL result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Azure Files: an Entra Kerberos ticket, GA for hybrid and cloud-only users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On-site share: only an AD Kerberos ticket opens it, so the user must exist in AD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Design rule: exclude the storage app from MFA policies; the ticket request is silent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5" name="Node 15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the passport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chain proven on a host: principal, ticket, share, ACL.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Ticket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klist on the Azure host, Entra Kerberos for Azure Files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ACL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who may open the profile share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Proof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sign-in proves path one; this proves path three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Where profiles can live, and who can open them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CARRY-ON LUGGAGE  ·  SECTION 6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profile store and the session-host identity are one decision.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5349240" cy="2686050"/>
        </p:xfrm>
        <a:graphic>
          <a:graphicData uri="http://schemas.openxmlformats.org/drawingml/2006/table">
            <a:tbl>
              <a:tblPr firstRow="1"/>
              <a:tblGrid>
                <a:gridCol w="1350294"/>
                <a:gridCol w="882884"/>
                <a:gridCol w="934819"/>
                <a:gridCol w="934819"/>
                <a:gridCol w="1246425"/>
              </a:tblGrid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Profile store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Auth on the share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Entra host, cloud-only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Entra host, hybrid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AD/hybrid host, hybrid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Kerberos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 (GA)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DC in sight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NetApp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DC in sight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DC in sight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native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File server VM / NAS / vSAN FS / Nutanix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 (a single VM: no transparent failover)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Domain Services + 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DS-joined hosts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—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CARRY-ON LUGGAGE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Profiles: one container or two?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FSLogix keeps each user's profile in a VHDX on a file share.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500" b="1" dirty="0">
                <a:solidFill>
                  <a:srgbClr val="1A1B1B"/>
                </a:solidFill>
                <a:latin typeface="Roboto"/>
                <a:cs typeface="Roboto"/>
              </a:rPr>
              <a:t>One container (the default)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the whole profile, Office data included, in one VHDX. Start here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Two containers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the profile, plus an ODFC VHDX for Office data (Outlook, Teams, OneDrive caches)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Why split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its own size and storage tier, no backup needed, and a broken cache never breaks the profile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ODFC alone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when another tool (roaming profiles, Citrix UPM) already roams the rest of the profile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the carry-on luggage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 profile share, the per-user containers, and the settings that make them portable.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Share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Profile and one ODFC container per user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Settings</a:t>
            </a:r>
          </a:p>
          <a:p>
            <a:pPr>
              <a:spcBef>
                <a:spcPts val="600"/>
              </a:spcBef>
            </a:pPr>
            <a:r>
              <a:rPr lang="en-US" sz="1300" dirty="0">
                <a:solidFill>
                  <a:srgbClr val="C3FBFE"/>
                </a:solidFill>
                <a:latin typeface="Roboto"/>
                <a:cs typeface="Roboto"/>
              </a:rPr>
              <a:t>VHDLocations, folder naming, PreventLoginWithFailure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Pattern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same in all three terminals, only the share path differs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Does the profile follow the user? Three ways to do it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A: one share in Azure; B: Cloud Cache in both places, the target; C: one profile per site, what the demo runs today.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A: one share in Azure for everyone: one profile everywhere, but on-site users wait on the WAN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B: Cloud Cache keeps the same profile in both places: fast on site and in Azure (the target, next slide)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C: one profile per site: fast, but Azure and on site are different profiles (the demo today)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Today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Azure Local and Hybrid share one profile; Azure has its own until B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Luggage that follows you between flights: Cloud Cache (pattern B)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7" name="Node 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9" name="Node 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One repo builds all three terminals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GROUND CREW  ·  SECTION 7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One config file and shared image scripts; only the image builder and the create-the-VM step differ per terminal.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00" dirty="0"/>
              <a:t>One config file describes all three host pools; nothing hardcoded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Shared image scripts: Image Builder for Azure and Azure Local; the Hybrid hosts here use the marketplace image (a Packer template is in the repo)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Only creating the VM differs: Azure, Azure Local, your hypervisor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One monitoring workspace sees every host, through Arc on site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GROUND CREW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one repo, one security baseline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C3FBFE"/>
                </a:solidFill>
                <a:latin typeface="Roboto"/>
                <a:cs typeface="Roboto"/>
              </a:rPr>
              <a:t>The same pipeline builds all three terminals, and the same security controls cover them.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820799"/>
            <a:ext cx="2621280" cy="22288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0036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140839"/>
            <a:ext cx="2438400" cy="18173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Repo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one config file, and a what-if before the what-now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820799"/>
            <a:ext cx="2621280" cy="22288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0036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140839"/>
            <a:ext cx="2438400" cy="18173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Hybrid onboarding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Arc agent, then the AVD extension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820799"/>
            <a:ext cx="2621280" cy="22288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0036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140839"/>
            <a:ext cx="2438400" cy="18173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Security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RDP redirection policy, Defender on every host, Sentinel sees all three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the connecting flight, six steps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THE CONNECTING FLIGHT  ·  SECTION 8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6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One continuous live test across all three terminals: six steps, each with a claim, a clip and a recovery state behind it.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457200" y="1517904"/>
          <a:ext cx="5349240" cy="2810256"/>
        </p:xfrm>
        <a:graphic>
          <a:graphicData uri="http://schemas.openxmlformats.org/drawingml/2006/table">
            <a:tbl>
              <a:tblPr firstRow="1"/>
              <a:tblGrid>
                <a:gridCol w="618920"/>
                <a:gridCol w="1591509"/>
                <a:gridCol w="1635718"/>
                <a:gridCol w="1503092"/>
              </a:tblGrid>
              <a:tr h="26212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Observable proof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Pass condition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1 State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Show the three pools and the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Three desktops, hosts Available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Entitlement is not routing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2 Entitle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Change the user's group, refresh the feed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Different desktops appear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Feed matches the group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62788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3 Portable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Sign in on each terminal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Known file on Azure Local and Hybrid (same SOFS container); Azure has its own until pattern 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Same SID, container attached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4 Fail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Hard power-off a Hybrid host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Host Unavailable; new session on host 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Saved work present, unsaved lost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5 Watch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Query the one workspace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All three terminals in one view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Persistence is not recovery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6 Explain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Investigate the host alert (agent, preview)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Findings, ruled-out causes, next steps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It reasons from Azure-side signals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</a:tbl>
          </a:graphicData>
        </a:graphic>
      </p:graphicFrame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THE CONNECTING FLIGHT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Choose your terminal: five decision axes, one rule each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CHOOSE YOUR TERMINAL  ·  SECTION 9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Locality, lifecycle owner, identity and OS, operations, support: and a one-line rule per terminal.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5349240" cy="2536698"/>
        </p:xfrm>
        <a:graphic>
          <a:graphicData uri="http://schemas.openxmlformats.org/drawingml/2006/table">
            <a:tbl>
              <a:tblPr firstRow="1"/>
              <a:tblGrid>
                <a:gridCol w="884172"/>
                <a:gridCol w="1503092"/>
                <a:gridCol w="1503092"/>
                <a:gridCol w="1458884"/>
              </a:tblGrid>
              <a:tr h="27165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Axis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on 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27165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Locality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cluster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hypervisor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119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Lifecycle owner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through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hypervisor tools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78981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Identity and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Entra, AD or hybrid; Win11 single or multi-session, Windows Server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 multi-session; AD DS join (+ hybrid join for SSO)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Win11/10 Enterprise single-session; Entra, AD or hybrid join (Server: AD); no multi-session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119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Start VM on Connect; autoscale not documented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None: you scale and power-manage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0119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Support and licensing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compute plus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Cluster, AVD on Azure Local fee,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infrastructure plus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CHOOSE YOUR TERMINAL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Support status by terminal: GA, preview and to-verify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193233"/>
                </a:solidFill>
                <a:latin typeface="Roboto"/>
                <a:cs typeface="Roboto"/>
              </a:rPr>
              <a:t>What each terminal supports today, and what to verify in your own tenant before you choose.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519172"/>
        </p:xfrm>
        <a:graphic>
          <a:graphicData uri="http://schemas.openxmlformats.org/drawingml/2006/table">
            <a:tbl>
              <a:tblPr firstRow="1"/>
              <a:tblGrid>
                <a:gridCol w="1020198"/>
                <a:gridCol w="1564304"/>
                <a:gridCol w="1428278"/>
                <a:gridCol w="1632317"/>
                <a:gridCol w="1496291"/>
                <a:gridCol w="1088212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Terminal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Host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Join and SSO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Profile auth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Power features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multi-session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join, SSO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Kerberos to Azure Files: hybrid and cloud-only GA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981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multi-session (GA)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 join; hybrid join (for SSO) pending in the lab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Kerberos to an SMB service (here the SOFS), not a CSV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Start VM on Connect; autoscale not documented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 with items to verify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78981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Enterprise single-session, or Windows Server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Arc-enabled; Entra, AD or hybrid join (Server: AD); lab: AD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Kerberos to on-site SMB (here the SOFS), or 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None: no autoscale, power management or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Verify product status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Who owns what: monitoring, patching, power, recovery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Monitoring is common; patching, power and recovery are not.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498598"/>
        </p:xfrm>
        <a:graphic>
          <a:graphicData uri="http://schemas.openxmlformats.org/drawingml/2006/table">
            <a:tbl>
              <a:tblPr firstRow="1"/>
              <a:tblGrid>
                <a:gridCol w="1496291"/>
                <a:gridCol w="2244436"/>
                <a:gridCol w="2244436"/>
                <a:gridCol w="2244436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Task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Guest patching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Image replacement; Intune or WUfB for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Update Manager covers servers, not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Intune or WUfB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Host or hypervisor patching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Microsoft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Lifecycle Manager: you schedule, Azure orchestrates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your hypervisor tooling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Power and scaling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Scaling plan,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Start VM on Connect; autoscale not documented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You: none from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Monitoring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Insights and Log Analytics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via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via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Failed VM recovery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Redeploy from the image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Cluster and operator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The hypervisor, not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50" dirty="0"/>
              <a:t>The trip in one slide: decide, validate, run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WHAT YOU TAKE HOME  ·  SECTION 10</a:t>
            </a:r>
          </a:p>
        </p:txBody>
      </p:sp>
      <p:pic>
        <p:nvPicPr>
          <p:cNvPr id="4" name="Chart 4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Tomorrow: Azure Local, from discovery to Day 2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cluster under all this, how it was planned, deployed and operated.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We just saw AVD land on an Azure Local cluster. Tomorrow: how that cluster was planned for these desktops, built and run.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Thu 15 Oct, 09:50, Room 5: plan and discover; deploy and Day-2 ready; operate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Same cluster, same repo, live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Next door at 14:40, and you may also like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first card is a hand-off, not a recommendation.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00" dirty="0"/>
              <a:t>Hand-off: Breaking the Platform Barrier: AVD Hybrid on Any Hypervisor (Gregor Reimling &amp; Marcel Meurer, L300, Wed 2:40 pm, Room 5): Arc design, Arc and AVD agents, day-2 with Update Manager, Policy, Defender, licensing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Combining identity and network controls in Azure (Kristoffer Hatland, L400, Thu 1:00 pm, Room 3)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10 security settings you must configure in Windows 11 (Nicklas Ahlberg, L300, Thu 11:10 am, Room 5)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Times are Oslo time. Rooms can change: check the NIC agenda.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-mal_NIC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ustom 1">
      <a:majorFont>
        <a:latin typeface="Figtree"/>
        <a:ea typeface=""/>
        <a:cs typeface=""/>
      </a:majorFont>
      <a:minorFont>
        <a:latin typeface="Figtre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50606D0306B414485AB0ED919BE5093" ma:contentTypeVersion="9" ma:contentTypeDescription="Opprett et nytt dokument." ma:contentTypeScope="" ma:versionID="86e9e4850e235c65c8f7baa53c7b85b0">
  <xsd:schema xmlns:xsd="http://www.w3.org/2001/XMLSchema" xmlns:xs="http://www.w3.org/2001/XMLSchema" xmlns:p="http://schemas.microsoft.com/office/2006/metadata/properties" xmlns:ns2="aecd07d0-0a4a-468d-8d2c-4a3699fc1520" targetNamespace="http://schemas.microsoft.com/office/2006/metadata/properties" ma:root="true" ma:fieldsID="4fc96f60fa9e8a66d91aa9b5ee3560b2" ns2:_="">
    <xsd:import namespace="aecd07d0-0a4a-468d-8d2c-4a3699fc15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cd07d0-0a4a-468d-8d2c-4a3699fc15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emerkelapper" ma:readOnly="false" ma:fieldId="{5cf76f15-5ced-4ddc-b409-7134ff3c332f}" ma:taxonomyMulti="true" ma:sspId="a82fb023-be25-41c8-82b3-54dea1880b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ecd07d0-0a4a-468d-8d2c-4a3699fc152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95E7B90-D9B1-4401-9CFA-9F79C1459A12}"/>
</file>

<file path=customXml/itemProps2.xml><?xml version="1.0" encoding="utf-8"?>
<ds:datastoreItem xmlns:ds="http://schemas.openxmlformats.org/officeDocument/2006/customXml" ds:itemID="{0404F62A-926D-496C-8752-68B7680A57D6}"/>
</file>

<file path=customXml/itemProps3.xml><?xml version="1.0" encoding="utf-8"?>
<ds:datastoreItem xmlns:ds="http://schemas.openxmlformats.org/officeDocument/2006/customXml" ds:itemID="{C598BBD6-4872-427A-8421-76B5D6EEA5AB}"/>
</file>

<file path=docProps/app.xml><?xml version="1.0" encoding="utf-8"?>
<Properties xmlns="http://schemas.openxmlformats.org/officeDocument/2006/extended-properties" xmlns:vt="http://schemas.openxmlformats.org/officeDocument/2006/docPropsVTypes">
  <Template>PPT-mal_NIC.potx</Template>
  <Application>Microsoft Office PowerPoint</Application>
  <PresentationFormat>On-screen Show (16:9)</PresentationFormat>
  <Slides>45</Slides>
  <Notes>0</Notes>
  <HiddenSlides>0</HiddenSlides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AVD Anywhere</dc:title>
  <dc:subject>Azure Virtual Desktop on Azure, Azure Local, and AVD Hybrid Platforms</dc:subject>
  <dc:creator>Kristopher Turner</dc:creator>
  <cp:lastModifiedBy>Kristopher Turner</cp:lastModifiedBy>
  <cp:revision>1</cp:revision>
  <dcterms:created xsi:type="dcterms:W3CDTF">2026-10-14T07:23:06Z</dcterms:created>
  <dcterms:modified xsi:type="dcterms:W3CDTF">2026-10-14T07:23:06Z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0x010100550606D0306B414485AB0ED919BE5093</vt:lpwstr>
  </property>
</Properties>
</file>