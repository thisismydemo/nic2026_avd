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  <p:sldId id="294" r:id="rId1039"/>
    <p:sldId id="295" r:id="rId1040"/>
    <p:sldId id="296" r:id="rId1041"/>
    <p:sldId id="297" r:id="rId1042"/>
    <p:sldId id="298" r:id="rId1043"/>
    <p:sldId id="299" r:id="rId1044"/>
    <p:sldId id="300" r:id="rId1045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Relationship Id="rId1039" Type="http://schemas.openxmlformats.org/officeDocument/2006/relationships/slide" Target="slides/slide39.xml"/><Relationship Id="rId1040" Type="http://schemas.openxmlformats.org/officeDocument/2006/relationships/slide" Target="slides/slide40.xml"/><Relationship Id="rId1041" Type="http://schemas.openxmlformats.org/officeDocument/2006/relationships/slide" Target="slides/slide41.xml"/><Relationship Id="rId1042" Type="http://schemas.openxmlformats.org/officeDocument/2006/relationships/slide" Target="slides/slide42.xml"/><Relationship Id="rId1043" Type="http://schemas.openxmlformats.org/officeDocument/2006/relationships/slide" Target="slides/slide43.xml"/><Relationship Id="rId1044" Type="http://schemas.openxmlformats.org/officeDocument/2006/relationships/slide" Target="slides/slide44.xml"/><Relationship Id="rId1045" Type="http://schemas.openxmlformats.org/officeDocument/2006/relationships/slide" Target="slides/slide4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1-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-1.png"/><Relationship Id="rId101" Type="http://schemas.openxmlformats.org/officeDocument/2006/relationships/image" Target="../media/gen-s4-2.png"/><Relationship Id="rId102" Type="http://schemas.openxmlformats.org/officeDocument/2006/relationships/image" Target="../media/gen-s4-3.png"/><Relationship Id="rId103" Type="http://schemas.openxmlformats.org/officeDocument/2006/relationships/image" Target="../media/gen-s4-4.png"/><Relationship Id="rId104" Type="http://schemas.openxmlformats.org/officeDocument/2006/relationships/image" Target="../media/gen-s4-5.png"/><Relationship Id="rId105" Type="http://schemas.openxmlformats.org/officeDocument/2006/relationships/image" Target="../media/gen-s4-6.png"/><Relationship Id="rId106" Type="http://schemas.openxmlformats.org/officeDocument/2006/relationships/image" Target="../media/gen-s4-7.png"/><Relationship Id="rId107" Type="http://schemas.openxmlformats.org/officeDocument/2006/relationships/image" Target="../media/gen-s4-8.png"/><Relationship Id="rId108" Type="http://schemas.openxmlformats.org/officeDocument/2006/relationships/image" Target="../media/gen-s4-9.png"/><Relationship Id="rId109" Type="http://schemas.openxmlformats.org/officeDocument/2006/relationships/image" Target="../media/gen-s4-10.png"/><Relationship Id="rId110" Type="http://schemas.openxmlformats.org/officeDocument/2006/relationships/image" Target="../media/gen-s4-11.png"/><Relationship Id="rId111" Type="http://schemas.openxmlformats.org/officeDocument/2006/relationships/image" Target="../media/gen-s4-12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1-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3-1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7-1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4-1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8-1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2-1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6-1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7-1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9-1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0-1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3-1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600" dirty="0"/>
              <a:t>AVD Anywhere: Azure Virtual Desktop on Azure, Azure Local, and AVD Hybrid Platforms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Wed 14 Oct, 13:20</a:t>
            </a:r>
          </a:p>
        </p:txBody>
      </p:sp>
      <p:pic>
        <p:nvPicPr>
          <p:cNvPr id="4" name="Title design 4" descr="Title slide designed as a boarding pass: AVD Anywhere, Azure Virtual Desktop on Azure, Azure Local, and AVD Hybrid Platforms. Passenger: you; destination: any. Captain Kristopher Turner, Wed 14 Oct, boarding 13:20, gate Room 5. Three terminals: A Azure, B Azure Local, C AVD Hybrid.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base: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1483360" y="914400"/>
            <a:ext cx="6177280" cy="347472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we will do today: the Route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4" name="Build 1 4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5" name="Build 2 5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6" name="Build 3 6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7" name="Build 4 7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8" name="Build 5 8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9" name="Build 6 9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10" name="Build 7 10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11" name="Build 8 11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12" name="Build 9 12"/>
          <p:cNvPicPr>
            <a:picLocks noChangeAspect="1"/>
          </p:cNvPicPr>
          <p:nvPr/>
        </p:nvPicPr>
        <p:blipFill>
          <a:blip r:embed="rId109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13" name="Build 10 13"/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14" name="Build 11 14"/>
          <p:cNvPicPr>
            <a:picLocks noChangeAspect="1"/>
          </p:cNvPicPr>
          <p:nvPr/>
        </p:nvPicPr>
        <p:blipFill>
          <a:blip r:embed="rId111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8" name="Node 1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0" name="Node 2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is Azure Virtual Desktop?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Windows runs on virtual machines in a data centre; your users reach it from any device</a:t>
            </a:r>
          </a:p>
        </p:txBody>
      </p:sp>
      <p:sp>
        <p:nvSpPr>
          <p:cNvPr id="4" name="User 4"/>
          <p:cNvSpPr/>
          <p:nvPr/>
        </p:nvSpPr>
        <p:spPr>
          <a:xfrm>
            <a:off x="457200" y="2432304"/>
            <a:ext cx="118872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Users</a:t>
            </a:r>
          </a:p>
          <a:p>
            <a:pPr algn="ctr">
              <a:spcBef>
                <a:spcPts val="300"/>
              </a:spcBef>
            </a:pPr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any device: Windows App or a browser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1673352" y="2958084"/>
            <a:ext cx="219456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Microsoft runs 6"/>
          <p:cNvSpPr/>
          <p:nvPr/>
        </p:nvSpPr>
        <p:spPr>
          <a:xfrm>
            <a:off x="1920240" y="1472184"/>
            <a:ext cx="2148840" cy="2971800"/>
          </a:xfrm>
          <a:prstGeom prst="roundRect">
            <a:avLst>
              <a:gd name="adj" fmla="val 6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920240" y="1527048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100" dirty="0">
                <a:solidFill>
                  <a:srgbClr val="FDBA12"/>
                </a:solidFill>
                <a:latin typeface="Roboto"/>
                <a:cs typeface="Roboto"/>
              </a:rPr>
              <a:t>MICROSOFT RUNS IT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2057400" y="183794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Entra ID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sign-in and MFA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2057400" y="247802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Feed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shows what the user may open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2057400" y="311810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Broker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picks a session host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2057400" y="375818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Gateway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carries the connection; no inbound ports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4096512" y="2958084"/>
            <a:ext cx="219456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You manage 13"/>
          <p:cNvSpPr/>
          <p:nvPr/>
        </p:nvSpPr>
        <p:spPr>
          <a:xfrm>
            <a:off x="4343400" y="1472184"/>
            <a:ext cx="43434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343400" y="1527048"/>
            <a:ext cx="4343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100" dirty="0">
                <a:solidFill>
                  <a:srgbClr val="1A1B1B"/>
                </a:solidFill>
                <a:latin typeface="Roboto"/>
                <a:cs typeface="Roboto"/>
              </a:rPr>
              <a:t>YOU MANAGE IT</a:t>
            </a:r>
          </a:p>
        </p:txBody>
      </p:sp>
      <p:sp>
        <p:nvSpPr>
          <p:cNvPr id="15" name="Component 15"/>
          <p:cNvSpPr/>
          <p:nvPr/>
        </p:nvSpPr>
        <p:spPr>
          <a:xfrm>
            <a:off x="4480560" y="189280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Workspace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5897880" y="185623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what users see in Windows App; it groups the application groups</a:t>
            </a:r>
          </a:p>
        </p:txBody>
      </p:sp>
      <p:sp>
        <p:nvSpPr>
          <p:cNvPr id="17" name="Component 17"/>
          <p:cNvSpPr/>
          <p:nvPr/>
        </p:nvSpPr>
        <p:spPr>
          <a:xfrm>
            <a:off x="4480560" y="239572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Application group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897880" y="235915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full desktop or single apps (RemoteApp), assigned to users</a:t>
            </a:r>
          </a:p>
        </p:txBody>
      </p:sp>
      <p:sp>
        <p:nvSpPr>
          <p:cNvPr id="19" name="Component 19"/>
          <p:cNvSpPr/>
          <p:nvPr/>
        </p:nvSpPr>
        <p:spPr>
          <a:xfrm>
            <a:off x="4480560" y="289864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Host pool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5897880" y="286207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set of identical session hosts: one image, one load-balancing rule</a:t>
            </a:r>
          </a:p>
        </p:txBody>
      </p:sp>
      <p:sp>
        <p:nvSpPr>
          <p:cNvPr id="21" name="Component 21"/>
          <p:cNvSpPr/>
          <p:nvPr/>
        </p:nvSpPr>
        <p:spPr>
          <a:xfrm>
            <a:off x="4480560" y="340156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98F8FE"/>
                </a:solidFill>
                <a:latin typeface="Roboto"/>
                <a:cs typeface="Roboto"/>
              </a:rPr>
              <a:t>Session host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5897880" y="336499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Windows VM users work on; multi-session: many users per VM</a:t>
            </a:r>
          </a:p>
        </p:txBody>
      </p:sp>
      <p:sp>
        <p:nvSpPr>
          <p:cNvPr id="23" name="Component 23"/>
          <p:cNvSpPr/>
          <p:nvPr/>
        </p:nvSpPr>
        <p:spPr>
          <a:xfrm>
            <a:off x="4480560" y="390448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Profile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897880" y="386791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FSLogix: the user profile on a file share, follows them to any host</a:t>
            </a:r>
          </a:p>
        </p:txBody>
      </p:sp>
      <p:cxnSp>
        <p:nvCxnSpPr>
          <p:cNvPr id="25" name="Line 2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26" name="Node 2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8" name="Node 2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Today: AVD in three places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Azure, so the session hosts can run in Azure, on Azure Local, or on your own hypervisor.</a:t>
            </a:r>
          </a:p>
        </p:txBody>
      </p:sp>
      <p:sp>
        <p:nvSpPr>
          <p:cNvPr id="4" name="Terminal 4"/>
          <p:cNvSpPr/>
          <p:nvPr/>
        </p:nvSpPr>
        <p:spPr>
          <a:xfrm>
            <a:off x="640080" y="1517904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Gate board 5"/>
          <p:cNvSpPr/>
          <p:nvPr/>
        </p:nvSpPr>
        <p:spPr>
          <a:xfrm>
            <a:off x="640080" y="1517904"/>
            <a:ext cx="2468880" cy="365760"/>
          </a:xfrm>
          <a:prstGeom prst="round2SameRect">
            <a:avLst/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✈  TERMINAL A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40080" y="1883664"/>
            <a:ext cx="2468880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1A1B1B"/>
                </a:solidFill>
                <a:latin typeface="Roboto"/>
                <a:cs typeface="Roboto"/>
              </a:rPr>
              <a:t>AVD on Azure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93233"/>
                </a:solidFill>
                <a:latin typeface="Roboto"/>
                <a:cs typeface="Roboto"/>
              </a:rPr>
              <a:t>Elastic, pooled, Entra-joined</a:t>
            </a:r>
          </a:p>
        </p:txBody>
      </p:sp>
      <p:sp>
        <p:nvSpPr>
          <p:cNvPr id="7" name="Terminal 7"/>
          <p:cNvSpPr/>
          <p:nvPr/>
        </p:nvSpPr>
        <p:spPr>
          <a:xfrm>
            <a:off x="3337560" y="1517904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Gate board 8"/>
          <p:cNvSpPr/>
          <p:nvPr/>
        </p:nvSpPr>
        <p:spPr>
          <a:xfrm>
            <a:off x="3337560" y="1517904"/>
            <a:ext cx="2468880" cy="365760"/>
          </a:xfrm>
          <a:prstGeom prst="round2SameRect">
            <a:avLst/>
          </a:prstGeom>
          <a:solidFill>
            <a:srgbClr val="FDBA12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✈  TERMINAL B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3337560" y="1883664"/>
            <a:ext cx="2468880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1A1B1B"/>
                </a:solidFill>
                <a:latin typeface="Roboto"/>
                <a:cs typeface="Roboto"/>
              </a:rPr>
              <a:t>AVD on Azure Local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93233"/>
                </a:solidFill>
                <a:latin typeface="Roboto"/>
                <a:cs typeface="Roboto"/>
              </a:rPr>
              <a:t>Your site: data, latency, regulation</a:t>
            </a:r>
          </a:p>
        </p:txBody>
      </p:sp>
      <p:sp>
        <p:nvSpPr>
          <p:cNvPr id="10" name="Terminal 10"/>
          <p:cNvSpPr/>
          <p:nvPr/>
        </p:nvSpPr>
        <p:spPr>
          <a:xfrm>
            <a:off x="6035040" y="1517904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Gate board 11"/>
          <p:cNvSpPr/>
          <p:nvPr/>
        </p:nvSpPr>
        <p:spPr>
          <a:xfrm>
            <a:off x="6035040" y="1517904"/>
            <a:ext cx="2468880" cy="365760"/>
          </a:xfrm>
          <a:prstGeom prst="round2SameRect">
            <a:avLst/>
          </a:prstGeom>
          <a:solidFill>
            <a:srgbClr val="1A1B1B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FDBA12"/>
                </a:solidFill>
                <a:latin typeface="Roboto"/>
                <a:cs typeface="Roboto"/>
              </a:rPr>
              <a:t>✈  TERMINAL C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035040" y="1883664"/>
            <a:ext cx="2468880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1A1B1B"/>
                </a:solidFill>
                <a:latin typeface="Roboto"/>
                <a:cs typeface="Roboto"/>
              </a:rPr>
              <a:t>AVD Hybrid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93233"/>
                </a:solidFill>
                <a:latin typeface="Roboto"/>
                <a:cs typeface="Roboto"/>
              </a:rPr>
              <a:t>Your hypervisor, Arc-enabled VMs</a:t>
            </a:r>
          </a:p>
        </p:txBody>
      </p:sp>
      <p:sp>
        <p:nvSpPr>
          <p:cNvPr id="13" name="Passport 13"/>
          <p:cNvSpPr/>
          <p:nvPr/>
        </p:nvSpPr>
        <p:spPr>
          <a:xfrm>
            <a:off x="640080" y="2889504"/>
            <a:ext cx="7863840" cy="329184"/>
          </a:xfrm>
          <a:prstGeom prst="roundRect">
            <a:avLst>
              <a:gd name="adj" fmla="val 30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PASSPORT</a:t>
            </a:r>
            <a:r>
              <a:rPr lang="en-US" sz="1150" b="1" dirty="0">
                <a:solidFill>
                  <a:srgbClr val="1A1B1B"/>
                </a:solidFill>
                <a:latin typeface="Roboto"/>
                <a:cs typeface="Roboto"/>
              </a:rPr>
              <a:t>   ·   Entra ID: one identity, valid at every terminal  ·  Arc brings B and C under Azure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3392424"/>
            <a:ext cx="7863840" cy="10515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1A1B1B"/>
                </a:solidFill>
                <a:latin typeface="Roboto"/>
                <a:cs typeface="Roboto"/>
              </a:rPr>
              <a:t>One check-in: one workspace, one user, one profile pattern at every terminal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1A1B1B"/>
                </a:solidFill>
                <a:latin typeface="Roboto"/>
                <a:cs typeface="Roboto"/>
              </a:rPr>
              <a:t>Today: we build each terminal live, then connect the flights into one platform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1A1B1B"/>
                </a:solidFill>
                <a:latin typeface="Roboto"/>
                <a:cs typeface="Roboto"/>
              </a:rPr>
              <a:t>One control tower for monitoring; patching, power and recovery differ by terminal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8" name="Node 1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0" name="Node 2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One architecture,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top is the same everywhere; only where the session hosts run changes.</a:t>
            </a:r>
          </a:p>
        </p:txBody>
      </p:sp>
      <p:sp>
        <p:nvSpPr>
          <p:cNvPr id="4" name="Control plane 4"/>
          <p:cNvSpPr/>
          <p:nvPr/>
        </p:nvSpPr>
        <p:spPr>
          <a:xfrm>
            <a:off x="457200" y="1444752"/>
            <a:ext cx="8229600" cy="566928"/>
          </a:xfrm>
          <a:prstGeom prst="roundRect">
            <a:avLst>
              <a:gd name="adj" fmla="val 14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00" b="1" spc="100" dirty="0">
                <a:solidFill>
                  <a:srgbClr val="FDBA12"/>
                </a:solidFill>
                <a:latin typeface="Roboto"/>
                <a:cs typeface="Roboto"/>
              </a:rPr>
              <a:t>AZURE  ·  MICROSOFT RUNS IT</a:t>
            </a:r>
          </a:p>
          <a:p>
            <a:pPr algn="ctr">
              <a:spcBef>
                <a:spcPts val="200"/>
              </a:spcBef>
            </a:pPr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Entra ID   ·   Feed   ·   Broker   ·   Gateway   ·   Diagnostics</a:t>
            </a:r>
          </a:p>
        </p:txBody>
      </p:sp>
      <p:sp>
        <p:nvSpPr>
          <p:cNvPr id="5" name="Your Azure resources 5"/>
          <p:cNvSpPr/>
          <p:nvPr/>
        </p:nvSpPr>
        <p:spPr>
          <a:xfrm>
            <a:off x="457200" y="2066544"/>
            <a:ext cx="8229600" cy="274320"/>
          </a:xfrm>
          <a:prstGeom prst="roundRect">
            <a:avLst>
              <a:gd name="adj" fmla="val 30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dirty="0">
                <a:solidFill>
                  <a:srgbClr val="1A1B1B"/>
                </a:solidFill>
                <a:latin typeface="Roboto"/>
                <a:cs typeface="Roboto"/>
              </a:rPr>
              <a:t>Yours, in Azure, for all three: workspace · application groups · host pools · AVD Insights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7200" y="23591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00" i="1" dirty="0">
                <a:solidFill>
                  <a:srgbClr val="193233"/>
                </a:solidFill>
                <a:latin typeface="Roboto"/>
                <a:cs typeface="Roboto"/>
              </a:rPr>
              <a:t>▲  every session host dials out to Azure on 443: no inbound ports  ▲</a:t>
            </a:r>
          </a:p>
        </p:txBody>
      </p:sp>
      <p:sp>
        <p:nvSpPr>
          <p:cNvPr id="7" name="Terminal 7"/>
          <p:cNvSpPr/>
          <p:nvPr/>
        </p:nvSpPr>
        <p:spPr>
          <a:xfrm>
            <a:off x="457200" y="2615184"/>
            <a:ext cx="26212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Gate board 8"/>
          <p:cNvSpPr/>
          <p:nvPr/>
        </p:nvSpPr>
        <p:spPr>
          <a:xfrm>
            <a:off x="457200" y="2615184"/>
            <a:ext cx="2621280" cy="292608"/>
          </a:xfrm>
          <a:prstGeom prst="round2SameRect">
            <a:avLst/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98F8FE"/>
                </a:solidFill>
                <a:latin typeface="Roboto"/>
                <a:cs typeface="Roboto"/>
              </a:rPr>
              <a:t>✈  TERMINAL A · AVD on Azure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48640" y="2944368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Azure VMs in your VNet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548640" y="3236976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directly, outbound 443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48640" y="3529584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Entra join (or AD DS)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48640" y="3822192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FSLogix on Azure Files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548640" y="4114800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autoscale, Start VM on Connect</a:t>
            </a:r>
          </a:p>
        </p:txBody>
      </p:sp>
      <p:sp>
        <p:nvSpPr>
          <p:cNvPr id="14" name="Terminal 14"/>
          <p:cNvSpPr/>
          <p:nvPr/>
        </p:nvSpPr>
        <p:spPr>
          <a:xfrm>
            <a:off x="3261360" y="2615184"/>
            <a:ext cx="26212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Gate board 15"/>
          <p:cNvSpPr/>
          <p:nvPr/>
        </p:nvSpPr>
        <p:spPr>
          <a:xfrm>
            <a:off x="3261360" y="2615184"/>
            <a:ext cx="2621280" cy="292608"/>
          </a:xfrm>
          <a:prstGeom prst="round2SameRect">
            <a:avLst/>
          </a:prstGeom>
          <a:solidFill>
            <a:srgbClr val="FDBA12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1A1B1B"/>
                </a:solidFill>
                <a:latin typeface="Roboto"/>
                <a:cs typeface="Roboto"/>
              </a:rPr>
              <a:t>✈  TERMINAL B · Azure Local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3352800" y="2944368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Azure Local VMs at your site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3352800" y="3236976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Arc, plus outbound 443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3352800" y="3529584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AD DS join (this lab)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3352800" y="3822192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FSLogix on the SOFS share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3352800" y="4114800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VM lifecycle through Arc</a:t>
            </a:r>
          </a:p>
        </p:txBody>
      </p:sp>
      <p:sp>
        <p:nvSpPr>
          <p:cNvPr id="21" name="Terminal 21"/>
          <p:cNvSpPr/>
          <p:nvPr/>
        </p:nvSpPr>
        <p:spPr>
          <a:xfrm>
            <a:off x="6065520" y="2615184"/>
            <a:ext cx="26212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Gate board 22"/>
          <p:cNvSpPr/>
          <p:nvPr/>
        </p:nvSpPr>
        <p:spPr>
          <a:xfrm>
            <a:off x="6065520" y="2615184"/>
            <a:ext cx="2621280" cy="292608"/>
          </a:xfrm>
          <a:prstGeom prst="round2SameRect">
            <a:avLst/>
          </a:prstGeom>
          <a:solidFill>
            <a:srgbClr val="1A1B1B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FDBA12"/>
                </a:solidFill>
                <a:latin typeface="Roboto"/>
                <a:cs typeface="Roboto"/>
              </a:rPr>
              <a:t>✈  TERMINAL C · AVD 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6156960" y="2944368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your hypervisor (Hyper-V here)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6156960" y="3236976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Arc agent + AVD extension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6156960" y="3529584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AD DS join, by our script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6156960" y="3822192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FSLogix on the SOFS share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6156960" y="4114800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your tools; no autoscale</a:t>
            </a:r>
          </a:p>
        </p:txBody>
      </p:sp>
      <p:cxnSp>
        <p:nvCxnSpPr>
          <p:cNvPr id="28" name="Line 28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29" name="Node 29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0" name="Text 30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31" name="Node 31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2" name="Text 32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33" name="Node 3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4" name="Text 3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35" name="Text 3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How a user connects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Every connection starts in Azure; then RDP Shortpath takes the shortest path it can.</a:t>
            </a:r>
          </a:p>
        </p:txBody>
      </p:sp>
      <p:sp>
        <p:nvSpPr>
          <p:cNvPr id="4" name="Step 4"/>
          <p:cNvSpPr/>
          <p:nvPr/>
        </p:nvSpPr>
        <p:spPr>
          <a:xfrm>
            <a:off x="457200" y="1570939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96112" y="1444752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Windows App: sign in with Entra ID, get the feed of desktops and apps</a:t>
            </a:r>
          </a:p>
        </p:txBody>
      </p:sp>
      <p:sp>
        <p:nvSpPr>
          <p:cNvPr id="6" name="Step 6"/>
          <p:cNvSpPr/>
          <p:nvPr/>
        </p:nvSpPr>
        <p:spPr>
          <a:xfrm>
            <a:off x="457200" y="2170786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896112" y="2044598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Pick a desktop: the client opens TLS 443 to the nearest gateway</a:t>
            </a:r>
          </a:p>
        </p:txBody>
      </p:sp>
      <p:sp>
        <p:nvSpPr>
          <p:cNvPr id="8" name="Step 8"/>
          <p:cNvSpPr/>
          <p:nvPr/>
        </p:nvSpPr>
        <p:spPr>
          <a:xfrm>
            <a:off x="457200" y="2770632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" y="2644445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The broker tells the session host to dial out to the same gateway</a:t>
            </a:r>
          </a:p>
        </p:txBody>
      </p:sp>
      <p:sp>
        <p:nvSpPr>
          <p:cNvPr id="10" name="Step 10"/>
          <p:cNvSpPr/>
          <p:nvPr/>
        </p:nvSpPr>
        <p:spPr>
          <a:xfrm>
            <a:off x="457200" y="3370478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4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96112" y="3244291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The gateway joins both legs: reverse connect, no inbound ports</a:t>
            </a:r>
          </a:p>
        </p:txBody>
      </p:sp>
      <p:sp>
        <p:nvSpPr>
          <p:cNvPr id="12" name="Step 12"/>
          <p:cNvSpPr/>
          <p:nvPr/>
        </p:nvSpPr>
        <p:spPr>
          <a:xfrm>
            <a:off x="457200" y="3970325"/>
            <a:ext cx="347472" cy="347472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5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96112" y="3844138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RDP Shortpath tries UDP; if it works, the session moves to UDP</a:t>
            </a:r>
          </a:p>
        </p:txBody>
      </p:sp>
      <p:sp>
        <p:nvSpPr>
          <p:cNvPr id="14" name="Shortpath 14"/>
          <p:cNvSpPr/>
          <p:nvPr/>
        </p:nvSpPr>
        <p:spPr>
          <a:xfrm>
            <a:off x="4800600" y="1444752"/>
            <a:ext cx="3886200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Shortpath head 15"/>
          <p:cNvSpPr/>
          <p:nvPr/>
        </p:nvSpPr>
        <p:spPr>
          <a:xfrm>
            <a:off x="4800600" y="1444752"/>
            <a:ext cx="3886200" cy="329184"/>
          </a:xfrm>
          <a:prstGeom prst="round2SameRect">
            <a:avLst/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60" dirty="0">
                <a:solidFill>
                  <a:srgbClr val="FDBA12"/>
                </a:solidFill>
                <a:latin typeface="Roboto"/>
                <a:cs typeface="Roboto"/>
              </a:rPr>
              <a:t>RDP SHORTPATH: UDP WHEN IT CAN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4928616" y="181051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Managed network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on site, VPN or ExpressRoute: straight to the host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928616" y="233629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Public, STUN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direct UDP through NAT; first choice on the internet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4928616" y="286207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Public, TURN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UDP through a Microsoft relay when direct is blocked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4928616" y="338785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Fallback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no UDP: stays on TCP 443 through the gateway</a:t>
            </a:r>
          </a:p>
        </p:txBody>
      </p:sp>
      <p:sp>
        <p:nvSpPr>
          <p:cNvPr id="20" name="Terminal B note 20"/>
          <p:cNvSpPr/>
          <p:nvPr/>
        </p:nvSpPr>
        <p:spPr>
          <a:xfrm>
            <a:off x="4910328" y="3913632"/>
            <a:ext cx="3666744" cy="438912"/>
          </a:xfrm>
          <a:prstGeom prst="roundRect">
            <a:avLst>
              <a:gd name="adj" fmla="val 20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1A1B1B"/>
                </a:solidFill>
                <a:latin typeface="Roboto"/>
                <a:cs typeface="Roboto"/>
              </a:rPr>
              <a:t>Terminal B: users on site go straight to the Azure Local host. Browser: always TCP.</a:t>
            </a:r>
          </a:p>
        </p:txBody>
      </p:sp>
      <p:cxnSp>
        <p:nvCxnSpPr>
          <p:cNvPr id="21" name="Line 2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22" name="Node 2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4" name="Node 2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Everything you see today is in the repo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Every demo has a follow-along page you can run in your own tenant; no need to photograph slides.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github.com/thisismydemo/nic2026_avd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Follow-along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thisismydemo.cloud/nic2026_avd, in your own tenant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where we finish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C3FBFE"/>
                </a:solidFill>
                <a:latin typeface="Roboto"/>
                <a:cs typeface="Roboto"/>
              </a:rPr>
              <a:t>The pre-deployed environment: one workspace, three host pools, every running host Available.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feed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workspace, three desktops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host pools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Azure, Azure Local, Hybrid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Hosts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running host Available; az01 is off by design, the scaling plan keeps one of two running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shared foundation: built once, used by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AIRPORT  ·  SECTION 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All three terminals sit on one foundation built from code; each terminal only adds its own hosts.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What all three share: one workspace, one identity, one monitoring workspace, one image gallery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What each terminal adds: only its session hosts (on site, also the profile share)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Built from one config file in the repo; nothing clicked by hand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AIRPORT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foundation as code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repo and one config file build the foundation for all three terminals.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folder per layer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config file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names, networks, the three host pools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Secrets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Key Vault references, never values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Terminal A: AVD on Azure, the reference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A  ·  SECTION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How AVD on Azure works: the baseline the other two terminals are measured against.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Pooled, breadth-first, multi-session Windows 11; Entra-joined, SSO, RDP Shortpath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Autoscale and Start VM on Connect: autoscale only here; Start VM on Connect here and on Azure Local, never on Hybrid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Reused by B and C: the image (next slide) and the monitoring (the slide after)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A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Reused everywhere, part 1: one image, built once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Image Builder builds one image into the gallery; Terminal B imports the same image, Terminal C rebuilds it with Packer.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Pinned source image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Shared customisation scripts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Gallery version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Replicate and roll back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1A1B1B"/>
                </a:solidFill>
                <a:latin typeface="Roboto"/>
                <a:cs typeface="Roboto"/>
              </a:rPr>
              <a:t>Image Builder builds it from a pinned Windows 11 version with shared scripts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1A1B1B"/>
                </a:solidFill>
                <a:latin typeface="Roboto"/>
                <a:cs typeface="Roboto"/>
              </a:rPr>
              <a:t>It lands in the Compute Gallery: versioned, replicated, easy to roll back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1A1B1B"/>
                </a:solidFill>
                <a:latin typeface="Roboto"/>
                <a:cs typeface="Roboto"/>
              </a:rPr>
              <a:t>Terminal B imports that image to the cluster; Terminal C builds the same scripts with Packer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1A1B1B"/>
                </a:solidFill>
                <a:latin typeface="Roboto"/>
                <a:cs typeface="Roboto"/>
              </a:rPr>
              <a:t>No identity baked in: each terminal joins the domain its own way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Reused everywhere, part 2: one monitoring view, and what it costs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AVD Insights is the one view for the hosts of all three terminals; the data collection rule decides the bill.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DCR selection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Collected signal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Insights evidence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Ingestion and cost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Collect only the Insights defaults: counters and events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Measured in the demo environment: roughly 3 to 5 GB per host per month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Preview: the Azure Copilot Observability Agent investigates alerts on this workspace, billed per use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A, AVD on Azure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Deploy it live next to the pre-deployed terminal: a host pool and a session host, then the image and the monitoring.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host pool wizard, then the same from a script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new session host, deployed by script while we talk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pool, pooled and Entra-joined, and its image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Monitoring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Insights, and the DCR before and after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Terminal B: AVD on Azure Local, and why you would choose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B  ·  SECTION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Same service, compute at your site: why you would choose it, and what runs in the demo.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Why: data stays on site, low latency for local users, regulation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Same AVD service and workspace; the session hosts run on your cluster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In the demo: al01, al02 and the GPU host al03, AD-joined, hybrid users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On the AVD logical network (VLAN 2215) with an NSG; profiles on a SOFS on the same cluster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B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How AVD on Azure Local fits together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Azure; the session hosts are Azure Local VMs that Azure creates on your cluster through Arc.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AVD in Azure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Custom location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Arc Resource Bridge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Azure Local VM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Session host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In Azure: host pool, workspace, app groups, broker; a pool is Azure Local only, never mixed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 your cluster: session hosts created from the AVD blade through the custom location and Resource Bridge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 each host: the Arc agent and the AVD agent; AD DS join (hybrid join for SSO); Azure verification activates multi-session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Getting hosts there: image first, then the host pool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Step 1: get an image onto the cluster.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Build with Image Builder, then import it as an Azure Local image</a:t>
            </a:r>
          </a:p>
        </p:txBody>
      </p:sp>
      <p:sp>
        <p:nvSpPr>
          <p:cNvPr id="7" name="Card 7"/>
          <p:cNvSpPr/>
          <p:nvPr/>
        </p:nvSpPr>
        <p:spPr>
          <a:xfrm>
            <a:off x="326136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342595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35280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Or download a Marketplace image straight to the cluster</a:t>
            </a:r>
          </a:p>
        </p:txBody>
      </p:sp>
      <p:sp>
        <p:nvSpPr>
          <p:cNvPr id="10" name="Card 10"/>
          <p:cNvSpPr/>
          <p:nvPr/>
        </p:nvSpPr>
        <p:spPr>
          <a:xfrm>
            <a:off x="606552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623011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615696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Then add session hosts from the host pool, as on Azure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Profiles on Azure Local: they live on your cluster too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FSLogix needs an SMB share.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FSLogix needs an SMB share; a cluster volume (CSV) is storage, not a share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Microsoft recommends a file-server cluster of VMs on Azure Local; the demo runs a two-VM SOFS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Size the cluster for the profiles too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20 users × 30 GB + 20 % = 720 GB usable, 6 TiB raw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Sizing guides</a:t>
            </a:r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azurelocal.cloud/azurelocal-avd and azurelocal.cloud/azurelocal-sofs-fslogix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GPU desktops on Azure Local: one L4 by DDA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GPU passed whole to one session host: what it gives you, and what it costs you.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DDA passes the whole GPU to one session host; no vGPU licence needed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Free data center driver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compute and AI; desktop graphics acceleration needs NVIDIA vWS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1A1B1B"/>
                </a:solidFill>
                <a:latin typeface="Roboto"/>
                <a:cs typeface="Roboto"/>
              </a:rPr>
              <a:t>A DDA VM cannot live-migrate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give it its own host (here al03); on a drain it restarts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GPU partitioning shares one GPU between VMs, but needs NVIDIA vGPU licensing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Running AVD on your site: networks, cluster updates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What changes when the desktops run on your cluster: you own the network, the updates move the VMs, and the bill has three parts.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00" dirty="0"/>
              <a:t>Network: hosts on a logical network (here VLAN 2215) with an NSG; AVD needs outbound only, RDP Shortpath on the LAN</a:t>
            </a:r>
          </a:p>
          <a:p>
            <a:pPr>
              <a:spcBef>
                <a:spcPts val="700"/>
              </a:spcBef>
            </a:pPr>
            <a:r>
              <a:rPr lang="en-US" sz="1900" dirty="0"/>
              <a:t>Cluster updates: one node at a time, VMs live-migrate, no desktop downtime; the DDA GPU host restarts instead</a:t>
            </a:r>
          </a:p>
          <a:p>
            <a:pPr>
              <a:spcBef>
                <a:spcPts val="700"/>
              </a:spcBef>
            </a:pPr>
            <a:r>
              <a:rPr lang="en-US" sz="1900" dirty="0"/>
              <a:t>The bill: the Azure Local fee + the AVD for Azure Local fee per active vCPU + the same user access rights as Azure</a:t>
            </a:r>
          </a:p>
          <a:p>
            <a:pPr>
              <a:spcBef>
                <a:spcPts val="700"/>
              </a:spcBef>
            </a:pPr>
            <a:r>
              <a:rPr lang="en-US" sz="1900" dirty="0"/>
              <a:t>The connection: brokering stays in Azure; no Azure connection, no new sessions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B, AVD on Azure Local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C3FBFE"/>
                </a:solidFill>
                <a:latin typeface="Roboto"/>
                <a:cs typeface="Roboto"/>
              </a:rPr>
              <a:t>Deploy a session host live on your cluster, then the pre-deployed terminal: its VM, the sizing, the GPU.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Add session hosts wizard, then the script deploys a new Azure Local host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session host as an Azure Local VM, its network and NSG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Sizing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two public guides and the demo's numbers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GPU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L4 by DDA, nvidia-smi and a compute job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Terminal C: AVD Hybrid in four steps, on any hypervisor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C  ·  SECTION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Azure; your own VM joins it from the inside, on Hyper-V, vSphere or Nutanix AHV.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1. Create a Windows VM with your own tools, on any hypervisor: Hyper-V, vSphere, Nutanix AHV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2. Install the Arc agent in the VM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3. Add the AVD Hybrid extension with a registration token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4. The host shows Available (allow up to 15 minutes)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AVD never powers, scales or patches this VM: you own it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C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What AVD Hybrid requires, and what you give up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What Hybrid requires of the VM, and the AVD features you do not get.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Windows 11 Enterprise single-session or Windows Server; no multi-session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Join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Windows 11 Entra, AD or hybrid; Windows Server AD or hybrid (here: AD)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The host pool's identity needs Reader on the Arc machines' resource group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No autoscale, power management or Start VM on Connect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AVD Hybrid: what Azure no longer does for you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Azure runs the AVD service; you build, join, patch and power the VM with your own tools.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You build the VM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your hypervisor, your image; Windows 11 Enterprise single-session (no multi-session)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1A1B1B"/>
                </a:solidFill>
                <a:latin typeface="Roboto"/>
                <a:cs typeface="Roboto"/>
              </a:rPr>
              <a:t>You join and configure it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our script joins it to AD after first boot, then sets FSLogix through Arc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Arc plugs it into AVD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an Arc extension adds it to the host pool; Arc also gives monitoring and inventory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You patch Windows 11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Windows Update, Autopatch or Configuration Manager; Update Manager covers Windows Server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C, AVD Hybrid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Deploy a Hybrid host live with the script, then the pre-deployed Hybrid terminal.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script deploys a new Hybrid host: VM, Arc agent, extension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plain Hyper-V VMs seen in Azure only as Arc machines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AVD Hybrid extension and its log; the hosts Available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Passport control: one user, two join states, and why AD is back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PASSPORT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hybrid user everywhere.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00" dirty="0"/>
              <a:t>Hybrid users: created in AD, synchronized to Entra (password hash sync)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Microsoft Entra Cloud Sync, its agent on its own member server, never on a domain controller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Azure terminal: Entra-joined Windows 11, Entra Kerberos to Azure Files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Azure Local and Hybrid terminals: AD-joined, AD Kerberos to the SOFS; hybrid join pending, so the AD password at the host for now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Entra SSO on Entra-joined or hybrid-joined hosts; Conditional Access for MFA by design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PASSPORT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Three identity paths: to AVD, to the host, to the profile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User to service, user to host, host-as-user to the profile share: Azure Files in Azure, the SOFS on site.</a:t>
            </a:r>
          </a:p>
        </p:txBody>
      </p:sp>
      <p:sp>
        <p:nvSpPr>
          <p:cNvPr id="4" name="Path 4"/>
          <p:cNvSpPr/>
          <p:nvPr/>
        </p:nvSpPr>
        <p:spPr>
          <a:xfrm>
            <a:off x="822960" y="1517904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tep 5"/>
          <p:cNvSpPr/>
          <p:nvPr/>
        </p:nvSpPr>
        <p:spPr>
          <a:xfrm>
            <a:off x="932688" y="1761744"/>
            <a:ext cx="402336" cy="402336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44752" y="1517904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AVD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sign-in, the feed, the broker (MFA by Conditional Access: the design)</a:t>
            </a:r>
          </a:p>
        </p:txBody>
      </p:sp>
      <p:sp>
        <p:nvSpPr>
          <p:cNvPr id="7" name="Path 7"/>
          <p:cNvSpPr/>
          <p:nvPr/>
        </p:nvSpPr>
        <p:spPr>
          <a:xfrm>
            <a:off x="822960" y="2535936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tep 8"/>
          <p:cNvSpPr/>
          <p:nvPr/>
        </p:nvSpPr>
        <p:spPr>
          <a:xfrm>
            <a:off x="932688" y="2779776"/>
            <a:ext cx="402336" cy="402336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44752" y="2535936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the session host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SSO on Entra-joined hosts; the AD password on AD-joined on-site hosts</a:t>
            </a:r>
          </a:p>
        </p:txBody>
      </p:sp>
      <p:sp>
        <p:nvSpPr>
          <p:cNvPr id="10" name="Path 10"/>
          <p:cNvSpPr/>
          <p:nvPr/>
        </p:nvSpPr>
        <p:spPr>
          <a:xfrm>
            <a:off x="822960" y="3553968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tep 11"/>
          <p:cNvSpPr/>
          <p:nvPr/>
        </p:nvSpPr>
        <p:spPr>
          <a:xfrm>
            <a:off x="932688" y="379780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44752" y="3553968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Host, as the user, to the profile share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Azure: Entra Kerberos to Azure Files · Azure Local and Hybrid: AD Kerberos to the SOFS (hybrid user)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Path 3 up close: the ticket opens the share, the permissions decide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Entra Kerberos to Azure Files is GA for hybrid and cloud-only users; AD Kerberos is the only key to an on-site share.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Entra user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Kerberos ticket (cifs)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SMB share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ACL result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Azure Files: an Entra Kerberos ticket, GA for hybrid and cloud-only users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On-site share: only an AD Kerberos ticket opens it, so the user must exist in AD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Design rule: exclude the storage app from MFA policies; the ticket request is silent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passport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chain proven on a host: principal, ticket, share, ACL.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Ticket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klist on the Azure host, Entra Kerberos for Azure Files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ACL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who may open the profile share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Proof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sign-in proves path one; this proves path three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Where profiles can live, and who can open them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CARRY-ON LUGGAGE  ·  SECTION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profile store and the session-host identity are one decision.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686050"/>
        </p:xfrm>
        <a:graphic>
          <a:graphicData uri="http://schemas.openxmlformats.org/drawingml/2006/table">
            <a:tbl>
              <a:tblPr firstRow="1"/>
              <a:tblGrid>
                <a:gridCol w="1350294"/>
                <a:gridCol w="882884"/>
                <a:gridCol w="934819"/>
                <a:gridCol w="934819"/>
                <a:gridCol w="1246425"/>
              </a:tblGrid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store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Auth on the share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cloud-only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AD/hybrid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NetApp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native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File server VM / NAS / vSAN FS / Nutanix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(a single VM: no transparent failover)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Domain Services +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DS-joined hosts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CARRY-ON LUGGAGE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Profiles: one container or two?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FSLogix keeps each user's profile in a VHDX on a file share.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1A1B1B"/>
                </a:solidFill>
                <a:latin typeface="Roboto"/>
                <a:cs typeface="Roboto"/>
              </a:rPr>
              <a:t>One container (the default)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the whole profile, Office data included, in one VHDX. Start here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Two containers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the profile, plus an ODFC VHDX for Office data (Outlook, Teams, OneDrive caches)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Why split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its own size and storage tier, no backup needed, and a broken cache never breaks the profile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ODFC alone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when another tool (roaming profiles, Citrix UPM) already roams the rest of the profile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carry-on luggage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profile share, the per-user containers, and the settings that make them portable.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Share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Profile and one ODFC container per user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Settings</a:t>
            </a:r>
          </a:p>
          <a:p>
            <a:pPr>
              <a:spcBef>
                <a:spcPts val="600"/>
              </a:spcBef>
            </a:pPr>
            <a:r>
              <a:rPr lang="en-US" sz="1300" dirty="0">
                <a:solidFill>
                  <a:srgbClr val="C3FBFE"/>
                </a:solidFill>
                <a:latin typeface="Roboto"/>
                <a:cs typeface="Roboto"/>
              </a:rPr>
              <a:t>VHDLocations, folder naming, PreventLoginWithFailure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Pattern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same in all three terminals, only the share path differs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Does the profile follow the user? Three ways to do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A: one share in Azure; B: Cloud Cache in both places, the target; C: one profile per site, what the demo runs today.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A: one share in Azure for everyone: one profile everywhere, but on-site users wait on the WAN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B: Cloud Cache keeps the same profile in both places: fast on site and in Azure (the target, next slide)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C: one profile per site: fast, but Azure and on site are different profiles (the demo today)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Today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Azure Local and Hybrid share one profile; Azure has its own until B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Luggage that follows you between flights: Cloud Cache (pattern B)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One repo builds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GROUND CREW  ·  SECTION 7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One config file and shared image scripts; only the image builder and the create-the-VM step differ per terminal.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One config file describes all three host pools; nothing hardcoded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Image scripts shared: Image Builder for Azure and Azure Local, Packer for Hybrid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Only creating the VM differs: Azure, Azure Local, your hypervisor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One monitoring workspace sees every host, through Arc on site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GROUND CREW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one repo, three terminals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same pipeline builds all three terminals; only the create-the-VM step differs.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one config file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Hybrid onboarding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Arc agent, then the AVD extension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What-if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before the what-now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connecting flight, six steps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CONNECTING FLIGHT  ·  SECTION 8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One continuous live test across all three terminals: six steps, each with a claim, a clip and a recovery state behind it.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1517904"/>
          <a:ext cx="5349240" cy="2810256"/>
        </p:xfrm>
        <a:graphic>
          <a:graphicData uri="http://schemas.openxmlformats.org/drawingml/2006/table">
            <a:tbl>
              <a:tblPr firstRow="1"/>
              <a:tblGrid>
                <a:gridCol w="618920"/>
                <a:gridCol w="1591509"/>
                <a:gridCol w="1635718"/>
                <a:gridCol w="1503092"/>
              </a:tblGrid>
              <a:tr h="26212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Observable proof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Pass condition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1 State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Show the three pools and the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Three desktops,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Entitlement is not routing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2 Entitle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Change the user's group, refresh the feed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Different desktops appear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Feed matches the group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3 Portable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Sign in on each 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Known file on Azure Local and Hybrid (same SOFS container); Azure has its own until pattern 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SID, container attached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4 Fail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Hard power-off a Hybrid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 Unavailable; new session on host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Saved work present, unsaved lost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5 Watch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Query the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terminals in one 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Persistence is not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6 Explain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Investigate the host alert (agent,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Findings, ruled-out causes, next steps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It reasons from Azure-side signals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THE CONNECTING FLIGHT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Choose your terminal: five decision axes, one rule each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CHOOSE YOUR TERMINAL  ·  SECTION 9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Locality, lifecycle owner, identity and OS, operations, support: and a one-line rule per terminal.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536698"/>
        </p:xfrm>
        <a:graphic>
          <a:graphicData uri="http://schemas.openxmlformats.org/drawingml/2006/table">
            <a:tbl>
              <a:tblPr firstRow="1"/>
              <a:tblGrid>
                <a:gridCol w="884172"/>
                <a:gridCol w="1503092"/>
                <a:gridCol w="1503092"/>
                <a:gridCol w="1458884"/>
              </a:tblGrid>
              <a:tr h="27165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Axis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7165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Locality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hypervisor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owner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hypervisor tools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Identity and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Entra, AD or hybrid; Win11 single or multi-session,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 multi-session; AD DS join (+ hybrid join for SSO)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Enterprise single-session; Entra, AD or hybrid join (Server: AD); no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you scale and power-manage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 and licensing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compute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Cluster, AVD on Azure Local fee,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infrastructure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CHOOSE YOUR TERMINAL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Support status by terminal: GA, preview and to-verify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What each terminal supports today, and what to verify in your own tenant before you choose.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519172"/>
        </p:xfrm>
        <a:graphic>
          <a:graphicData uri="http://schemas.openxmlformats.org/drawingml/2006/table">
            <a:tbl>
              <a:tblPr firstRow="1"/>
              <a:tblGrid>
                <a:gridCol w="1020198"/>
                <a:gridCol w="1564304"/>
                <a:gridCol w="1428278"/>
                <a:gridCol w="1632317"/>
                <a:gridCol w="1496291"/>
                <a:gridCol w="1088212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Host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Join and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auth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Power features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join,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 to Azure Files: hybrid and cloud-only 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 join; hybrid join (for SSO) pending in the lab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an SMB service (here the SOFS), not a CSV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 with items 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single-session, or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Arc-enabled; Entra, AD or hybrid join (Server: AD); lab: AD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on-site SMB (here the SOFS), or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no autoscale, power management or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 product 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Who owns what: monitoring, patching, power, recovery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Monitoring is common; patching, power and recovery are not.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496291"/>
                <a:gridCol w="2244436"/>
                <a:gridCol w="2244436"/>
                <a:gridCol w="2244436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Task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for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Intune or WUfB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Host or hypervisor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Manager: you schedule, Azure orchestrates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Power and scaling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Scaling plan,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You: none from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Insights and Log Analytics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Failed VM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Redeploy from the image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 and operator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hypervisor, not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50" dirty="0"/>
              <a:t>The trip in one slide: decide, validate, run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WHAT YOU TAKE HOME  ·  SECTION 10</a:t>
            </a:r>
          </a:p>
        </p:txBody>
      </p:sp>
      <p:pic>
        <p:nvPicPr>
          <p:cNvPr id="4" name="Chart 4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Tomorrow: Azure Local, from discovery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cluster under all this, how it was planned, deployed and operated.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We just saw AVD land on an Azure Local cluster. Tomorrow: how that cluster was planned for these desktops, built and run.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Thu 15 Oct, 09:50, Room 5: plan and discover; deploy and Day-2 ready; operate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Same cluster, same repo, live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Next door at 14:40, and you may also like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first card is a hand-off, not a recommendation.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Hand-off: Breaking the Platform Barrier: AVD Hybrid on Any Hypervisor (Gregor Reimling &amp; Marcel Meurer, L300, Wed 2:40 pm, Room 5): Arc design, Arc and AVD agents, day-2 with Update Manager, Policy, Defender, licensing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Combining identity and network controls in Azure (Kristoffer Hatland, L400, Thu 1:00 pm, Room 3)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10 security settings you must configure in Windows 11 (Nicklas Ahlberg, L300, Thu 11:10 am, Room 5)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Times are Oslo time. Rooms can change: check the NIC agenda.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45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Kristopher Turner</dc:creator>
  <cp:lastModifiedBy>Kristopher Turner</cp:lastModifiedBy>
  <cp:revision>1</cp:revision>
  <dcterms:created xsi:type="dcterms:W3CDTF">2026-10-14T06:09:18Z</dcterms:created>
  <dcterms:modified xsi:type="dcterms:W3CDTF">2026-10-14T06:09:18Z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