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0-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1-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5-1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Life in the home realm: Virginia, USA</a:t>
            </a:r>
          </a:p>
        </p:txBody>
      </p:sp>
      <p:sp>
        <p:nvSpPr>
          <p:cNvPr id="3" name="Photo shown live 3"/>
          <p:cNvSpPr/>
          <p:nvPr/>
        </p:nvSpPr>
        <p:spPr>
          <a:xfrm>
            <a:off x="457200" y="896112"/>
            <a:ext cx="2103120" cy="1682496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Photo shown live</a:t>
            </a:r>
          </a:p>
        </p:txBody>
      </p:sp>
      <p:sp>
        <p:nvSpPr>
          <p:cNvPr id="4" name="Caption 4"/>
          <p:cNvSpPr/>
          <p:nvPr/>
        </p:nvSpPr>
        <p:spPr>
          <a:xfrm>
            <a:off x="2670048" y="896112"/>
            <a:ext cx="1810512" cy="16824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2816352" y="10789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743200" y="1207008"/>
            <a:ext cx="1664208" cy="12984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350" b="1" dirty="0">
                <a:solidFill>
                  <a:srgbClr val="1A1B1B"/>
                </a:solidFill>
                <a:latin typeface="Roboto"/>
                <a:cs typeface="Roboto"/>
              </a:rPr>
              <a:t>The boys and the donkeys</a:t>
            </a:r>
          </a:p>
          <a:p>
            <a:pPr>
              <a:spcBef>
                <a:spcPts val="400"/>
              </a:spcBef>
            </a:pPr>
            <a:r>
              <a:rPr lang="en-US" sz="900" dirty="0">
                <a:solidFill>
                  <a:srgbClr val="193233"/>
                </a:solidFill>
                <a:latin typeface="Roboto"/>
                <a:cs typeface="Roboto"/>
              </a:rPr>
              <a:t>Three boys, two donkeys, one fence. The donkeys have the better uptime.</a:t>
            </a:r>
          </a:p>
        </p:txBody>
      </p:sp>
      <p:sp>
        <p:nvSpPr>
          <p:cNvPr id="7" name="Photo shown live 7"/>
          <p:cNvSpPr/>
          <p:nvPr/>
        </p:nvSpPr>
        <p:spPr>
          <a:xfrm>
            <a:off x="4663440" y="896112"/>
            <a:ext cx="2103120" cy="1682496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Photo shown live</a:t>
            </a:r>
          </a:p>
        </p:txBody>
      </p:sp>
      <p:sp>
        <p:nvSpPr>
          <p:cNvPr id="8" name="Caption 8"/>
          <p:cNvSpPr/>
          <p:nvPr/>
        </p:nvSpPr>
        <p:spPr>
          <a:xfrm>
            <a:off x="6876288" y="896112"/>
            <a:ext cx="1810512" cy="16824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7022592" y="10789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6949440" y="1207008"/>
            <a:ext cx="1664208" cy="12984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350" b="1" dirty="0">
                <a:solidFill>
                  <a:srgbClr val="1A1B1B"/>
                </a:solidFill>
                <a:latin typeface="Roboto"/>
                <a:cs typeface="Roboto"/>
              </a:rPr>
              <a:t>Viking practice</a:t>
            </a:r>
          </a:p>
          <a:p>
            <a:pPr>
              <a:spcBef>
                <a:spcPts val="400"/>
              </a:spcBef>
            </a:pPr>
            <a:r>
              <a:rPr lang="en-US" sz="900" dirty="0">
                <a:solidFill>
                  <a:srgbClr val="193233"/>
                </a:solidFill>
                <a:latin typeface="Roboto"/>
                <a:cs typeface="Roboto"/>
              </a:rPr>
              <a:t>My son and me, rehearsing for Oslo years before the invitation arrived.</a:t>
            </a:r>
          </a:p>
        </p:txBody>
      </p:sp>
      <p:sp>
        <p:nvSpPr>
          <p:cNvPr id="11" name="Photo shown live 11"/>
          <p:cNvSpPr/>
          <p:nvPr/>
        </p:nvSpPr>
        <p:spPr>
          <a:xfrm>
            <a:off x="457200" y="2724912"/>
            <a:ext cx="2103120" cy="1682496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Photo shown live</a:t>
            </a:r>
          </a:p>
        </p:txBody>
      </p:sp>
      <p:sp>
        <p:nvSpPr>
          <p:cNvPr id="12" name="Caption 12"/>
          <p:cNvSpPr/>
          <p:nvPr/>
        </p:nvSpPr>
        <p:spPr>
          <a:xfrm>
            <a:off x="2670048" y="2724912"/>
            <a:ext cx="1810512" cy="16824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2816352" y="29077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743200" y="3035808"/>
            <a:ext cx="1664208" cy="12984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350" b="1" dirty="0">
                <a:solidFill>
                  <a:srgbClr val="1A1B1B"/>
                </a:solidFill>
                <a:latin typeface="Roboto"/>
                <a:cs typeface="Roboto"/>
              </a:rPr>
              <a:t>Head of security</a:t>
            </a:r>
          </a:p>
          <a:p>
            <a:pPr>
              <a:spcBef>
                <a:spcPts val="400"/>
              </a:spcBef>
            </a:pPr>
            <a:r>
              <a:rPr lang="en-US" sz="900" dirty="0">
                <a:solidFill>
                  <a:srgbClr val="193233"/>
                </a:solidFill>
                <a:latin typeface="Roboto"/>
                <a:cs typeface="Roboto"/>
              </a:rPr>
              <a:t>The dog. Approves every change, reads none of them.</a:t>
            </a:r>
          </a:p>
        </p:txBody>
      </p:sp>
      <p:sp>
        <p:nvSpPr>
          <p:cNvPr id="15" name="Photo shown live 15"/>
          <p:cNvSpPr/>
          <p:nvPr/>
        </p:nvSpPr>
        <p:spPr>
          <a:xfrm>
            <a:off x="4663440" y="2724912"/>
            <a:ext cx="2103120" cy="1682496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Photo shown live</a:t>
            </a:r>
          </a:p>
        </p:txBody>
      </p:sp>
      <p:sp>
        <p:nvSpPr>
          <p:cNvPr id="16" name="Caption 16"/>
          <p:cNvSpPr/>
          <p:nvPr/>
        </p:nvSpPr>
        <p:spPr>
          <a:xfrm>
            <a:off x="6876288" y="2724912"/>
            <a:ext cx="1810512" cy="16824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Rule 17"/>
          <p:cNvSpPr/>
          <p:nvPr/>
        </p:nvSpPr>
        <p:spPr>
          <a:xfrm>
            <a:off x="7022592" y="29077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6949440" y="3035808"/>
            <a:ext cx="1664208" cy="12984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350" b="1" dirty="0">
                <a:solidFill>
                  <a:srgbClr val="1A1B1B"/>
                </a:solidFill>
                <a:latin typeface="Roboto"/>
                <a:cs typeface="Roboto"/>
              </a:rPr>
              <a:t>Change advisory board</a:t>
            </a:r>
          </a:p>
          <a:p>
            <a:pPr>
              <a:spcBef>
                <a:spcPts val="400"/>
              </a:spcBef>
            </a:pPr>
            <a:r>
              <a:rPr lang="en-US" sz="900" dirty="0">
                <a:solidFill>
                  <a:srgbClr val="193233"/>
                </a:solidFill>
                <a:latin typeface="Roboto"/>
                <a:cs typeface="Roboto"/>
              </a:rPr>
              <a:t>The chicken has concerns. So do 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Realm Map: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78434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82981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5549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REALMS COMPARED — FIVE DECISION AXES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Control plane, hosts, images, storage, network, monitoring, Arc: seven resource groups by lifecycle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Profile share on its public endpoint, direct egress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Registration tokens are never stored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YGGDRASIL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11552"/>
        </p:xfrm>
        <a:graphic>
          <a:graphicData uri="http://schemas.openxmlformats.org/drawingml/2006/table">
            <a:tbl>
              <a:tblPr firstRow="1"/>
              <a:tblGrid>
                <a:gridCol w="663129"/>
                <a:gridCol w="1016798"/>
                <a:gridCol w="928380"/>
                <a:gridCol w="1061006"/>
                <a:gridCol w="972589"/>
                <a:gridCol w="707338"/>
              </a:tblGrid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BIFRÖST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realm: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Local and Hybrid realms: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Entra SSO on Entra-joined or hybrid-joined hosts; two Conditional Access policies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Bifrost's toll: the ticket, and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Entra Kerberos to Azure Files: GA,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Current Windows 11 build; cloud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AD Kerberos to the SOFS: hybrid users, a domain controller in line of sight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Pooled, breadth-first, multi-session Windows 11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Entra-joined, SSO, RDP Shortpath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Scaling plan and Start VM on Connect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ASGARD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Preview: Azure Copilot Observability Agent investigates alerts on this workspace; billed per use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On lnet-iic-nic26-avd-vlan2215-eus; its NSG admits RDP Shortpath from P2S only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Three hosts: al01, al02 and the GPU host al03; AD-joined by the domain-join extension, hybrid users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What breaks when the Resource Bridge is unhealthy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MIDGARD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SMB, not CSV, sized bottom-up: and one GPU host by DDA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This realm: a two-VM SOFS guest cluster on the same cluster; Azure keeps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Sizing, bottom-up: 20 users × 30 GB + 20 % = 720 GB → 2 SOFS VMs on 2 × 1.5 TiB CSVs → 6 TiB raw; restarts on one node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azurelocal.cloud/azurelocal-avd · azurelocal.cloud/azurelocal-sofs-fslogix/architecture/capacity-planning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GPU host al03: one L4 by DDA, no live migration; free driver: compute and AI, desktop graphics needs NVIDIA vWS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AVD never powers, scales, replaces or patches this VM: you own the lifecycle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OUTER REALMS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Win11: Entra, AD or hybrid join; Server: AD or hybrid. This lab: AD join in the build, like Azure Local (one SOFS); hv01 and hv02, one per node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onboarding by service principal, secret in memory, rotated; outbound 443 to AVD and Arc endpoints; RDP Shortpath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tools, running the same customisation scripts AIB runs; the domain join and the FSLogix profile...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(tested), vsphere-iso and Nutanix plugin (reference): one build,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Domain join (AD) and the FSLogix settings profile in the build; SSO back to Entra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who can open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decision: FSLogix mounts the container as the signed-in user over SMB, so...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TRAVELLER'S PACK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realms, three packing lists: the options and the lab's choice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Per realm: how hosts join, where the profile can live, how the host reaches it, and what this lab chose (D-050).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55032"/>
                <a:gridCol w="1443789"/>
                <a:gridCol w="2021305"/>
                <a:gridCol w="1876926"/>
                <a:gridCol w="1732547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options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Path to the profile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Lab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join; hybrid join;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 (Entra Kerberos or AD DS), Azure NetApp Files, file server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 region; public or private endpoint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Entra-joined, Azure Files + 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the cluster, Azure Files over the WAN, file server VM,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SOFS: VLAN 2215 → 2216 on the same cluster, SMB 3 CA; Azure Files: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 (hybrid join pending), SOFS (two VMs, one per node)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 Local,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On-site SOFS, or Azure Files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join, SOFS (same site, same users)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A: one Azure Files share, Entra Kerberos, from all three realms: simplest; on-site realms pay WAN latency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 (the target, not built yet, D-053): Cloud Cache, CCDLocations = SOFS + Azure Files: LAN speed on site, the profile follows the user to Azure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 (the lab today): realm-local containers: the SOFS for Azure Local and Hybrid, Azure Files for Azure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Same hybrid user (UPN, 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Cloud Cache costs: a local cache disk and logoff flush time; the host must authenticate to every provider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Shared intent, platform-specific implementation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 template works unchanged everywhere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FORGE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six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six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HEIMDALL WATCHES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000" dirty="0"/>
              <a:t>Decide: which realm for which workload (the five axes)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Validate: every 'verify' cell in the support table, in your tenant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Run: the repo, one config file and the follow-along guide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Questions in the hallway; the repo is yours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TAKE-HOME, TOMORROW'S SESSION, OTHER SESSIONS, CLOSE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 in one slide: every realm crossed, and what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recommendation: the Arc side of AVD Hybrid continues in Room 5 twenty minutes from now.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Hand-off: Breaking the Platform Barrier: AVD Hybrid on Any Hypervisor (Gregor Reimling &amp; Marcel Meurer, L300, Wed 2:40 pm, Room 5). We built the hosts, the identity and the profile; they take Arc design before onboarding, how the Arc and AVD agents work together, and day-2 with Update Manager, Policy, Defender and licensing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35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2026-10-12T23:51:30Z</dcterms:created>
  <dcterms:modified xsi:type="dcterms:W3CDTF">2026-10-12T23:51:30Z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